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7257" y="612521"/>
            <a:ext cx="165227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257" y="612521"/>
            <a:ext cx="1035748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4531" y="1586636"/>
            <a:ext cx="9909810" cy="137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4018" y="6465252"/>
            <a:ext cx="2425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7735" y="1859978"/>
            <a:ext cx="62712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Calibri Light"/>
                <a:cs typeface="Calibri Light"/>
              </a:rPr>
              <a:t>Ruang</a:t>
            </a:r>
            <a:r>
              <a:rPr sz="6000" spc="-275" dirty="0">
                <a:latin typeface="Calibri Light"/>
                <a:cs typeface="Calibri Light"/>
              </a:rPr>
              <a:t> </a:t>
            </a:r>
            <a:r>
              <a:rPr sz="6000" spc="-90" dirty="0">
                <a:latin typeface="Calibri Light"/>
                <a:cs typeface="Calibri Light"/>
              </a:rPr>
              <a:t>Vektor</a:t>
            </a:r>
            <a:r>
              <a:rPr sz="6000" spc="-250" dirty="0">
                <a:latin typeface="Calibri Light"/>
                <a:cs typeface="Calibri Light"/>
              </a:rPr>
              <a:t> </a:t>
            </a:r>
            <a:r>
              <a:rPr sz="6000" spc="-20" dirty="0">
                <a:latin typeface="Calibri Light"/>
                <a:cs typeface="Calibri Light"/>
              </a:rPr>
              <a:t>Umum</a:t>
            </a:r>
            <a:endParaRPr sz="6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97529" y="2729229"/>
            <a:ext cx="5997575" cy="2528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Calibri Light"/>
                <a:cs typeface="Calibri Light"/>
              </a:rPr>
              <a:t>(</a:t>
            </a:r>
            <a:r>
              <a:rPr sz="4000" spc="-20" dirty="0" err="1">
                <a:latin typeface="Calibri Light"/>
                <a:cs typeface="Calibri Light"/>
              </a:rPr>
              <a:t>bagian</a:t>
            </a:r>
            <a:r>
              <a:rPr sz="4000" spc="-170" dirty="0">
                <a:latin typeface="Calibri Light"/>
                <a:cs typeface="Calibri Light"/>
              </a:rPr>
              <a:t> </a:t>
            </a:r>
            <a:r>
              <a:rPr lang="en-US" sz="4000" spc="-25" dirty="0">
                <a:latin typeface="Calibri Light"/>
                <a:cs typeface="Calibri Light"/>
              </a:rPr>
              <a:t>2</a:t>
            </a:r>
            <a:r>
              <a:rPr sz="4000" spc="-25" dirty="0" smtClean="0">
                <a:latin typeface="Calibri Light"/>
                <a:cs typeface="Calibri Light"/>
              </a:rPr>
              <a:t>)</a:t>
            </a:r>
            <a:endParaRPr sz="4000" dirty="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1905"/>
              </a:spcBef>
            </a:pPr>
            <a:r>
              <a:rPr sz="2400" dirty="0">
                <a:latin typeface="Calibri"/>
                <a:cs typeface="Calibri"/>
              </a:rPr>
              <a:t>Bahan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kuliah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 smtClean="0">
                <a:latin typeface="Calibri"/>
                <a:cs typeface="Calibri"/>
              </a:rPr>
              <a:t>I</a:t>
            </a:r>
            <a:r>
              <a:rPr lang="en-US" sz="2400" dirty="0" smtClean="0">
                <a:latin typeface="Calibri"/>
                <a:cs typeface="Calibri"/>
              </a:rPr>
              <a:t>N</a:t>
            </a:r>
            <a:r>
              <a:rPr sz="2400" dirty="0" smtClean="0">
                <a:latin typeface="Calibri"/>
                <a:cs typeface="Calibri"/>
              </a:rPr>
              <a:t>F</a:t>
            </a:r>
            <a:r>
              <a:rPr lang="en-US" sz="2400" dirty="0" smtClean="0">
                <a:latin typeface="Calibri"/>
                <a:cs typeface="Calibri"/>
              </a:rPr>
              <a:t>62107</a:t>
            </a:r>
            <a:r>
              <a:rPr sz="2400" spc="-90" dirty="0" smtClean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Aljabar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Linier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Geometri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2400" dirty="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1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4296790" y="5807075"/>
            <a:ext cx="3887470" cy="7400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5740" marR="5080" indent="-1463675">
              <a:lnSpc>
                <a:spcPct val="108300"/>
              </a:lnSpc>
              <a:spcBef>
                <a:spcPts val="100"/>
              </a:spcBef>
            </a:pPr>
            <a:r>
              <a:rPr sz="2200" b="1" spc="-10" dirty="0">
                <a:latin typeface="Calibri"/>
                <a:cs typeface="Calibri"/>
              </a:rPr>
              <a:t>Program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 err="1">
                <a:latin typeface="Calibri"/>
                <a:cs typeface="Calibri"/>
              </a:rPr>
              <a:t>Studi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25" dirty="0" err="1" smtClean="0">
                <a:latin typeface="Calibri"/>
                <a:cs typeface="Calibri"/>
              </a:rPr>
              <a:t>Teknik</a:t>
            </a:r>
            <a:r>
              <a:rPr sz="2200" b="1" spc="-50" dirty="0" smtClean="0">
                <a:latin typeface="Calibri"/>
                <a:cs typeface="Calibri"/>
              </a:rPr>
              <a:t> </a:t>
            </a:r>
            <a:r>
              <a:rPr sz="2200" b="1" spc="-10" dirty="0" err="1" smtClean="0">
                <a:latin typeface="Calibri"/>
                <a:cs typeface="Calibri"/>
              </a:rPr>
              <a:t>Informatika</a:t>
            </a:r>
            <a:r>
              <a:rPr sz="2200" b="1" spc="-10" dirty="0" smtClean="0">
                <a:latin typeface="Calibri"/>
                <a:cs typeface="Calibri"/>
              </a:rPr>
              <a:t> </a:t>
            </a:r>
            <a:endParaRPr lang="en-US" sz="2200" b="1" spc="-20" dirty="0">
              <a:latin typeface="Calibri"/>
              <a:cs typeface="Calibri"/>
            </a:endParaRPr>
          </a:p>
          <a:p>
            <a:pPr marL="1475740" marR="5080" indent="-1463675" algn="ctr">
              <a:lnSpc>
                <a:spcPct val="108300"/>
              </a:lnSpc>
              <a:spcBef>
                <a:spcPts val="100"/>
              </a:spcBef>
            </a:pPr>
            <a:r>
              <a:rPr lang="en-US" sz="2200" b="1" dirty="0" smtClean="0">
                <a:latin typeface="Calibri"/>
                <a:cs typeface="Calibri"/>
              </a:rPr>
              <a:t>STMIK ROSMA</a:t>
            </a:r>
            <a:endParaRPr sz="2200" b="1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3601" y="419734"/>
            <a:ext cx="3520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Seri</a:t>
            </a:r>
            <a:r>
              <a:rPr sz="24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bahan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kuliah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Algeo</a:t>
            </a:r>
            <a:r>
              <a:rPr sz="24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>
                <a:solidFill>
                  <a:srgbClr val="FF0000"/>
                </a:solidFill>
                <a:latin typeface="Calibri"/>
                <a:cs typeface="Calibri"/>
              </a:rPr>
              <a:t>#</a:t>
            </a:r>
            <a:r>
              <a:rPr sz="2400" b="1" spc="-25" smtClean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lang="en-US" sz="2400" b="1" spc="-25" smtClean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2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57" y="1712277"/>
            <a:ext cx="12668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Calibri"/>
                <a:cs typeface="Calibri"/>
              </a:rPr>
              <a:t>Sumber: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857" y="2734309"/>
            <a:ext cx="99783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Howard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Anton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Chris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Rores,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Elementary</a:t>
            </a:r>
            <a:r>
              <a:rPr sz="2800" i="1" spc="-9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Linear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Algebra,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10</a:t>
            </a:r>
            <a:r>
              <a:rPr sz="2775" i="1" baseline="25525" dirty="0">
                <a:latin typeface="Calibri"/>
                <a:cs typeface="Calibri"/>
              </a:rPr>
              <a:t>th</a:t>
            </a:r>
            <a:r>
              <a:rPr sz="2775" i="1" spc="262" baseline="2552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Edition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latin typeface="Calibri Light"/>
                <a:cs typeface="Calibri Light"/>
              </a:rPr>
              <a:t>Ruang</a:t>
            </a:r>
            <a:r>
              <a:rPr sz="4400" spc="-215" dirty="0">
                <a:latin typeface="Calibri Light"/>
                <a:cs typeface="Calibri Light"/>
              </a:rPr>
              <a:t> </a:t>
            </a:r>
            <a:r>
              <a:rPr sz="4400" dirty="0">
                <a:latin typeface="Calibri Light"/>
                <a:cs typeface="Calibri Light"/>
              </a:rPr>
              <a:t>Baris,</a:t>
            </a:r>
            <a:r>
              <a:rPr sz="4400" spc="-195" dirty="0">
                <a:latin typeface="Calibri Light"/>
                <a:cs typeface="Calibri Light"/>
              </a:rPr>
              <a:t> </a:t>
            </a:r>
            <a:r>
              <a:rPr sz="4400" spc="-20" dirty="0">
                <a:latin typeface="Calibri Light"/>
                <a:cs typeface="Calibri Light"/>
              </a:rPr>
              <a:t>Ruang</a:t>
            </a:r>
            <a:r>
              <a:rPr sz="4400" spc="-225" dirty="0">
                <a:latin typeface="Calibri Light"/>
                <a:cs typeface="Calibri Light"/>
              </a:rPr>
              <a:t> </a:t>
            </a:r>
            <a:r>
              <a:rPr sz="4400" spc="-35" dirty="0">
                <a:latin typeface="Calibri Light"/>
                <a:cs typeface="Calibri Light"/>
              </a:rPr>
              <a:t>Kolom,</a:t>
            </a:r>
            <a:r>
              <a:rPr sz="4400" spc="-190" dirty="0">
                <a:latin typeface="Calibri Light"/>
                <a:cs typeface="Calibri Light"/>
              </a:rPr>
              <a:t> </a:t>
            </a:r>
            <a:r>
              <a:rPr sz="4400" dirty="0">
                <a:latin typeface="Calibri Light"/>
                <a:cs typeface="Calibri Light"/>
              </a:rPr>
              <a:t>dan</a:t>
            </a:r>
            <a:r>
              <a:rPr sz="4400" spc="-229" dirty="0">
                <a:latin typeface="Calibri Light"/>
                <a:cs typeface="Calibri Light"/>
              </a:rPr>
              <a:t> </a:t>
            </a:r>
            <a:r>
              <a:rPr sz="4400" spc="-20" dirty="0">
                <a:latin typeface="Calibri Light"/>
                <a:cs typeface="Calibri Light"/>
              </a:rPr>
              <a:t>Ruang</a:t>
            </a:r>
            <a:r>
              <a:rPr sz="4400" spc="-220" dirty="0">
                <a:latin typeface="Calibri Light"/>
                <a:cs typeface="Calibri Light"/>
              </a:rPr>
              <a:t> </a:t>
            </a:r>
            <a:r>
              <a:rPr sz="4400" spc="-20" dirty="0">
                <a:latin typeface="Calibri Light"/>
                <a:cs typeface="Calibri Light"/>
              </a:rPr>
              <a:t>Null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57" y="1793621"/>
            <a:ext cx="72771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Misalkan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adalah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sebagai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berikut: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57" y="4265929"/>
            <a:ext cx="9706610" cy="156019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Kita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dapat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membentuk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A:</a:t>
            </a:r>
            <a:endParaRPr sz="2800">
              <a:latin typeface="Calibri"/>
              <a:cs typeface="Calibri"/>
            </a:endParaRPr>
          </a:p>
          <a:p>
            <a:pPr marL="732790" lvl="1" indent="-476250">
              <a:lnSpc>
                <a:spcPct val="100000"/>
              </a:lnSpc>
              <a:spcBef>
                <a:spcPts val="660"/>
              </a:spcBef>
              <a:buFont typeface="Calibri"/>
              <a:buAutoNum type="arabicParenBoth"/>
              <a:tabLst>
                <a:tab pos="732790" algn="l"/>
              </a:tabLst>
            </a:pPr>
            <a:r>
              <a:rPr sz="2800" b="1" spc="-20" dirty="0">
                <a:latin typeface="Calibri"/>
                <a:cs typeface="Calibri"/>
              </a:rPr>
              <a:t>Vektor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baris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vektor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yang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dibentuk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baris-</a:t>
            </a:r>
            <a:r>
              <a:rPr sz="2800" dirty="0">
                <a:latin typeface="Calibri"/>
                <a:cs typeface="Calibri"/>
              </a:rPr>
              <a:t>baris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matriks</a:t>
            </a:r>
            <a:endParaRPr sz="2800">
              <a:latin typeface="Calibri"/>
              <a:cs typeface="Calibri"/>
            </a:endParaRPr>
          </a:p>
          <a:p>
            <a:pPr marL="732790" lvl="1" indent="-476250">
              <a:lnSpc>
                <a:spcPct val="100000"/>
              </a:lnSpc>
              <a:spcBef>
                <a:spcPts val="680"/>
              </a:spcBef>
              <a:buFont typeface="Calibri"/>
              <a:buAutoNum type="arabicParenBoth"/>
              <a:tabLst>
                <a:tab pos="732790" algn="l"/>
              </a:tabLst>
            </a:pPr>
            <a:r>
              <a:rPr sz="2800" b="1" spc="-20" dirty="0">
                <a:latin typeface="Calibri"/>
                <a:cs typeface="Calibri"/>
              </a:rPr>
              <a:t>Vektor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kolom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vector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yang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dibentuk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kolom-</a:t>
            </a:r>
            <a:r>
              <a:rPr sz="2800" dirty="0">
                <a:latin typeface="Calibri"/>
                <a:cs typeface="Calibri"/>
              </a:rPr>
              <a:t>kolom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matriks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8348" y="2487535"/>
            <a:ext cx="3739603" cy="162402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1929" y="1737504"/>
            <a:ext cx="3422807" cy="15388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3437" y="4248870"/>
            <a:ext cx="5818591" cy="152667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781800" y="2527300"/>
            <a:ext cx="693420" cy="274320"/>
            <a:chOff x="6781800" y="2527300"/>
            <a:chExt cx="693420" cy="274320"/>
          </a:xfrm>
        </p:grpSpPr>
        <p:sp>
          <p:nvSpPr>
            <p:cNvPr id="5" name="object 5"/>
            <p:cNvSpPr/>
            <p:nvPr/>
          </p:nvSpPr>
          <p:spPr>
            <a:xfrm>
              <a:off x="6788150" y="2533650"/>
              <a:ext cx="680720" cy="261620"/>
            </a:xfrm>
            <a:custGeom>
              <a:avLst/>
              <a:gdLst/>
              <a:ahLst/>
              <a:cxnLst/>
              <a:rect l="l" t="t" r="r" b="b"/>
              <a:pathLst>
                <a:path w="680720" h="261619">
                  <a:moveTo>
                    <a:pt x="549909" y="0"/>
                  </a:moveTo>
                  <a:lnTo>
                    <a:pt x="549909" y="65404"/>
                  </a:lnTo>
                  <a:lnTo>
                    <a:pt x="0" y="65404"/>
                  </a:lnTo>
                  <a:lnTo>
                    <a:pt x="0" y="196214"/>
                  </a:lnTo>
                  <a:lnTo>
                    <a:pt x="549909" y="196214"/>
                  </a:lnTo>
                  <a:lnTo>
                    <a:pt x="549909" y="261620"/>
                  </a:lnTo>
                  <a:lnTo>
                    <a:pt x="680720" y="130810"/>
                  </a:lnTo>
                  <a:lnTo>
                    <a:pt x="54990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88150" y="2533650"/>
              <a:ext cx="680720" cy="261620"/>
            </a:xfrm>
            <a:custGeom>
              <a:avLst/>
              <a:gdLst/>
              <a:ahLst/>
              <a:cxnLst/>
              <a:rect l="l" t="t" r="r" b="b"/>
              <a:pathLst>
                <a:path w="680720" h="261619">
                  <a:moveTo>
                    <a:pt x="0" y="65404"/>
                  </a:moveTo>
                  <a:lnTo>
                    <a:pt x="549909" y="65404"/>
                  </a:lnTo>
                  <a:lnTo>
                    <a:pt x="549909" y="0"/>
                  </a:lnTo>
                  <a:lnTo>
                    <a:pt x="680720" y="130810"/>
                  </a:lnTo>
                  <a:lnTo>
                    <a:pt x="549909" y="261620"/>
                  </a:lnTo>
                  <a:lnTo>
                    <a:pt x="549909" y="196214"/>
                  </a:lnTo>
                  <a:lnTo>
                    <a:pt x="0" y="196214"/>
                  </a:lnTo>
                  <a:lnTo>
                    <a:pt x="0" y="65404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9157" y="953134"/>
            <a:ext cx="10784205" cy="432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8765" algn="l"/>
              </a:tabLst>
            </a:pPr>
            <a:r>
              <a:rPr sz="2800" spc="-35" dirty="0">
                <a:latin typeface="Calibri"/>
                <a:cs typeface="Calibri"/>
              </a:rPr>
              <a:t>Vektor-</a:t>
            </a:r>
            <a:r>
              <a:rPr sz="2800" dirty="0">
                <a:latin typeface="Calibri"/>
                <a:cs typeface="Calibri"/>
              </a:rPr>
              <a:t>vektor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baris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25" dirty="0">
                <a:latin typeface="Calibri"/>
                <a:cs typeface="Calibri"/>
              </a:rPr>
              <a:t> A: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69723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vektor-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vektor</a:t>
            </a:r>
            <a:r>
              <a:rPr sz="2800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di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775" spc="-37" baseline="25525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endParaRPr sz="2775" baseline="25525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5"/>
              </a:spcBef>
            </a:pPr>
            <a:endParaRPr sz="2800">
              <a:latin typeface="Calibri"/>
              <a:cs typeface="Calibri"/>
            </a:endParaRPr>
          </a:p>
          <a:p>
            <a:pPr marL="278765" indent="-227965">
              <a:lnSpc>
                <a:spcPct val="100000"/>
              </a:lnSpc>
              <a:buFont typeface="Arial MT"/>
              <a:buChar char="•"/>
              <a:tabLst>
                <a:tab pos="278765" algn="l"/>
              </a:tabLst>
            </a:pPr>
            <a:r>
              <a:rPr sz="2800" spc="-35" dirty="0">
                <a:latin typeface="Calibri"/>
                <a:cs typeface="Calibri"/>
              </a:rPr>
              <a:t>Vektor-</a:t>
            </a:r>
            <a:r>
              <a:rPr sz="2800" dirty="0">
                <a:latin typeface="Calibri"/>
                <a:cs typeface="Calibri"/>
              </a:rPr>
              <a:t>vektor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kolom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800">
              <a:latin typeface="Calibri"/>
              <a:cs typeface="Calibri"/>
            </a:endParaRPr>
          </a:p>
          <a:p>
            <a:pPr marR="43180" algn="r">
              <a:lnSpc>
                <a:spcPct val="100000"/>
              </a:lnSpc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vektor-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vektor</a:t>
            </a:r>
            <a:r>
              <a:rPr sz="2800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di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775" spc="-37" baseline="2552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endParaRPr sz="2775" baseline="25525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54619" y="4935220"/>
            <a:ext cx="693420" cy="274320"/>
            <a:chOff x="7754619" y="4935220"/>
            <a:chExt cx="693420" cy="274320"/>
          </a:xfrm>
        </p:grpSpPr>
        <p:sp>
          <p:nvSpPr>
            <p:cNvPr id="9" name="object 9"/>
            <p:cNvSpPr/>
            <p:nvPr/>
          </p:nvSpPr>
          <p:spPr>
            <a:xfrm>
              <a:off x="7760969" y="4941570"/>
              <a:ext cx="680720" cy="261620"/>
            </a:xfrm>
            <a:custGeom>
              <a:avLst/>
              <a:gdLst/>
              <a:ahLst/>
              <a:cxnLst/>
              <a:rect l="l" t="t" r="r" b="b"/>
              <a:pathLst>
                <a:path w="680720" h="261620">
                  <a:moveTo>
                    <a:pt x="549909" y="0"/>
                  </a:moveTo>
                  <a:lnTo>
                    <a:pt x="549909" y="65404"/>
                  </a:lnTo>
                  <a:lnTo>
                    <a:pt x="0" y="65404"/>
                  </a:lnTo>
                  <a:lnTo>
                    <a:pt x="0" y="196214"/>
                  </a:lnTo>
                  <a:lnTo>
                    <a:pt x="549909" y="196214"/>
                  </a:lnTo>
                  <a:lnTo>
                    <a:pt x="549909" y="261619"/>
                  </a:lnTo>
                  <a:lnTo>
                    <a:pt x="680720" y="130809"/>
                  </a:lnTo>
                  <a:lnTo>
                    <a:pt x="54990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60969" y="4941570"/>
              <a:ext cx="680720" cy="261620"/>
            </a:xfrm>
            <a:custGeom>
              <a:avLst/>
              <a:gdLst/>
              <a:ahLst/>
              <a:cxnLst/>
              <a:rect l="l" t="t" r="r" b="b"/>
              <a:pathLst>
                <a:path w="680720" h="261620">
                  <a:moveTo>
                    <a:pt x="0" y="65404"/>
                  </a:moveTo>
                  <a:lnTo>
                    <a:pt x="549909" y="65404"/>
                  </a:lnTo>
                  <a:lnTo>
                    <a:pt x="549909" y="0"/>
                  </a:lnTo>
                  <a:lnTo>
                    <a:pt x="680720" y="130809"/>
                  </a:lnTo>
                  <a:lnTo>
                    <a:pt x="549909" y="261619"/>
                  </a:lnTo>
                  <a:lnTo>
                    <a:pt x="549909" y="196214"/>
                  </a:lnTo>
                  <a:lnTo>
                    <a:pt x="0" y="196214"/>
                  </a:lnTo>
                  <a:lnTo>
                    <a:pt x="0" y="6540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57" y="3943604"/>
            <a:ext cx="3879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Calibri"/>
                <a:cs typeface="Calibri"/>
              </a:rPr>
              <a:t>Vektor-</a:t>
            </a:r>
            <a:r>
              <a:rPr sz="2400" dirty="0">
                <a:latin typeface="Calibri"/>
                <a:cs typeface="Calibri"/>
              </a:rPr>
              <a:t>vektor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kolomnya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adalah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47250" y="1422400"/>
            <a:ext cx="81280" cy="15240"/>
          </a:xfrm>
          <a:custGeom>
            <a:avLst/>
            <a:gdLst/>
            <a:ahLst/>
            <a:cxnLst/>
            <a:rect l="l" t="t" r="r" b="b"/>
            <a:pathLst>
              <a:path w="81279" h="15240">
                <a:moveTo>
                  <a:pt x="0" y="15239"/>
                </a:moveTo>
                <a:lnTo>
                  <a:pt x="80899" y="15239"/>
                </a:lnTo>
                <a:lnTo>
                  <a:pt x="80899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81747" y="1422400"/>
            <a:ext cx="81280" cy="15240"/>
          </a:xfrm>
          <a:custGeom>
            <a:avLst/>
            <a:gdLst/>
            <a:ahLst/>
            <a:cxnLst/>
            <a:rect l="l" t="t" r="r" b="b"/>
            <a:pathLst>
              <a:path w="81279" h="15240">
                <a:moveTo>
                  <a:pt x="0" y="15239"/>
                </a:moveTo>
                <a:lnTo>
                  <a:pt x="81025" y="15239"/>
                </a:lnTo>
                <a:lnTo>
                  <a:pt x="81025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8207" y="491903"/>
          <a:ext cx="8913492" cy="1561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39460"/>
                <a:gridCol w="659129"/>
                <a:gridCol w="394969"/>
                <a:gridCol w="701040"/>
                <a:gridCol w="701040"/>
                <a:gridCol w="617854"/>
              </a:tblGrid>
              <a:tr h="325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3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 algn="ctr">
                        <a:lnSpc>
                          <a:spcPts val="23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7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marL="31750">
                        <a:lnSpc>
                          <a:spcPts val="2445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Contoh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Diberikan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matriks</a:t>
                      </a:r>
                      <a:r>
                        <a:rPr sz="2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sebagai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berikut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2485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=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6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6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 algn="ctr">
                        <a:lnSpc>
                          <a:spcPts val="260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ts val="255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10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241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35" dirty="0">
                          <a:latin typeface="Calibri"/>
                          <a:cs typeface="Calibri"/>
                        </a:rPr>
                        <a:t>Vektor-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vektor</a:t>
                      </a:r>
                      <a:r>
                        <a:rPr sz="2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barisnya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adalah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9747250" y="533400"/>
            <a:ext cx="81280" cy="13970"/>
          </a:xfrm>
          <a:custGeom>
            <a:avLst/>
            <a:gdLst/>
            <a:ahLst/>
            <a:cxnLst/>
            <a:rect l="l" t="t" r="r" b="b"/>
            <a:pathLst>
              <a:path w="81279" h="13970">
                <a:moveTo>
                  <a:pt x="0" y="13969"/>
                </a:moveTo>
                <a:lnTo>
                  <a:pt x="80899" y="13969"/>
                </a:lnTo>
                <a:lnTo>
                  <a:pt x="80899" y="0"/>
                </a:lnTo>
                <a:lnTo>
                  <a:pt x="0" y="0"/>
                </a:lnTo>
                <a:lnTo>
                  <a:pt x="0" y="13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81747" y="533400"/>
            <a:ext cx="81280" cy="13970"/>
          </a:xfrm>
          <a:custGeom>
            <a:avLst/>
            <a:gdLst/>
            <a:ahLst/>
            <a:cxnLst/>
            <a:rect l="l" t="t" r="r" b="b"/>
            <a:pathLst>
              <a:path w="81279" h="13970">
                <a:moveTo>
                  <a:pt x="0" y="13969"/>
                </a:moveTo>
                <a:lnTo>
                  <a:pt x="81025" y="13969"/>
                </a:lnTo>
                <a:lnTo>
                  <a:pt x="81025" y="0"/>
                </a:lnTo>
                <a:lnTo>
                  <a:pt x="0" y="0"/>
                </a:lnTo>
                <a:lnTo>
                  <a:pt x="0" y="13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77110" y="2079016"/>
            <a:ext cx="677545" cy="152717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860"/>
              </a:spcBef>
            </a:pPr>
            <a:r>
              <a:rPr sz="2400" dirty="0">
                <a:latin typeface="Cambria Math"/>
                <a:cs typeface="Cambria Math"/>
              </a:rPr>
              <a:t>𝐫</a:t>
            </a:r>
            <a:r>
              <a:rPr sz="2400" baseline="-20833" dirty="0">
                <a:latin typeface="Cambria Math"/>
                <a:cs typeface="Cambria Math"/>
              </a:rPr>
              <a:t>𝟏</a:t>
            </a:r>
            <a:r>
              <a:rPr sz="2400" spc="434" baseline="-2083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2400" dirty="0">
                <a:latin typeface="Cambria Math"/>
                <a:cs typeface="Cambria Math"/>
              </a:rPr>
              <a:t>𝐫</a:t>
            </a:r>
            <a:r>
              <a:rPr sz="2400" baseline="-20833" dirty="0">
                <a:latin typeface="Cambria Math"/>
                <a:cs typeface="Cambria Math"/>
              </a:rPr>
              <a:t>𝟐</a:t>
            </a:r>
            <a:r>
              <a:rPr sz="2400" spc="434" baseline="-2083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64"/>
              </a:spcBef>
            </a:pPr>
            <a:r>
              <a:rPr sz="2400" dirty="0">
                <a:latin typeface="Cambria Math"/>
                <a:cs typeface="Cambria Math"/>
              </a:rPr>
              <a:t>𝐫</a:t>
            </a:r>
            <a:r>
              <a:rPr sz="2400" baseline="-20833" dirty="0">
                <a:latin typeface="Cambria Math"/>
                <a:cs typeface="Cambria Math"/>
              </a:rPr>
              <a:t>𝟑</a:t>
            </a:r>
            <a:r>
              <a:rPr sz="2400" spc="465" baseline="-20833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95800" y="226440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294" y="0"/>
                </a:moveTo>
                <a:lnTo>
                  <a:pt x="0" y="0"/>
                </a:lnTo>
                <a:lnTo>
                  <a:pt x="0" y="11430"/>
                </a:lnTo>
                <a:lnTo>
                  <a:pt x="41656" y="11430"/>
                </a:lnTo>
                <a:lnTo>
                  <a:pt x="41656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294" y="283210"/>
                </a:lnTo>
                <a:lnTo>
                  <a:pt x="66294" y="271780"/>
                </a:lnTo>
                <a:lnTo>
                  <a:pt x="66294" y="11430"/>
                </a:lnTo>
                <a:lnTo>
                  <a:pt x="662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00452" y="226440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72940" y="272541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294" y="0"/>
                </a:moveTo>
                <a:lnTo>
                  <a:pt x="0" y="0"/>
                </a:lnTo>
                <a:lnTo>
                  <a:pt x="0" y="11430"/>
                </a:lnTo>
                <a:lnTo>
                  <a:pt x="41656" y="11430"/>
                </a:lnTo>
                <a:lnTo>
                  <a:pt x="41656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294" y="284480"/>
                </a:lnTo>
                <a:lnTo>
                  <a:pt x="66294" y="273050"/>
                </a:lnTo>
                <a:lnTo>
                  <a:pt x="66294" y="11430"/>
                </a:lnTo>
                <a:lnTo>
                  <a:pt x="662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77592" y="272541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38170" y="2094257"/>
            <a:ext cx="1866900" cy="94996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860"/>
              </a:spcBef>
              <a:tabLst>
                <a:tab pos="510540" algn="l"/>
                <a:tab pos="1209040" algn="l"/>
                <a:tab pos="1684020" algn="l"/>
              </a:tabLst>
            </a:pPr>
            <a:r>
              <a:rPr sz="2400" spc="-50" dirty="0">
                <a:latin typeface="Cambria Math"/>
                <a:cs typeface="Cambria Math"/>
              </a:rPr>
              <a:t>3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−1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4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7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487680" algn="l"/>
                <a:tab pos="960119" algn="l"/>
                <a:tab pos="1432560" algn="l"/>
              </a:tabLst>
            </a:pPr>
            <a:r>
              <a:rPr sz="2400" spc="-50" dirty="0">
                <a:latin typeface="Cambria Math"/>
                <a:cs typeface="Cambria Math"/>
              </a:rPr>
              <a:t>2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6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9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−3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40580" y="3302000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79">
                <a:moveTo>
                  <a:pt x="66294" y="0"/>
                </a:moveTo>
                <a:lnTo>
                  <a:pt x="0" y="0"/>
                </a:lnTo>
                <a:lnTo>
                  <a:pt x="0" y="12700"/>
                </a:lnTo>
                <a:lnTo>
                  <a:pt x="41656" y="12700"/>
                </a:lnTo>
                <a:lnTo>
                  <a:pt x="41656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294" y="284480"/>
                </a:lnTo>
                <a:lnTo>
                  <a:pt x="66294" y="273050"/>
                </a:lnTo>
                <a:lnTo>
                  <a:pt x="66294" y="12700"/>
                </a:lnTo>
                <a:lnTo>
                  <a:pt x="662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80132" y="3302000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79">
                <a:moveTo>
                  <a:pt x="66421" y="0"/>
                </a:moveTo>
                <a:lnTo>
                  <a:pt x="0" y="0"/>
                </a:lnTo>
                <a:lnTo>
                  <a:pt x="0" y="1270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2700"/>
                </a:lnTo>
                <a:lnTo>
                  <a:pt x="66421" y="1270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40583" y="3229990"/>
            <a:ext cx="2007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5140" algn="l"/>
                <a:tab pos="957580" algn="l"/>
                <a:tab pos="1659255" algn="l"/>
              </a:tabLst>
            </a:pPr>
            <a:r>
              <a:rPr sz="2400" spc="-50" dirty="0">
                <a:latin typeface="Cambria Math"/>
                <a:cs typeface="Cambria Math"/>
              </a:rPr>
              <a:t>0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4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−1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10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2678" y="4834635"/>
            <a:ext cx="528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baseline="-20833" dirty="0">
                <a:latin typeface="Calibri"/>
                <a:cs typeface="Calibri"/>
              </a:rPr>
              <a:t>1</a:t>
            </a:r>
            <a:r>
              <a:rPr sz="2400" b="1" spc="254" baseline="-20833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77389" y="4611370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80" h="90423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50292" y="13970"/>
                </a:lnTo>
                <a:lnTo>
                  <a:pt x="50292" y="889000"/>
                </a:ln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12467" y="4611370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80" h="904239">
                <a:moveTo>
                  <a:pt x="81026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4240"/>
                </a:lnTo>
                <a:lnTo>
                  <a:pt x="81026" y="904240"/>
                </a:lnTo>
                <a:lnTo>
                  <a:pt x="81026" y="889000"/>
                </a:lnTo>
                <a:lnTo>
                  <a:pt x="30734" y="889000"/>
                </a:lnTo>
                <a:lnTo>
                  <a:pt x="30734" y="13970"/>
                </a:lnTo>
                <a:lnTo>
                  <a:pt x="81026" y="1397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288285" y="4491735"/>
            <a:ext cx="194310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3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4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29940" y="4834635"/>
            <a:ext cx="528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baseline="-20833" dirty="0">
                <a:latin typeface="Calibri"/>
                <a:cs typeface="Calibri"/>
              </a:rPr>
              <a:t>2</a:t>
            </a:r>
            <a:r>
              <a:rPr sz="2400" b="1" spc="254" baseline="-20833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10329" y="4611370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50292" y="13970"/>
                </a:lnTo>
                <a:lnTo>
                  <a:pt x="50292" y="889000"/>
                </a:ln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919347" y="4611370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1026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4240"/>
                </a:lnTo>
                <a:lnTo>
                  <a:pt x="81026" y="904240"/>
                </a:lnTo>
                <a:lnTo>
                  <a:pt x="81026" y="889000"/>
                </a:lnTo>
                <a:lnTo>
                  <a:pt x="30607" y="889000"/>
                </a:lnTo>
                <a:lnTo>
                  <a:pt x="30607" y="13970"/>
                </a:lnTo>
                <a:lnTo>
                  <a:pt x="81026" y="1397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995420" y="4494148"/>
            <a:ext cx="422909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−1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6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50"/>
              </a:lnSpc>
            </a:pPr>
            <a:r>
              <a:rPr sz="2400" spc="-50" dirty="0">
                <a:latin typeface="Cambria Math"/>
                <a:cs typeface="Cambria Math"/>
              </a:rPr>
              <a:t>4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73700" y="4834635"/>
            <a:ext cx="528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baseline="-20833" dirty="0">
                <a:latin typeface="Calibri"/>
                <a:cs typeface="Calibri"/>
              </a:rPr>
              <a:t>3</a:t>
            </a:r>
            <a:r>
              <a:rPr sz="2400" b="1" spc="254" baseline="-20833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553695" y="4611370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50304" y="13970"/>
                </a:lnTo>
                <a:lnTo>
                  <a:pt x="50304" y="889000"/>
                </a:ln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62726" y="4611370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1026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4240"/>
                </a:lnTo>
                <a:lnTo>
                  <a:pt x="81026" y="904240"/>
                </a:lnTo>
                <a:lnTo>
                  <a:pt x="81026" y="889000"/>
                </a:lnTo>
                <a:lnTo>
                  <a:pt x="30734" y="889000"/>
                </a:lnTo>
                <a:lnTo>
                  <a:pt x="30734" y="13970"/>
                </a:lnTo>
                <a:lnTo>
                  <a:pt x="81026" y="1397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139179" y="4491735"/>
            <a:ext cx="423545" cy="110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ts val="285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4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20"/>
              </a:lnSpc>
            </a:pPr>
            <a:r>
              <a:rPr sz="2400" spc="-50" dirty="0">
                <a:latin typeface="Cambria Math"/>
                <a:cs typeface="Cambria Math"/>
              </a:rPr>
              <a:t>9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50"/>
              </a:lnSpc>
            </a:pPr>
            <a:r>
              <a:rPr sz="2400" spc="-25" dirty="0">
                <a:latin typeface="Cambria Math"/>
                <a:cs typeface="Cambria Math"/>
              </a:rPr>
              <a:t>−1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10068" y="4834635"/>
            <a:ext cx="528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baseline="-20833" dirty="0">
                <a:latin typeface="Calibri"/>
                <a:cs typeface="Calibri"/>
              </a:rPr>
              <a:t>4</a:t>
            </a:r>
            <a:r>
              <a:rPr sz="2400" b="1" spc="254" baseline="-20833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489696" y="4611370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1026" y="0"/>
                </a:moveTo>
                <a:lnTo>
                  <a:pt x="0" y="0"/>
                </a:lnTo>
                <a:lnTo>
                  <a:pt x="0" y="13970"/>
                </a:lnTo>
                <a:lnTo>
                  <a:pt x="50292" y="13970"/>
                </a:lnTo>
                <a:lnTo>
                  <a:pt x="50292" y="889000"/>
                </a:lnTo>
                <a:lnTo>
                  <a:pt x="0" y="889000"/>
                </a:lnTo>
                <a:lnTo>
                  <a:pt x="0" y="904240"/>
                </a:lnTo>
                <a:lnTo>
                  <a:pt x="81026" y="904240"/>
                </a:lnTo>
                <a:lnTo>
                  <a:pt x="81026" y="889000"/>
                </a:lnTo>
                <a:lnTo>
                  <a:pt x="81026" y="1397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998841" y="4611370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lnTo>
                  <a:pt x="30607" y="889000"/>
                </a:lnTo>
                <a:lnTo>
                  <a:pt x="30607" y="1397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075930" y="4491735"/>
            <a:ext cx="422909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ts val="284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7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−3</a:t>
            </a:r>
            <a:endParaRPr sz="2400">
              <a:latin typeface="Cambria Math"/>
              <a:cs typeface="Cambria Math"/>
            </a:endParaRPr>
          </a:p>
          <a:p>
            <a:pPr marL="42545">
              <a:lnSpc>
                <a:spcPts val="2850"/>
              </a:lnSpc>
            </a:pPr>
            <a:r>
              <a:rPr sz="2400" spc="-25" dirty="0">
                <a:latin typeface="Cambria Math"/>
                <a:cs typeface="Cambria Math"/>
              </a:rPr>
              <a:t>10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6</a:t>
            </a:fld>
            <a:endParaRPr spc="-50" dirty="0"/>
          </a:p>
        </p:txBody>
      </p:sp>
      <p:sp>
        <p:nvSpPr>
          <p:cNvPr id="2" name="object 2"/>
          <p:cNvSpPr txBox="1"/>
          <p:nvPr/>
        </p:nvSpPr>
        <p:spPr>
          <a:xfrm>
            <a:off x="866457" y="705918"/>
            <a:ext cx="9896475" cy="501396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65"/>
              </a:spcBef>
            </a:pPr>
            <a:r>
              <a:rPr sz="2800" b="1" spc="-10" dirty="0">
                <a:latin typeface="Calibri"/>
                <a:cs typeface="Calibri"/>
              </a:rPr>
              <a:t>DEFINISI</a:t>
            </a:r>
            <a:endParaRPr sz="2800">
              <a:latin typeface="Calibri"/>
              <a:cs typeface="Calibri"/>
            </a:endParaRPr>
          </a:p>
          <a:p>
            <a:pPr marL="292100" marR="55880" indent="-228600" algn="just">
              <a:lnSpc>
                <a:spcPct val="90200"/>
              </a:lnSpc>
              <a:spcBef>
                <a:spcPts val="990"/>
              </a:spcBef>
              <a:buFont typeface="Arial MT"/>
              <a:buChar char="•"/>
              <a:tabLst>
                <a:tab pos="292100" algn="l"/>
              </a:tabLst>
            </a:pPr>
            <a:r>
              <a:rPr sz="2800" dirty="0">
                <a:latin typeface="Calibri"/>
                <a:cs typeface="Calibri"/>
              </a:rPr>
              <a:t>Jika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adalah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subruang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775" baseline="25525" dirty="0">
                <a:latin typeface="Calibri"/>
                <a:cs typeface="Calibri"/>
              </a:rPr>
              <a:t>n</a:t>
            </a:r>
            <a:r>
              <a:rPr sz="2775" spc="262" baseline="255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yang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dibangun </a:t>
            </a:r>
            <a:r>
              <a:rPr sz="2800" dirty="0">
                <a:latin typeface="Calibri"/>
                <a:cs typeface="Calibri"/>
              </a:rPr>
              <a:t>oleh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vektor-</a:t>
            </a:r>
            <a:r>
              <a:rPr sz="2800" dirty="0">
                <a:latin typeface="Calibri"/>
                <a:cs typeface="Calibri"/>
              </a:rPr>
              <a:t>vektor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baris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dinamakan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ruang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baris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row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space</a:t>
            </a:r>
            <a:r>
              <a:rPr sz="2800" spc="-10" dirty="0">
                <a:latin typeface="Calibri"/>
                <a:cs typeface="Calibri"/>
              </a:rPr>
              <a:t>)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4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92100" marR="274955" indent="-228600">
              <a:lnSpc>
                <a:spcPts val="3020"/>
              </a:lnSpc>
              <a:buFont typeface="Arial MT"/>
              <a:buChar char="•"/>
              <a:tabLst>
                <a:tab pos="292100" algn="l"/>
              </a:tabLst>
            </a:pPr>
            <a:r>
              <a:rPr sz="2800" dirty="0">
                <a:latin typeface="Calibri"/>
                <a:cs typeface="Calibri"/>
              </a:rPr>
              <a:t>Subruang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775" baseline="25525" dirty="0">
                <a:latin typeface="Calibri"/>
                <a:cs typeface="Calibri"/>
              </a:rPr>
              <a:t>m</a:t>
            </a:r>
            <a:r>
              <a:rPr sz="2775" spc="240" baseline="255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yang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dibangun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oleh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vektor-</a:t>
            </a:r>
            <a:r>
              <a:rPr sz="2800" dirty="0">
                <a:latin typeface="Calibri"/>
                <a:cs typeface="Calibri"/>
              </a:rPr>
              <a:t>vektor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kolom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dinamakan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ruang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kolom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column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space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8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92100" marR="426720" indent="-228600">
              <a:lnSpc>
                <a:spcPct val="89900"/>
              </a:lnSpc>
              <a:buFont typeface="Arial MT"/>
              <a:buChar char="•"/>
              <a:tabLst>
                <a:tab pos="292100" algn="l"/>
              </a:tabLst>
            </a:pPr>
            <a:r>
              <a:rPr sz="2800" dirty="0">
                <a:latin typeface="Calibri"/>
                <a:cs typeface="Calibri"/>
              </a:rPr>
              <a:t>Ruang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solusi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persamaan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linier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homogen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b="1" dirty="0">
                <a:latin typeface="Calibri"/>
                <a:cs typeface="Calibri"/>
              </a:rPr>
              <a:t>x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yang </a:t>
            </a:r>
            <a:r>
              <a:rPr sz="2800" dirty="0">
                <a:latin typeface="Calibri"/>
                <a:cs typeface="Calibri"/>
              </a:rPr>
              <a:t>merupakan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subruang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775" baseline="2552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dinamakan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ruang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null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null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space</a:t>
            </a:r>
            <a:r>
              <a:rPr sz="2800" spc="-10" dirty="0">
                <a:latin typeface="Calibri"/>
                <a:cs typeface="Calibri"/>
              </a:rPr>
              <a:t>)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5205" y="191134"/>
            <a:ext cx="7696834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48450" algn="l"/>
              </a:tabLst>
            </a:pPr>
            <a:r>
              <a:rPr sz="2200" b="1" dirty="0">
                <a:latin typeface="Calibri"/>
                <a:cs typeface="Calibri"/>
              </a:rPr>
              <a:t>Contoh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2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(Ruang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null)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Tentukan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ruang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null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untuk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matriks</a:t>
            </a:r>
            <a:r>
              <a:rPr sz="2200" dirty="0">
                <a:latin typeface="Calibri"/>
                <a:cs typeface="Calibri"/>
              </a:rPr>
              <a:t>	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berikut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205" y="1906270"/>
            <a:ext cx="90589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Jawaban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Untuk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menentukan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ruang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null,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selesaikan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homogen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b="1" dirty="0">
                <a:latin typeface="Calibri"/>
                <a:cs typeface="Calibri"/>
              </a:rPr>
              <a:t>x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berikut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5205" y="4051045"/>
            <a:ext cx="93560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dengan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metode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eliminasi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Gauss/Gauss-</a:t>
            </a:r>
            <a:r>
              <a:rPr sz="2200" dirty="0">
                <a:latin typeface="Calibri"/>
                <a:cs typeface="Calibri"/>
              </a:rPr>
              <a:t>Jordan,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diperoleh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solusinya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sebagai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berikut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43833" y="1057021"/>
            <a:ext cx="3905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=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31761" y="857249"/>
            <a:ext cx="74295" cy="828040"/>
          </a:xfrm>
          <a:custGeom>
            <a:avLst/>
            <a:gdLst/>
            <a:ahLst/>
            <a:cxnLst/>
            <a:rect l="l" t="t" r="r" b="b"/>
            <a:pathLst>
              <a:path w="74295" h="828039">
                <a:moveTo>
                  <a:pt x="74168" y="0"/>
                </a:moveTo>
                <a:lnTo>
                  <a:pt x="0" y="0"/>
                </a:lnTo>
                <a:lnTo>
                  <a:pt x="0" y="12700"/>
                </a:lnTo>
                <a:lnTo>
                  <a:pt x="46101" y="12700"/>
                </a:lnTo>
                <a:lnTo>
                  <a:pt x="46101" y="815340"/>
                </a:lnTo>
                <a:lnTo>
                  <a:pt x="0" y="815340"/>
                </a:lnTo>
                <a:lnTo>
                  <a:pt x="0" y="828040"/>
                </a:lnTo>
                <a:lnTo>
                  <a:pt x="74168" y="828040"/>
                </a:lnTo>
                <a:lnTo>
                  <a:pt x="74168" y="815340"/>
                </a:lnTo>
                <a:lnTo>
                  <a:pt x="74168" y="12700"/>
                </a:lnTo>
                <a:lnTo>
                  <a:pt x="74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16274" y="857249"/>
            <a:ext cx="74295" cy="828040"/>
          </a:xfrm>
          <a:custGeom>
            <a:avLst/>
            <a:gdLst/>
            <a:ahLst/>
            <a:cxnLst/>
            <a:rect l="l" t="t" r="r" b="b"/>
            <a:pathLst>
              <a:path w="74295" h="828039">
                <a:moveTo>
                  <a:pt x="74295" y="0"/>
                </a:moveTo>
                <a:lnTo>
                  <a:pt x="0" y="0"/>
                </a:lnTo>
                <a:lnTo>
                  <a:pt x="0" y="12700"/>
                </a:lnTo>
                <a:lnTo>
                  <a:pt x="0" y="815340"/>
                </a:lnTo>
                <a:lnTo>
                  <a:pt x="0" y="828040"/>
                </a:lnTo>
                <a:lnTo>
                  <a:pt x="74295" y="828040"/>
                </a:lnTo>
                <a:lnTo>
                  <a:pt x="74295" y="815340"/>
                </a:lnTo>
                <a:lnTo>
                  <a:pt x="28067" y="815340"/>
                </a:lnTo>
                <a:lnTo>
                  <a:pt x="28067" y="12700"/>
                </a:lnTo>
                <a:lnTo>
                  <a:pt x="74295" y="12700"/>
                </a:lnTo>
                <a:lnTo>
                  <a:pt x="74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84853" y="741362"/>
            <a:ext cx="2954655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39">
              <a:lnSpc>
                <a:spcPts val="2610"/>
              </a:lnSpc>
              <a:spcBef>
                <a:spcPts val="100"/>
              </a:spcBef>
              <a:tabLst>
                <a:tab pos="756920" algn="l"/>
                <a:tab pos="1295400" algn="l"/>
                <a:tab pos="2040255" algn="l"/>
                <a:tab pos="2682875" algn="l"/>
              </a:tabLst>
            </a:pPr>
            <a:r>
              <a:rPr sz="2200" spc="-50" dirty="0">
                <a:latin typeface="Cambria Math"/>
                <a:cs typeface="Cambria Math"/>
              </a:rPr>
              <a:t>2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2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580"/>
              </a:lnSpc>
              <a:tabLst>
                <a:tab pos="652780" algn="l"/>
                <a:tab pos="1399540" algn="l"/>
                <a:tab pos="1935480" algn="l"/>
                <a:tab pos="2682875" algn="l"/>
              </a:tabLst>
            </a:pPr>
            <a:r>
              <a:rPr sz="2200" spc="-25" dirty="0">
                <a:latin typeface="Cambria Math"/>
                <a:cs typeface="Cambria Math"/>
              </a:rPr>
              <a:t>−1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2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35" dirty="0">
                <a:latin typeface="Cambria Math"/>
                <a:cs typeface="Cambria Math"/>
              </a:rPr>
              <a:t>−3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  <a:p>
            <a:pPr marL="116839">
              <a:lnSpc>
                <a:spcPts val="2610"/>
              </a:lnSpc>
              <a:tabLst>
                <a:tab pos="756920" algn="l"/>
                <a:tab pos="1295400" algn="l"/>
                <a:tab pos="2040255" algn="l"/>
                <a:tab pos="2578100" algn="l"/>
              </a:tabLst>
            </a:pPr>
            <a:r>
              <a:rPr sz="2200" spc="-50" dirty="0">
                <a:latin typeface="Cambria Math"/>
                <a:cs typeface="Cambria Math"/>
              </a:rPr>
              <a:t>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−2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6890" y="3709670"/>
            <a:ext cx="74295" cy="12700"/>
          </a:xfrm>
          <a:custGeom>
            <a:avLst/>
            <a:gdLst/>
            <a:ahLst/>
            <a:cxnLst/>
            <a:rect l="l" t="t" r="r" b="b"/>
            <a:pathLst>
              <a:path w="74295" h="12700">
                <a:moveTo>
                  <a:pt x="0" y="12699"/>
                </a:moveTo>
                <a:lnTo>
                  <a:pt x="74168" y="12699"/>
                </a:lnTo>
                <a:lnTo>
                  <a:pt x="74168" y="0"/>
                </a:lnTo>
                <a:lnTo>
                  <a:pt x="0" y="0"/>
                </a:lnTo>
                <a:lnTo>
                  <a:pt x="0" y="1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81529" y="3709670"/>
            <a:ext cx="74295" cy="12700"/>
          </a:xfrm>
          <a:custGeom>
            <a:avLst/>
            <a:gdLst/>
            <a:ahLst/>
            <a:cxnLst/>
            <a:rect l="l" t="t" r="r" b="b"/>
            <a:pathLst>
              <a:path w="74294" h="12700">
                <a:moveTo>
                  <a:pt x="0" y="12699"/>
                </a:moveTo>
                <a:lnTo>
                  <a:pt x="74168" y="12699"/>
                </a:lnTo>
                <a:lnTo>
                  <a:pt x="74168" y="0"/>
                </a:lnTo>
                <a:lnTo>
                  <a:pt x="0" y="0"/>
                </a:lnTo>
                <a:lnTo>
                  <a:pt x="0" y="1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581529" y="2854175"/>
          <a:ext cx="3063239" cy="93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960"/>
                <a:gridCol w="641350"/>
                <a:gridCol w="641985"/>
                <a:gridCol w="641984"/>
                <a:gridCol w="568960"/>
              </a:tblGrid>
              <a:tr h="303530">
                <a:tc>
                  <a:txBody>
                    <a:bodyPr/>
                    <a:lstStyle/>
                    <a:p>
                      <a:pPr marR="64135"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5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R="63500" algn="ctr">
                        <a:lnSpc>
                          <a:spcPts val="234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R="641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5596890" y="2894329"/>
            <a:ext cx="74295" cy="12700"/>
          </a:xfrm>
          <a:custGeom>
            <a:avLst/>
            <a:gdLst/>
            <a:ahLst/>
            <a:cxnLst/>
            <a:rect l="l" t="t" r="r" b="b"/>
            <a:pathLst>
              <a:path w="74295" h="12700">
                <a:moveTo>
                  <a:pt x="0" y="12700"/>
                </a:moveTo>
                <a:lnTo>
                  <a:pt x="74168" y="12700"/>
                </a:lnTo>
                <a:lnTo>
                  <a:pt x="74168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81529" y="2894329"/>
            <a:ext cx="74295" cy="12700"/>
          </a:xfrm>
          <a:custGeom>
            <a:avLst/>
            <a:gdLst/>
            <a:ahLst/>
            <a:cxnLst/>
            <a:rect l="l" t="t" r="r" b="b"/>
            <a:pathLst>
              <a:path w="74294" h="12700">
                <a:moveTo>
                  <a:pt x="0" y="12700"/>
                </a:moveTo>
                <a:lnTo>
                  <a:pt x="74168" y="12700"/>
                </a:lnTo>
                <a:lnTo>
                  <a:pt x="74168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74055" y="2585719"/>
            <a:ext cx="82550" cy="1442720"/>
          </a:xfrm>
          <a:custGeom>
            <a:avLst/>
            <a:gdLst/>
            <a:ahLst/>
            <a:cxnLst/>
            <a:rect l="l" t="t" r="r" b="b"/>
            <a:pathLst>
              <a:path w="82550" h="1442720">
                <a:moveTo>
                  <a:pt x="82169" y="0"/>
                </a:moveTo>
                <a:lnTo>
                  <a:pt x="0" y="0"/>
                </a:lnTo>
                <a:lnTo>
                  <a:pt x="0" y="12700"/>
                </a:lnTo>
                <a:lnTo>
                  <a:pt x="0" y="1430020"/>
                </a:lnTo>
                <a:lnTo>
                  <a:pt x="0" y="1442720"/>
                </a:lnTo>
                <a:lnTo>
                  <a:pt x="82169" y="1442720"/>
                </a:lnTo>
                <a:lnTo>
                  <a:pt x="82169" y="1430020"/>
                </a:lnTo>
                <a:lnTo>
                  <a:pt x="28702" y="1430020"/>
                </a:lnTo>
                <a:lnTo>
                  <a:pt x="28702" y="12700"/>
                </a:lnTo>
                <a:lnTo>
                  <a:pt x="82169" y="12700"/>
                </a:lnTo>
                <a:lnTo>
                  <a:pt x="82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44387" y="2585719"/>
            <a:ext cx="82550" cy="1442720"/>
          </a:xfrm>
          <a:custGeom>
            <a:avLst/>
            <a:gdLst/>
            <a:ahLst/>
            <a:cxnLst/>
            <a:rect l="l" t="t" r="r" b="b"/>
            <a:pathLst>
              <a:path w="82550" h="1442720">
                <a:moveTo>
                  <a:pt x="82169" y="0"/>
                </a:moveTo>
                <a:lnTo>
                  <a:pt x="0" y="0"/>
                </a:lnTo>
                <a:lnTo>
                  <a:pt x="0" y="12700"/>
                </a:lnTo>
                <a:lnTo>
                  <a:pt x="53594" y="12700"/>
                </a:lnTo>
                <a:lnTo>
                  <a:pt x="53594" y="1430020"/>
                </a:lnTo>
                <a:lnTo>
                  <a:pt x="0" y="1430020"/>
                </a:lnTo>
                <a:lnTo>
                  <a:pt x="0" y="1442720"/>
                </a:lnTo>
                <a:lnTo>
                  <a:pt x="82169" y="1442720"/>
                </a:lnTo>
                <a:lnTo>
                  <a:pt x="82169" y="1430020"/>
                </a:lnTo>
                <a:lnTo>
                  <a:pt x="82169" y="12700"/>
                </a:lnTo>
                <a:lnTo>
                  <a:pt x="82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825744" y="2396109"/>
            <a:ext cx="34163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ts val="2610"/>
              </a:lnSpc>
              <a:spcBef>
                <a:spcPts val="100"/>
              </a:spcBef>
            </a:pPr>
            <a:r>
              <a:rPr sz="2200" spc="-25" dirty="0">
                <a:latin typeface="Cambria Math"/>
                <a:cs typeface="Cambria Math"/>
              </a:rPr>
              <a:t>𝑥</a:t>
            </a:r>
            <a:r>
              <a:rPr sz="2400" spc="-37" baseline="-15625" dirty="0">
                <a:latin typeface="Cambria Math"/>
                <a:cs typeface="Cambria Math"/>
              </a:rPr>
              <a:t>1</a:t>
            </a:r>
            <a:endParaRPr sz="2400" baseline="-15625">
              <a:latin typeface="Cambria Math"/>
              <a:cs typeface="Cambria Math"/>
            </a:endParaRPr>
          </a:p>
          <a:p>
            <a:pPr marL="38100">
              <a:lnSpc>
                <a:spcPts val="2580"/>
              </a:lnSpc>
            </a:pPr>
            <a:r>
              <a:rPr sz="2200" spc="-25" dirty="0">
                <a:latin typeface="Cambria Math"/>
                <a:cs typeface="Cambria Math"/>
              </a:rPr>
              <a:t>𝑥</a:t>
            </a:r>
            <a:r>
              <a:rPr sz="2400" spc="-37" baseline="-15625" dirty="0">
                <a:latin typeface="Cambria Math"/>
                <a:cs typeface="Cambria Math"/>
              </a:rPr>
              <a:t>2</a:t>
            </a:r>
            <a:endParaRPr sz="2400" baseline="-15625">
              <a:latin typeface="Cambria Math"/>
              <a:cs typeface="Cambria Math"/>
            </a:endParaRPr>
          </a:p>
          <a:p>
            <a:pPr marL="38100">
              <a:lnSpc>
                <a:spcPts val="2580"/>
              </a:lnSpc>
            </a:pPr>
            <a:r>
              <a:rPr sz="2200" spc="-25" dirty="0">
                <a:latin typeface="Cambria Math"/>
                <a:cs typeface="Cambria Math"/>
              </a:rPr>
              <a:t>𝑥</a:t>
            </a:r>
            <a:r>
              <a:rPr sz="2400" spc="-37" baseline="-15625" dirty="0">
                <a:latin typeface="Cambria Math"/>
                <a:cs typeface="Cambria Math"/>
              </a:rPr>
              <a:t>3</a:t>
            </a:r>
            <a:endParaRPr sz="2400" baseline="-15625">
              <a:latin typeface="Cambria Math"/>
              <a:cs typeface="Cambria Math"/>
            </a:endParaRPr>
          </a:p>
          <a:p>
            <a:pPr marL="38100">
              <a:lnSpc>
                <a:spcPts val="2580"/>
              </a:lnSpc>
            </a:pPr>
            <a:r>
              <a:rPr sz="2200" spc="-25" dirty="0">
                <a:latin typeface="Cambria Math"/>
                <a:cs typeface="Cambria Math"/>
              </a:rPr>
              <a:t>𝑥</a:t>
            </a:r>
            <a:r>
              <a:rPr sz="2400" spc="-37" baseline="-15625" dirty="0">
                <a:latin typeface="Cambria Math"/>
                <a:cs typeface="Cambria Math"/>
              </a:rPr>
              <a:t>4</a:t>
            </a:r>
            <a:endParaRPr sz="2400" baseline="-15625">
              <a:latin typeface="Cambria Math"/>
              <a:cs typeface="Cambria Math"/>
            </a:endParaRPr>
          </a:p>
          <a:p>
            <a:pPr marL="38100">
              <a:lnSpc>
                <a:spcPts val="2610"/>
              </a:lnSpc>
            </a:pPr>
            <a:r>
              <a:rPr sz="2200" spc="-25" dirty="0">
                <a:latin typeface="Cambria Math"/>
                <a:cs typeface="Cambria Math"/>
              </a:rPr>
              <a:t>𝑥</a:t>
            </a:r>
            <a:r>
              <a:rPr sz="2400" spc="-37" baseline="-15625" dirty="0">
                <a:latin typeface="Cambria Math"/>
                <a:cs typeface="Cambria Math"/>
              </a:rPr>
              <a:t>5</a:t>
            </a:r>
            <a:endParaRPr sz="2400" baseline="-15625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13195" y="2517139"/>
            <a:ext cx="82550" cy="1582420"/>
          </a:xfrm>
          <a:custGeom>
            <a:avLst/>
            <a:gdLst/>
            <a:ahLst/>
            <a:cxnLst/>
            <a:rect l="l" t="t" r="r" b="b"/>
            <a:pathLst>
              <a:path w="82550" h="1582420">
                <a:moveTo>
                  <a:pt x="82169" y="0"/>
                </a:moveTo>
                <a:lnTo>
                  <a:pt x="0" y="0"/>
                </a:lnTo>
                <a:lnTo>
                  <a:pt x="0" y="12700"/>
                </a:lnTo>
                <a:lnTo>
                  <a:pt x="0" y="1569720"/>
                </a:lnTo>
                <a:lnTo>
                  <a:pt x="0" y="1582420"/>
                </a:lnTo>
                <a:lnTo>
                  <a:pt x="82169" y="1582420"/>
                </a:lnTo>
                <a:lnTo>
                  <a:pt x="82169" y="1569720"/>
                </a:lnTo>
                <a:lnTo>
                  <a:pt x="28702" y="1569720"/>
                </a:lnTo>
                <a:lnTo>
                  <a:pt x="28702" y="12700"/>
                </a:lnTo>
                <a:lnTo>
                  <a:pt x="82169" y="12700"/>
                </a:lnTo>
                <a:lnTo>
                  <a:pt x="82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759067" y="2517139"/>
            <a:ext cx="82550" cy="1582420"/>
          </a:xfrm>
          <a:custGeom>
            <a:avLst/>
            <a:gdLst/>
            <a:ahLst/>
            <a:cxnLst/>
            <a:rect l="l" t="t" r="r" b="b"/>
            <a:pathLst>
              <a:path w="82550" h="1582420">
                <a:moveTo>
                  <a:pt x="82169" y="0"/>
                </a:moveTo>
                <a:lnTo>
                  <a:pt x="0" y="0"/>
                </a:lnTo>
                <a:lnTo>
                  <a:pt x="0" y="12700"/>
                </a:lnTo>
                <a:lnTo>
                  <a:pt x="53594" y="12700"/>
                </a:lnTo>
                <a:lnTo>
                  <a:pt x="53594" y="1569720"/>
                </a:lnTo>
                <a:lnTo>
                  <a:pt x="0" y="1569720"/>
                </a:lnTo>
                <a:lnTo>
                  <a:pt x="0" y="1582420"/>
                </a:lnTo>
                <a:lnTo>
                  <a:pt x="82169" y="1582420"/>
                </a:lnTo>
                <a:lnTo>
                  <a:pt x="82169" y="1569720"/>
                </a:lnTo>
                <a:lnTo>
                  <a:pt x="82169" y="12700"/>
                </a:lnTo>
                <a:lnTo>
                  <a:pt x="82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587743" y="2523109"/>
            <a:ext cx="1803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latin typeface="Cambria Math"/>
                <a:cs typeface="Cambria Math"/>
              </a:rPr>
              <a:t>0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87743" y="2851150"/>
            <a:ext cx="1803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latin typeface="Cambria Math"/>
                <a:cs typeface="Cambria Math"/>
              </a:rPr>
              <a:t>0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62751" y="3094990"/>
            <a:ext cx="5308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37185" algn="l"/>
              </a:tabLst>
            </a:pPr>
            <a:r>
              <a:rPr sz="2200" spc="-50" dirty="0">
                <a:latin typeface="Calibri"/>
                <a:cs typeface="Calibri"/>
              </a:rPr>
              <a:t>=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3300" spc="-75" baseline="-16414" dirty="0">
                <a:latin typeface="Cambria Math"/>
                <a:cs typeface="Cambria Math"/>
              </a:rPr>
              <a:t>0</a:t>
            </a:r>
            <a:endParaRPr sz="3300" baseline="-16414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87743" y="3506152"/>
            <a:ext cx="1803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latin typeface="Cambria Math"/>
                <a:cs typeface="Cambria Math"/>
              </a:rPr>
              <a:t>0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87743" y="3834510"/>
            <a:ext cx="1803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latin typeface="Cambria Math"/>
                <a:cs typeface="Cambria Math"/>
              </a:rPr>
              <a:t>0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83995" y="4662170"/>
            <a:ext cx="82550" cy="1442720"/>
          </a:xfrm>
          <a:custGeom>
            <a:avLst/>
            <a:gdLst/>
            <a:ahLst/>
            <a:cxnLst/>
            <a:rect l="l" t="t" r="r" b="b"/>
            <a:pathLst>
              <a:path w="82550" h="1442720">
                <a:moveTo>
                  <a:pt x="82169" y="0"/>
                </a:moveTo>
                <a:lnTo>
                  <a:pt x="0" y="0"/>
                </a:lnTo>
                <a:lnTo>
                  <a:pt x="0" y="12700"/>
                </a:lnTo>
                <a:lnTo>
                  <a:pt x="0" y="1431290"/>
                </a:lnTo>
                <a:lnTo>
                  <a:pt x="0" y="1442720"/>
                </a:lnTo>
                <a:lnTo>
                  <a:pt x="82169" y="1442720"/>
                </a:lnTo>
                <a:lnTo>
                  <a:pt x="82169" y="1431290"/>
                </a:lnTo>
                <a:lnTo>
                  <a:pt x="28702" y="1431290"/>
                </a:lnTo>
                <a:lnTo>
                  <a:pt x="28702" y="12700"/>
                </a:lnTo>
                <a:lnTo>
                  <a:pt x="82169" y="12700"/>
                </a:lnTo>
                <a:lnTo>
                  <a:pt x="82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54327" y="4662170"/>
            <a:ext cx="82550" cy="1442720"/>
          </a:xfrm>
          <a:custGeom>
            <a:avLst/>
            <a:gdLst/>
            <a:ahLst/>
            <a:cxnLst/>
            <a:rect l="l" t="t" r="r" b="b"/>
            <a:pathLst>
              <a:path w="82550" h="1442720">
                <a:moveTo>
                  <a:pt x="82169" y="0"/>
                </a:moveTo>
                <a:lnTo>
                  <a:pt x="0" y="0"/>
                </a:lnTo>
                <a:lnTo>
                  <a:pt x="0" y="12700"/>
                </a:lnTo>
                <a:lnTo>
                  <a:pt x="53594" y="12700"/>
                </a:lnTo>
                <a:lnTo>
                  <a:pt x="53594" y="1431290"/>
                </a:lnTo>
                <a:lnTo>
                  <a:pt x="0" y="1431290"/>
                </a:lnTo>
                <a:lnTo>
                  <a:pt x="0" y="1442720"/>
                </a:lnTo>
                <a:lnTo>
                  <a:pt x="82169" y="1442720"/>
                </a:lnTo>
                <a:lnTo>
                  <a:pt x="82169" y="1431290"/>
                </a:lnTo>
                <a:lnTo>
                  <a:pt x="82169" y="12700"/>
                </a:lnTo>
                <a:lnTo>
                  <a:pt x="82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534794" y="4473955"/>
            <a:ext cx="34163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ts val="2610"/>
              </a:lnSpc>
              <a:spcBef>
                <a:spcPts val="100"/>
              </a:spcBef>
            </a:pPr>
            <a:r>
              <a:rPr sz="2200" spc="-25" dirty="0">
                <a:latin typeface="Cambria Math"/>
                <a:cs typeface="Cambria Math"/>
              </a:rPr>
              <a:t>𝑥</a:t>
            </a:r>
            <a:r>
              <a:rPr sz="2400" spc="-37" baseline="-15625" dirty="0">
                <a:latin typeface="Cambria Math"/>
                <a:cs typeface="Cambria Math"/>
              </a:rPr>
              <a:t>1</a:t>
            </a:r>
            <a:endParaRPr sz="2400" baseline="-15625">
              <a:latin typeface="Cambria Math"/>
              <a:cs typeface="Cambria Math"/>
            </a:endParaRPr>
          </a:p>
          <a:p>
            <a:pPr marL="38100">
              <a:lnSpc>
                <a:spcPts val="2580"/>
              </a:lnSpc>
            </a:pPr>
            <a:r>
              <a:rPr sz="2200" spc="-25" dirty="0">
                <a:latin typeface="Cambria Math"/>
                <a:cs typeface="Cambria Math"/>
              </a:rPr>
              <a:t>𝑥</a:t>
            </a:r>
            <a:r>
              <a:rPr sz="2400" spc="-37" baseline="-15625" dirty="0">
                <a:latin typeface="Cambria Math"/>
                <a:cs typeface="Cambria Math"/>
              </a:rPr>
              <a:t>2</a:t>
            </a:r>
            <a:endParaRPr sz="2400" baseline="-15625">
              <a:latin typeface="Cambria Math"/>
              <a:cs typeface="Cambria Math"/>
            </a:endParaRPr>
          </a:p>
          <a:p>
            <a:pPr marL="38100">
              <a:lnSpc>
                <a:spcPts val="2580"/>
              </a:lnSpc>
            </a:pPr>
            <a:r>
              <a:rPr sz="2200" spc="-25" dirty="0">
                <a:latin typeface="Cambria Math"/>
                <a:cs typeface="Cambria Math"/>
              </a:rPr>
              <a:t>𝑥</a:t>
            </a:r>
            <a:r>
              <a:rPr sz="2400" spc="-37" baseline="-15625" dirty="0">
                <a:latin typeface="Cambria Math"/>
                <a:cs typeface="Cambria Math"/>
              </a:rPr>
              <a:t>3</a:t>
            </a:r>
            <a:endParaRPr sz="2400" baseline="-15625">
              <a:latin typeface="Cambria Math"/>
              <a:cs typeface="Cambria Math"/>
            </a:endParaRPr>
          </a:p>
          <a:p>
            <a:pPr marL="38100">
              <a:lnSpc>
                <a:spcPts val="2580"/>
              </a:lnSpc>
            </a:pPr>
            <a:r>
              <a:rPr sz="2200" spc="-25" dirty="0">
                <a:latin typeface="Cambria Math"/>
                <a:cs typeface="Cambria Math"/>
              </a:rPr>
              <a:t>𝑥</a:t>
            </a:r>
            <a:r>
              <a:rPr sz="2400" spc="-37" baseline="-15625" dirty="0">
                <a:latin typeface="Cambria Math"/>
                <a:cs typeface="Cambria Math"/>
              </a:rPr>
              <a:t>4</a:t>
            </a:r>
            <a:endParaRPr sz="2400" baseline="-15625">
              <a:latin typeface="Cambria Math"/>
              <a:cs typeface="Cambria Math"/>
            </a:endParaRPr>
          </a:p>
          <a:p>
            <a:pPr marL="38100">
              <a:lnSpc>
                <a:spcPts val="2610"/>
              </a:lnSpc>
            </a:pPr>
            <a:r>
              <a:rPr sz="2200" spc="-25" dirty="0">
                <a:latin typeface="Cambria Math"/>
                <a:cs typeface="Cambria Math"/>
              </a:rPr>
              <a:t>𝑥</a:t>
            </a:r>
            <a:r>
              <a:rPr sz="2400" spc="-37" baseline="-15625" dirty="0">
                <a:latin typeface="Cambria Math"/>
                <a:cs typeface="Cambria Math"/>
              </a:rPr>
              <a:t>5</a:t>
            </a:r>
            <a:endParaRPr sz="2400" baseline="-15625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97075" y="5172709"/>
            <a:ext cx="3378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i="1" spc="-50" dirty="0">
                <a:latin typeface="Calibri"/>
                <a:cs typeface="Calibri"/>
              </a:rPr>
              <a:t>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395855" y="4593589"/>
            <a:ext cx="82550" cy="1582420"/>
          </a:xfrm>
          <a:custGeom>
            <a:avLst/>
            <a:gdLst/>
            <a:ahLst/>
            <a:cxnLst/>
            <a:rect l="l" t="t" r="r" b="b"/>
            <a:pathLst>
              <a:path w="82550" h="1582420">
                <a:moveTo>
                  <a:pt x="82169" y="0"/>
                </a:moveTo>
                <a:lnTo>
                  <a:pt x="0" y="0"/>
                </a:lnTo>
                <a:lnTo>
                  <a:pt x="0" y="12700"/>
                </a:lnTo>
                <a:lnTo>
                  <a:pt x="0" y="1570990"/>
                </a:lnTo>
                <a:lnTo>
                  <a:pt x="0" y="1582420"/>
                </a:lnTo>
                <a:lnTo>
                  <a:pt x="82169" y="1582420"/>
                </a:lnTo>
                <a:lnTo>
                  <a:pt x="82169" y="1570990"/>
                </a:lnTo>
                <a:lnTo>
                  <a:pt x="28702" y="1570990"/>
                </a:lnTo>
                <a:lnTo>
                  <a:pt x="28702" y="12700"/>
                </a:lnTo>
                <a:lnTo>
                  <a:pt x="82169" y="12700"/>
                </a:lnTo>
                <a:lnTo>
                  <a:pt x="82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52547" y="4593589"/>
            <a:ext cx="82550" cy="1582420"/>
          </a:xfrm>
          <a:custGeom>
            <a:avLst/>
            <a:gdLst/>
            <a:ahLst/>
            <a:cxnLst/>
            <a:rect l="l" t="t" r="r" b="b"/>
            <a:pathLst>
              <a:path w="82550" h="1582420">
                <a:moveTo>
                  <a:pt x="82169" y="0"/>
                </a:moveTo>
                <a:lnTo>
                  <a:pt x="0" y="0"/>
                </a:lnTo>
                <a:lnTo>
                  <a:pt x="0" y="12700"/>
                </a:lnTo>
                <a:lnTo>
                  <a:pt x="53594" y="12700"/>
                </a:lnTo>
                <a:lnTo>
                  <a:pt x="53594" y="1570990"/>
                </a:lnTo>
                <a:lnTo>
                  <a:pt x="0" y="1570990"/>
                </a:lnTo>
                <a:lnTo>
                  <a:pt x="0" y="1582420"/>
                </a:lnTo>
                <a:lnTo>
                  <a:pt x="82169" y="1582420"/>
                </a:lnTo>
                <a:lnTo>
                  <a:pt x="82169" y="1570990"/>
                </a:lnTo>
                <a:lnTo>
                  <a:pt x="82169" y="12700"/>
                </a:lnTo>
                <a:lnTo>
                  <a:pt x="82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472054" y="4600955"/>
            <a:ext cx="38862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10"/>
              </a:lnSpc>
              <a:spcBef>
                <a:spcPts val="100"/>
              </a:spcBef>
            </a:pPr>
            <a:r>
              <a:rPr sz="2200" spc="-25" dirty="0">
                <a:latin typeface="Cambria Math"/>
                <a:cs typeface="Cambria Math"/>
              </a:rPr>
              <a:t>−1</a:t>
            </a:r>
            <a:endParaRPr sz="2200">
              <a:latin typeface="Cambria Math"/>
              <a:cs typeface="Cambria Math"/>
            </a:endParaRPr>
          </a:p>
          <a:p>
            <a:pPr marL="114300">
              <a:lnSpc>
                <a:spcPts val="2580"/>
              </a:lnSpc>
            </a:pPr>
            <a:r>
              <a:rPr sz="2200" spc="-50" dirty="0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  <a:p>
            <a:pPr marL="114300">
              <a:lnSpc>
                <a:spcPts val="2580"/>
              </a:lnSpc>
            </a:pPr>
            <a:r>
              <a:rPr sz="2200" spc="-50" dirty="0">
                <a:latin typeface="Cambria Math"/>
                <a:cs typeface="Cambria Math"/>
              </a:rPr>
              <a:t>0</a:t>
            </a:r>
            <a:endParaRPr sz="2200">
              <a:latin typeface="Cambria Math"/>
              <a:cs typeface="Cambria Math"/>
            </a:endParaRPr>
          </a:p>
          <a:p>
            <a:pPr marL="114300">
              <a:lnSpc>
                <a:spcPts val="2580"/>
              </a:lnSpc>
            </a:pPr>
            <a:r>
              <a:rPr sz="2200" spc="-50" dirty="0">
                <a:latin typeface="Cambria Math"/>
                <a:cs typeface="Cambria Math"/>
              </a:rPr>
              <a:t>0</a:t>
            </a:r>
            <a:endParaRPr sz="2200">
              <a:latin typeface="Cambria Math"/>
              <a:cs typeface="Cambria Math"/>
            </a:endParaRPr>
          </a:p>
          <a:p>
            <a:pPr marL="114300">
              <a:lnSpc>
                <a:spcPts val="2610"/>
              </a:lnSpc>
            </a:pPr>
            <a:r>
              <a:rPr sz="2200" spc="-50" dirty="0">
                <a:latin typeface="Cambria Math"/>
                <a:cs typeface="Cambria Math"/>
              </a:rPr>
              <a:t>0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439795" y="4593589"/>
            <a:ext cx="82550" cy="1579880"/>
          </a:xfrm>
          <a:custGeom>
            <a:avLst/>
            <a:gdLst/>
            <a:ahLst/>
            <a:cxnLst/>
            <a:rect l="l" t="t" r="r" b="b"/>
            <a:pathLst>
              <a:path w="82550" h="1579879">
                <a:moveTo>
                  <a:pt x="82169" y="0"/>
                </a:moveTo>
                <a:lnTo>
                  <a:pt x="0" y="0"/>
                </a:lnTo>
                <a:lnTo>
                  <a:pt x="0" y="12700"/>
                </a:lnTo>
                <a:lnTo>
                  <a:pt x="0" y="1568450"/>
                </a:lnTo>
                <a:lnTo>
                  <a:pt x="0" y="1579880"/>
                </a:lnTo>
                <a:lnTo>
                  <a:pt x="82169" y="1579880"/>
                </a:lnTo>
                <a:lnTo>
                  <a:pt x="82169" y="1568450"/>
                </a:lnTo>
                <a:lnTo>
                  <a:pt x="28702" y="1568450"/>
                </a:lnTo>
                <a:lnTo>
                  <a:pt x="28702" y="12700"/>
                </a:lnTo>
                <a:lnTo>
                  <a:pt x="82169" y="12700"/>
                </a:lnTo>
                <a:lnTo>
                  <a:pt x="82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896487" y="4593589"/>
            <a:ext cx="82550" cy="1579880"/>
          </a:xfrm>
          <a:custGeom>
            <a:avLst/>
            <a:gdLst/>
            <a:ahLst/>
            <a:cxnLst/>
            <a:rect l="l" t="t" r="r" b="b"/>
            <a:pathLst>
              <a:path w="82550" h="1579879">
                <a:moveTo>
                  <a:pt x="82169" y="0"/>
                </a:moveTo>
                <a:lnTo>
                  <a:pt x="0" y="0"/>
                </a:lnTo>
                <a:lnTo>
                  <a:pt x="0" y="12700"/>
                </a:lnTo>
                <a:lnTo>
                  <a:pt x="53594" y="12700"/>
                </a:lnTo>
                <a:lnTo>
                  <a:pt x="53594" y="1568450"/>
                </a:lnTo>
                <a:lnTo>
                  <a:pt x="0" y="1568450"/>
                </a:lnTo>
                <a:lnTo>
                  <a:pt x="0" y="1579880"/>
                </a:lnTo>
                <a:lnTo>
                  <a:pt x="82169" y="1579880"/>
                </a:lnTo>
                <a:lnTo>
                  <a:pt x="82169" y="1568450"/>
                </a:lnTo>
                <a:lnTo>
                  <a:pt x="82169" y="12700"/>
                </a:lnTo>
                <a:lnTo>
                  <a:pt x="82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516376" y="4600955"/>
            <a:ext cx="3886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 dirty="0">
                <a:latin typeface="Cambria Math"/>
                <a:cs typeface="Cambria Math"/>
              </a:rPr>
              <a:t>−1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20515" y="4928171"/>
            <a:ext cx="1803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latin typeface="Cambria Math"/>
                <a:cs typeface="Cambria Math"/>
              </a:rPr>
              <a:t>0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33776" y="5172709"/>
            <a:ext cx="89661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94665" algn="l"/>
              </a:tabLst>
            </a:pPr>
            <a:r>
              <a:rPr sz="2200" dirty="0">
                <a:latin typeface="Calibri"/>
                <a:cs typeface="Calibri"/>
              </a:rPr>
              <a:t>+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i="1" spc="-50" dirty="0">
                <a:latin typeface="Calibri"/>
                <a:cs typeface="Calibri"/>
              </a:rPr>
              <a:t>t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3300" spc="-37" baseline="-16414" dirty="0">
                <a:latin typeface="Cambria Math"/>
                <a:cs typeface="Cambria Math"/>
              </a:rPr>
              <a:t>−1</a:t>
            </a:r>
            <a:endParaRPr sz="3300" baseline="-16414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20515" y="5584190"/>
            <a:ext cx="180340" cy="688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10"/>
              </a:lnSpc>
              <a:spcBef>
                <a:spcPts val="100"/>
              </a:spcBef>
            </a:pPr>
            <a:r>
              <a:rPr sz="2200" spc="-50" dirty="0">
                <a:latin typeface="Cambria Math"/>
                <a:cs typeface="Cambria Math"/>
              </a:rPr>
              <a:t>0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610"/>
              </a:lnSpc>
            </a:pPr>
            <a:r>
              <a:rPr sz="2200" spc="-50" dirty="0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73065" y="4825365"/>
            <a:ext cx="416432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atau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dinyatakan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sebagai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x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s</a:t>
            </a:r>
            <a:r>
              <a:rPr sz="2200" b="1" dirty="0">
                <a:latin typeface="Calibri"/>
                <a:cs typeface="Calibri"/>
              </a:rPr>
              <a:t>v</a:t>
            </a:r>
            <a:r>
              <a:rPr sz="2175" b="1" baseline="-21072" dirty="0">
                <a:latin typeface="Calibri"/>
                <a:cs typeface="Calibri"/>
              </a:rPr>
              <a:t>1</a:t>
            </a:r>
            <a:r>
              <a:rPr sz="2175" b="1" spc="195" baseline="-2107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+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i="1" spc="-25" dirty="0">
                <a:latin typeface="Calibri"/>
                <a:cs typeface="Calibri"/>
              </a:rPr>
              <a:t>t</a:t>
            </a:r>
            <a:r>
              <a:rPr sz="2200" b="1" spc="-25" dirty="0">
                <a:latin typeface="Calibri"/>
                <a:cs typeface="Calibri"/>
              </a:rPr>
              <a:t>v</a:t>
            </a:r>
            <a:r>
              <a:rPr sz="2175" b="1" spc="-37" baseline="-21072" dirty="0">
                <a:latin typeface="Calibri"/>
                <a:cs typeface="Calibri"/>
              </a:rPr>
              <a:t>2</a:t>
            </a:r>
            <a:endParaRPr sz="2175" baseline="-21072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69509" y="5371147"/>
            <a:ext cx="70250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yang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dalam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ini,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</a:t>
            </a:r>
            <a:r>
              <a:rPr sz="2175" b="1" baseline="-21072" dirty="0">
                <a:latin typeface="Calibri"/>
                <a:cs typeface="Calibri"/>
              </a:rPr>
              <a:t>1</a:t>
            </a:r>
            <a:r>
              <a:rPr sz="2175" b="1" spc="232" baseline="-2107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(–1,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0)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</a:t>
            </a:r>
            <a:r>
              <a:rPr sz="2175" b="1" baseline="-21072" dirty="0">
                <a:latin typeface="Calibri"/>
                <a:cs typeface="Calibri"/>
              </a:rPr>
              <a:t>2</a:t>
            </a:r>
            <a:r>
              <a:rPr sz="2175" b="1" spc="240" baseline="-2107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(–1,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–1,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1)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117340" y="4904740"/>
            <a:ext cx="695960" cy="241300"/>
            <a:chOff x="4117340" y="4904740"/>
            <a:chExt cx="695960" cy="241300"/>
          </a:xfrm>
        </p:grpSpPr>
        <p:sp>
          <p:nvSpPr>
            <p:cNvPr id="40" name="object 40"/>
            <p:cNvSpPr/>
            <p:nvPr/>
          </p:nvSpPr>
          <p:spPr>
            <a:xfrm>
              <a:off x="4123690" y="4911090"/>
              <a:ext cx="683260" cy="228600"/>
            </a:xfrm>
            <a:custGeom>
              <a:avLst/>
              <a:gdLst/>
              <a:ahLst/>
              <a:cxnLst/>
              <a:rect l="l" t="t" r="r" b="b"/>
              <a:pathLst>
                <a:path w="683260" h="228600">
                  <a:moveTo>
                    <a:pt x="568960" y="0"/>
                  </a:moveTo>
                  <a:lnTo>
                    <a:pt x="568960" y="57150"/>
                  </a:lnTo>
                  <a:lnTo>
                    <a:pt x="0" y="57150"/>
                  </a:lnTo>
                  <a:lnTo>
                    <a:pt x="0" y="171450"/>
                  </a:lnTo>
                  <a:lnTo>
                    <a:pt x="568960" y="171450"/>
                  </a:lnTo>
                  <a:lnTo>
                    <a:pt x="568960" y="228600"/>
                  </a:lnTo>
                  <a:lnTo>
                    <a:pt x="683260" y="114300"/>
                  </a:lnTo>
                  <a:lnTo>
                    <a:pt x="5689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23690" y="4911090"/>
              <a:ext cx="683260" cy="228600"/>
            </a:xfrm>
            <a:custGeom>
              <a:avLst/>
              <a:gdLst/>
              <a:ahLst/>
              <a:cxnLst/>
              <a:rect l="l" t="t" r="r" b="b"/>
              <a:pathLst>
                <a:path w="683260" h="228600">
                  <a:moveTo>
                    <a:pt x="0" y="57150"/>
                  </a:moveTo>
                  <a:lnTo>
                    <a:pt x="568960" y="57150"/>
                  </a:lnTo>
                  <a:lnTo>
                    <a:pt x="568960" y="0"/>
                  </a:lnTo>
                  <a:lnTo>
                    <a:pt x="683260" y="114300"/>
                  </a:lnTo>
                  <a:lnTo>
                    <a:pt x="568960" y="228600"/>
                  </a:lnTo>
                  <a:lnTo>
                    <a:pt x="568960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246245" y="5942965"/>
            <a:ext cx="698880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Ruang</a:t>
            </a:r>
            <a:r>
              <a:rPr sz="2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solusi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yang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dibentuk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oleh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175" b="1" baseline="-21072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175" b="1" spc="232" baseline="-2107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dan</a:t>
            </a:r>
            <a:r>
              <a:rPr sz="2200" spc="4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175" b="1" baseline="-21072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175" b="1" spc="232" baseline="-2107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disebut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ruang 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null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57" y="698436"/>
            <a:ext cx="9963150" cy="10502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90"/>
              </a:spcBef>
            </a:pPr>
            <a:r>
              <a:rPr sz="2400" b="1" spc="-25" dirty="0">
                <a:latin typeface="Calibri"/>
                <a:cs typeface="Calibri"/>
              </a:rPr>
              <a:t>Teorema</a:t>
            </a:r>
            <a:r>
              <a:rPr sz="2400" spc="-25" dirty="0">
                <a:latin typeface="Calibri"/>
                <a:cs typeface="Calibri"/>
              </a:rPr>
              <a:t>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Sebuah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disebut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konsisten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jika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hanya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jika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adalah </a:t>
            </a:r>
            <a:r>
              <a:rPr sz="2400" dirty="0">
                <a:latin typeface="Calibri"/>
                <a:cs typeface="Calibri"/>
              </a:rPr>
              <a:t>kombinasi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linier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dari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vektor-</a:t>
            </a:r>
            <a:r>
              <a:rPr sz="2400" dirty="0">
                <a:latin typeface="Calibri"/>
                <a:cs typeface="Calibri"/>
              </a:rPr>
              <a:t>vektor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kolom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matriks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dengan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lain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berada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di </a:t>
            </a:r>
            <a:r>
              <a:rPr sz="2400" dirty="0">
                <a:latin typeface="Calibri"/>
                <a:cs typeface="Calibri"/>
              </a:rPr>
              <a:t>dalam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kolom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matriks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857" y="2166493"/>
            <a:ext cx="4008120" cy="169418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  <a:tabLst>
                <a:tab pos="1394460" algn="l"/>
              </a:tabLst>
            </a:pPr>
            <a:r>
              <a:rPr sz="2400" b="1" dirty="0">
                <a:latin typeface="Calibri"/>
                <a:cs typeface="Calibri"/>
              </a:rPr>
              <a:t>Contoh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3</a:t>
            </a:r>
            <a:r>
              <a:rPr sz="2400" spc="-25" dirty="0">
                <a:latin typeface="Calibri"/>
                <a:cs typeface="Calibri"/>
              </a:rPr>
              <a:t>:</a:t>
            </a:r>
            <a:r>
              <a:rPr sz="2400" dirty="0">
                <a:latin typeface="Calibri"/>
                <a:cs typeface="Calibri"/>
              </a:rPr>
              <a:t>	Tinjau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berikut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ini</a:t>
            </a:r>
            <a:endParaRPr sz="2400">
              <a:latin typeface="Calibri"/>
              <a:cs typeface="Calibri"/>
            </a:endParaRPr>
          </a:p>
          <a:p>
            <a:pPr marL="1432560" marR="311150" indent="-69215">
              <a:lnSpc>
                <a:spcPct val="100000"/>
              </a:lnSpc>
              <a:spcBef>
                <a:spcPts val="810"/>
              </a:spcBef>
              <a:tabLst>
                <a:tab pos="2179320" algn="l"/>
              </a:tabLst>
            </a:pPr>
            <a:r>
              <a:rPr sz="2400" dirty="0">
                <a:latin typeface="Calibri"/>
                <a:cs typeface="Calibri"/>
              </a:rPr>
              <a:t>–x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3x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2x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1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2x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4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3x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–9 </a:t>
            </a:r>
            <a:r>
              <a:rPr sz="2400" dirty="0">
                <a:latin typeface="Calibri"/>
                <a:cs typeface="Calibri"/>
              </a:rPr>
              <a:t>2x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+</a:t>
            </a:r>
            <a:r>
              <a:rPr sz="2400" dirty="0">
                <a:latin typeface="Calibri"/>
                <a:cs typeface="Calibri"/>
              </a:rPr>
              <a:t>	x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2x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–3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857" y="4096004"/>
            <a:ext cx="9897110" cy="7194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 marR="30480">
              <a:lnSpc>
                <a:spcPts val="2580"/>
              </a:lnSpc>
              <a:spcBef>
                <a:spcPts val="434"/>
              </a:spcBef>
            </a:pPr>
            <a:r>
              <a:rPr sz="2400" spc="-10" dirty="0">
                <a:latin typeface="Calibri"/>
                <a:cs typeface="Calibri"/>
              </a:rPr>
              <a:t>Solusinya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dengan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metode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eliminasi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Gauss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adalah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spc="20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–1,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Solusi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ini </a:t>
            </a:r>
            <a:r>
              <a:rPr sz="2400" dirty="0">
                <a:latin typeface="Calibri"/>
                <a:cs typeface="Calibri"/>
              </a:rPr>
              <a:t>dapat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dinyatakan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sebagai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8714" y="5152707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10611" y="4930139"/>
            <a:ext cx="81280" cy="902969"/>
          </a:xfrm>
          <a:custGeom>
            <a:avLst/>
            <a:gdLst/>
            <a:ahLst/>
            <a:cxnLst/>
            <a:rect l="l" t="t" r="r" b="b"/>
            <a:pathLst>
              <a:path w="81280" h="902970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50292" y="13970"/>
                </a:lnTo>
                <a:lnTo>
                  <a:pt x="50292" y="889000"/>
                </a:lnTo>
                <a:lnTo>
                  <a:pt x="0" y="889000"/>
                </a:lnTo>
                <a:lnTo>
                  <a:pt x="0" y="902970"/>
                </a:lnTo>
                <a:lnTo>
                  <a:pt x="80899" y="902970"/>
                </a:lnTo>
                <a:lnTo>
                  <a:pt x="80899" y="88900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19629" y="4930139"/>
            <a:ext cx="81280" cy="902969"/>
          </a:xfrm>
          <a:custGeom>
            <a:avLst/>
            <a:gdLst/>
            <a:ahLst/>
            <a:cxnLst/>
            <a:rect l="l" t="t" r="r" b="b"/>
            <a:pathLst>
              <a:path w="81280" h="902970">
                <a:moveTo>
                  <a:pt x="81026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2970"/>
                </a:lnTo>
                <a:lnTo>
                  <a:pt x="81026" y="902970"/>
                </a:lnTo>
                <a:lnTo>
                  <a:pt x="81026" y="889000"/>
                </a:lnTo>
                <a:lnTo>
                  <a:pt x="30734" y="889000"/>
                </a:lnTo>
                <a:lnTo>
                  <a:pt x="30734" y="13970"/>
                </a:lnTo>
                <a:lnTo>
                  <a:pt x="81026" y="1397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95575" y="4812665"/>
            <a:ext cx="422909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−1</a:t>
            </a:r>
            <a:endParaRPr sz="2400">
              <a:latin typeface="Cambria Math"/>
              <a:cs typeface="Cambria Math"/>
            </a:endParaRPr>
          </a:p>
          <a:p>
            <a:pPr marL="12446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4460">
              <a:lnSpc>
                <a:spcPts val="2850"/>
              </a:lnSpc>
            </a:pPr>
            <a:r>
              <a:rPr sz="2400" spc="-50" dirty="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77691" y="4930139"/>
            <a:ext cx="81280" cy="902969"/>
          </a:xfrm>
          <a:custGeom>
            <a:avLst/>
            <a:gdLst/>
            <a:ahLst/>
            <a:cxnLst/>
            <a:rect l="l" t="t" r="r" b="b"/>
            <a:pathLst>
              <a:path w="81279" h="902970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50292" y="13970"/>
                </a:lnTo>
                <a:lnTo>
                  <a:pt x="50292" y="889000"/>
                </a:lnTo>
                <a:lnTo>
                  <a:pt x="0" y="889000"/>
                </a:lnTo>
                <a:lnTo>
                  <a:pt x="0" y="902970"/>
                </a:lnTo>
                <a:lnTo>
                  <a:pt x="80899" y="902970"/>
                </a:lnTo>
                <a:lnTo>
                  <a:pt x="80899" y="88900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15309" y="4930139"/>
            <a:ext cx="81280" cy="902969"/>
          </a:xfrm>
          <a:custGeom>
            <a:avLst/>
            <a:gdLst/>
            <a:ahLst/>
            <a:cxnLst/>
            <a:rect l="l" t="t" r="r" b="b"/>
            <a:pathLst>
              <a:path w="81279" h="902970">
                <a:moveTo>
                  <a:pt x="81026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2970"/>
                </a:lnTo>
                <a:lnTo>
                  <a:pt x="81026" y="902970"/>
                </a:lnTo>
                <a:lnTo>
                  <a:pt x="81026" y="889000"/>
                </a:lnTo>
                <a:lnTo>
                  <a:pt x="30734" y="889000"/>
                </a:lnTo>
                <a:lnTo>
                  <a:pt x="30734" y="13970"/>
                </a:lnTo>
                <a:lnTo>
                  <a:pt x="81026" y="1397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279775" y="4812665"/>
            <a:ext cx="1168400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3510" algn="ctr">
              <a:lnSpc>
                <a:spcPts val="278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3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780"/>
              </a:lnSpc>
              <a:tabLst>
                <a:tab pos="423545" algn="l"/>
                <a:tab pos="779780" algn="l"/>
              </a:tabLst>
            </a:pPr>
            <a:r>
              <a:rPr sz="2400" spc="-50" dirty="0">
                <a:latin typeface="Calibri"/>
                <a:cs typeface="Calibri"/>
              </a:rPr>
              <a:t>–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3600" spc="-75" baseline="-2314" dirty="0">
                <a:latin typeface="Cambria Math"/>
                <a:cs typeface="Cambria Math"/>
              </a:rPr>
              <a:t>2</a:t>
            </a:r>
            <a:r>
              <a:rPr sz="3600" baseline="-2314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R="143510" algn="ctr">
              <a:lnSpc>
                <a:spcPct val="100000"/>
              </a:lnSpc>
              <a:spcBef>
                <a:spcPts val="6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28311" y="4930139"/>
            <a:ext cx="81280" cy="902969"/>
          </a:xfrm>
          <a:custGeom>
            <a:avLst/>
            <a:gdLst/>
            <a:ahLst/>
            <a:cxnLst/>
            <a:rect l="l" t="t" r="r" b="b"/>
            <a:pathLst>
              <a:path w="81279" h="902970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50292" y="13970"/>
                </a:lnTo>
                <a:lnTo>
                  <a:pt x="50292" y="889000"/>
                </a:lnTo>
                <a:lnTo>
                  <a:pt x="0" y="889000"/>
                </a:lnTo>
                <a:lnTo>
                  <a:pt x="0" y="902970"/>
                </a:lnTo>
                <a:lnTo>
                  <a:pt x="80899" y="902970"/>
                </a:lnTo>
                <a:lnTo>
                  <a:pt x="80899" y="88900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37329" y="4930139"/>
            <a:ext cx="81280" cy="902969"/>
          </a:xfrm>
          <a:custGeom>
            <a:avLst/>
            <a:gdLst/>
            <a:ahLst/>
            <a:cxnLst/>
            <a:rect l="l" t="t" r="r" b="b"/>
            <a:pathLst>
              <a:path w="81279" h="902970">
                <a:moveTo>
                  <a:pt x="81026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2970"/>
                </a:lnTo>
                <a:lnTo>
                  <a:pt x="81026" y="902970"/>
                </a:lnTo>
                <a:lnTo>
                  <a:pt x="81026" y="889000"/>
                </a:lnTo>
                <a:lnTo>
                  <a:pt x="30734" y="889000"/>
                </a:lnTo>
                <a:lnTo>
                  <a:pt x="30734" y="13970"/>
                </a:lnTo>
                <a:lnTo>
                  <a:pt x="81026" y="1397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97855" y="5152707"/>
            <a:ext cx="1778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55411" y="4930139"/>
            <a:ext cx="81280" cy="902969"/>
          </a:xfrm>
          <a:custGeom>
            <a:avLst/>
            <a:gdLst/>
            <a:ahLst/>
            <a:cxnLst/>
            <a:rect l="l" t="t" r="r" b="b"/>
            <a:pathLst>
              <a:path w="81279" h="902970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50292" y="13970"/>
                </a:lnTo>
                <a:lnTo>
                  <a:pt x="50292" y="889000"/>
                </a:lnTo>
                <a:lnTo>
                  <a:pt x="0" y="889000"/>
                </a:lnTo>
                <a:lnTo>
                  <a:pt x="0" y="902970"/>
                </a:lnTo>
                <a:lnTo>
                  <a:pt x="80899" y="902970"/>
                </a:lnTo>
                <a:lnTo>
                  <a:pt x="80899" y="88900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64429" y="4930139"/>
            <a:ext cx="81280" cy="902969"/>
          </a:xfrm>
          <a:custGeom>
            <a:avLst/>
            <a:gdLst/>
            <a:ahLst/>
            <a:cxnLst/>
            <a:rect l="l" t="t" r="r" b="b"/>
            <a:pathLst>
              <a:path w="81279" h="902970">
                <a:moveTo>
                  <a:pt x="81026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2970"/>
                </a:lnTo>
                <a:lnTo>
                  <a:pt x="81026" y="902970"/>
                </a:lnTo>
                <a:lnTo>
                  <a:pt x="81026" y="889000"/>
                </a:lnTo>
                <a:lnTo>
                  <a:pt x="30734" y="889000"/>
                </a:lnTo>
                <a:lnTo>
                  <a:pt x="30734" y="13970"/>
                </a:lnTo>
                <a:lnTo>
                  <a:pt x="81026" y="1397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613528" y="4812665"/>
            <a:ext cx="1350645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ts val="2840"/>
              </a:lnSpc>
              <a:spcBef>
                <a:spcPts val="100"/>
              </a:spcBef>
              <a:tabLst>
                <a:tab pos="1051560" algn="l"/>
              </a:tabLst>
            </a:pPr>
            <a:r>
              <a:rPr sz="2400" spc="-50" dirty="0">
                <a:latin typeface="Cambria Math"/>
                <a:cs typeface="Cambria Math"/>
              </a:rPr>
              <a:t>2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0"/>
              </a:lnSpc>
              <a:tabLst>
                <a:tab pos="939800" algn="l"/>
              </a:tabLst>
            </a:pPr>
            <a:r>
              <a:rPr sz="2400" spc="-25" dirty="0">
                <a:latin typeface="Cambria Math"/>
                <a:cs typeface="Cambria Math"/>
              </a:rPr>
              <a:t>−3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−9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50"/>
              </a:lnSpc>
              <a:tabLst>
                <a:tab pos="939800" algn="l"/>
              </a:tabLst>
            </a:pPr>
            <a:r>
              <a:rPr sz="2400" spc="-25" dirty="0">
                <a:latin typeface="Cambria Math"/>
                <a:cs typeface="Cambria Math"/>
              </a:rPr>
              <a:t>−2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−3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25209" y="5152707"/>
            <a:ext cx="4076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067294" y="2875279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0899" y="0"/>
                </a:moveTo>
                <a:lnTo>
                  <a:pt x="0" y="0"/>
                </a:lnTo>
                <a:lnTo>
                  <a:pt x="0" y="15240"/>
                </a:lnTo>
                <a:lnTo>
                  <a:pt x="50292" y="15240"/>
                </a:lnTo>
                <a:lnTo>
                  <a:pt x="50292" y="890270"/>
                </a:lnTo>
                <a:lnTo>
                  <a:pt x="0" y="89027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90270"/>
                </a:lnTo>
                <a:lnTo>
                  <a:pt x="80899" y="1524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02832" y="2875279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1026" y="0"/>
                </a:moveTo>
                <a:lnTo>
                  <a:pt x="0" y="0"/>
                </a:lnTo>
                <a:lnTo>
                  <a:pt x="0" y="15240"/>
                </a:lnTo>
                <a:lnTo>
                  <a:pt x="0" y="890270"/>
                </a:lnTo>
                <a:lnTo>
                  <a:pt x="0" y="904240"/>
                </a:lnTo>
                <a:lnTo>
                  <a:pt x="81026" y="904240"/>
                </a:lnTo>
                <a:lnTo>
                  <a:pt x="81026" y="890270"/>
                </a:lnTo>
                <a:lnTo>
                  <a:pt x="30734" y="890270"/>
                </a:lnTo>
                <a:lnTo>
                  <a:pt x="30734" y="15240"/>
                </a:lnTo>
                <a:lnTo>
                  <a:pt x="81026" y="1524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479540" y="2757804"/>
            <a:ext cx="1597025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  <a:tabLst>
                <a:tab pos="713105" algn="l"/>
                <a:tab pos="1297940" algn="l"/>
              </a:tabLst>
            </a:pPr>
            <a:r>
              <a:rPr sz="2400" spc="-25" dirty="0">
                <a:latin typeface="Cambria Math"/>
                <a:cs typeface="Cambria Math"/>
              </a:rPr>
              <a:t>−1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3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10"/>
              </a:lnSpc>
              <a:tabLst>
                <a:tab pos="713105" algn="l"/>
                <a:tab pos="1186180" algn="l"/>
              </a:tabLst>
            </a:pPr>
            <a:r>
              <a:rPr sz="2400" spc="-50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2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−3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50"/>
              </a:lnSpc>
              <a:tabLst>
                <a:tab pos="713105" algn="l"/>
                <a:tab pos="1186180" algn="l"/>
              </a:tabLst>
            </a:pPr>
            <a:r>
              <a:rPr sz="2400" spc="-50" dirty="0">
                <a:latin typeface="Cambria Math"/>
                <a:cs typeface="Cambria Math"/>
              </a:rPr>
              <a:t>2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679434" y="2875279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0899" y="0"/>
                </a:moveTo>
                <a:lnTo>
                  <a:pt x="0" y="0"/>
                </a:lnTo>
                <a:lnTo>
                  <a:pt x="0" y="15240"/>
                </a:lnTo>
                <a:lnTo>
                  <a:pt x="50292" y="15240"/>
                </a:lnTo>
                <a:lnTo>
                  <a:pt x="50292" y="890270"/>
                </a:lnTo>
                <a:lnTo>
                  <a:pt x="0" y="89027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90270"/>
                </a:lnTo>
                <a:lnTo>
                  <a:pt x="80899" y="1524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282432" y="2875279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1026" y="0"/>
                </a:moveTo>
                <a:lnTo>
                  <a:pt x="0" y="0"/>
                </a:lnTo>
                <a:lnTo>
                  <a:pt x="0" y="15240"/>
                </a:lnTo>
                <a:lnTo>
                  <a:pt x="0" y="890270"/>
                </a:lnTo>
                <a:lnTo>
                  <a:pt x="0" y="904240"/>
                </a:lnTo>
                <a:lnTo>
                  <a:pt x="81026" y="904240"/>
                </a:lnTo>
                <a:lnTo>
                  <a:pt x="81026" y="890270"/>
                </a:lnTo>
                <a:lnTo>
                  <a:pt x="30734" y="890270"/>
                </a:lnTo>
                <a:lnTo>
                  <a:pt x="30734" y="15240"/>
                </a:lnTo>
                <a:lnTo>
                  <a:pt x="81026" y="1524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333993" y="2694304"/>
            <a:ext cx="366395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ts val="285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4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49741" y="3097847"/>
            <a:ext cx="1778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606534" y="2875279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0899" y="0"/>
                </a:moveTo>
                <a:lnTo>
                  <a:pt x="0" y="0"/>
                </a:lnTo>
                <a:lnTo>
                  <a:pt x="0" y="15240"/>
                </a:lnTo>
                <a:lnTo>
                  <a:pt x="50292" y="15240"/>
                </a:lnTo>
                <a:lnTo>
                  <a:pt x="50292" y="890270"/>
                </a:lnTo>
                <a:lnTo>
                  <a:pt x="0" y="89027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90270"/>
                </a:lnTo>
                <a:lnTo>
                  <a:pt x="80899" y="1524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115552" y="2875279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1026" y="0"/>
                </a:moveTo>
                <a:lnTo>
                  <a:pt x="0" y="0"/>
                </a:lnTo>
                <a:lnTo>
                  <a:pt x="0" y="15240"/>
                </a:lnTo>
                <a:lnTo>
                  <a:pt x="0" y="890270"/>
                </a:lnTo>
                <a:lnTo>
                  <a:pt x="0" y="904240"/>
                </a:lnTo>
                <a:lnTo>
                  <a:pt x="81026" y="904240"/>
                </a:lnTo>
                <a:lnTo>
                  <a:pt x="81026" y="890270"/>
                </a:lnTo>
                <a:lnTo>
                  <a:pt x="30734" y="890270"/>
                </a:lnTo>
                <a:lnTo>
                  <a:pt x="30734" y="15240"/>
                </a:lnTo>
                <a:lnTo>
                  <a:pt x="81026" y="1524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192894" y="2755265"/>
            <a:ext cx="423545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>
              <a:lnSpc>
                <a:spcPts val="285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−9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40"/>
              </a:lnSpc>
            </a:pPr>
            <a:r>
              <a:rPr sz="2400" spc="-25" dirty="0">
                <a:latin typeface="Cambria Math"/>
                <a:cs typeface="Cambria Math"/>
              </a:rPr>
              <a:t>−3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960620" y="3195320"/>
            <a:ext cx="1323340" cy="378460"/>
            <a:chOff x="4960620" y="3195320"/>
            <a:chExt cx="1323340" cy="378460"/>
          </a:xfrm>
        </p:grpSpPr>
        <p:sp>
          <p:nvSpPr>
            <p:cNvPr id="30" name="object 30"/>
            <p:cNvSpPr/>
            <p:nvPr/>
          </p:nvSpPr>
          <p:spPr>
            <a:xfrm>
              <a:off x="4966970" y="3201670"/>
              <a:ext cx="1310640" cy="365760"/>
            </a:xfrm>
            <a:custGeom>
              <a:avLst/>
              <a:gdLst/>
              <a:ahLst/>
              <a:cxnLst/>
              <a:rect l="l" t="t" r="r" b="b"/>
              <a:pathLst>
                <a:path w="1310639" h="365760">
                  <a:moveTo>
                    <a:pt x="1127759" y="0"/>
                  </a:moveTo>
                  <a:lnTo>
                    <a:pt x="1127759" y="91439"/>
                  </a:lnTo>
                  <a:lnTo>
                    <a:pt x="0" y="91439"/>
                  </a:lnTo>
                  <a:lnTo>
                    <a:pt x="0" y="274319"/>
                  </a:lnTo>
                  <a:lnTo>
                    <a:pt x="1127759" y="274319"/>
                  </a:lnTo>
                  <a:lnTo>
                    <a:pt x="1127759" y="365759"/>
                  </a:lnTo>
                  <a:lnTo>
                    <a:pt x="1310639" y="182879"/>
                  </a:lnTo>
                  <a:lnTo>
                    <a:pt x="112775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66970" y="3201670"/>
              <a:ext cx="1310640" cy="365760"/>
            </a:xfrm>
            <a:custGeom>
              <a:avLst/>
              <a:gdLst/>
              <a:ahLst/>
              <a:cxnLst/>
              <a:rect l="l" t="t" r="r" b="b"/>
              <a:pathLst>
                <a:path w="1310639" h="365760">
                  <a:moveTo>
                    <a:pt x="0" y="91439"/>
                  </a:moveTo>
                  <a:lnTo>
                    <a:pt x="1127759" y="91439"/>
                  </a:lnTo>
                  <a:lnTo>
                    <a:pt x="1127759" y="0"/>
                  </a:lnTo>
                  <a:lnTo>
                    <a:pt x="1310639" y="182879"/>
                  </a:lnTo>
                  <a:lnTo>
                    <a:pt x="1127759" y="365759"/>
                  </a:lnTo>
                  <a:lnTo>
                    <a:pt x="1127759" y="274319"/>
                  </a:lnTo>
                  <a:lnTo>
                    <a:pt x="0" y="274319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04900" y="6094095"/>
            <a:ext cx="86601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Jadi,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merupakan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kombinasi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linier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dari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vektor-</a:t>
            </a:r>
            <a:r>
              <a:rPr sz="2400" dirty="0">
                <a:latin typeface="Calibri"/>
                <a:cs typeface="Calibri"/>
              </a:rPr>
              <a:t>vektor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kolom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spc="-50" dirty="0"/>
              <a:pPr marL="114300">
                <a:lnSpc>
                  <a:spcPts val="1240"/>
                </a:lnSpc>
              </a:pPr>
              <a:t>9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57" y="310515"/>
            <a:ext cx="9466580" cy="129857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40"/>
              </a:lnSpc>
              <a:spcBef>
                <a:spcPts val="705"/>
              </a:spcBef>
            </a:pPr>
            <a:r>
              <a:rPr sz="4400" dirty="0">
                <a:latin typeface="Calibri Light"/>
                <a:cs typeface="Calibri Light"/>
              </a:rPr>
              <a:t>Basis</a:t>
            </a:r>
            <a:r>
              <a:rPr sz="4400" spc="-229" dirty="0">
                <a:latin typeface="Calibri Light"/>
                <a:cs typeface="Calibri Light"/>
              </a:rPr>
              <a:t> </a:t>
            </a:r>
            <a:r>
              <a:rPr sz="4400" spc="-25" dirty="0">
                <a:latin typeface="Calibri Light"/>
                <a:cs typeface="Calibri Light"/>
              </a:rPr>
              <a:t>untuk</a:t>
            </a:r>
            <a:r>
              <a:rPr sz="4400" spc="-220" dirty="0">
                <a:latin typeface="Calibri Light"/>
                <a:cs typeface="Calibri Light"/>
              </a:rPr>
              <a:t> </a:t>
            </a:r>
            <a:r>
              <a:rPr sz="4400" spc="-20" dirty="0">
                <a:latin typeface="Calibri Light"/>
                <a:cs typeface="Calibri Light"/>
              </a:rPr>
              <a:t>Ruang</a:t>
            </a:r>
            <a:r>
              <a:rPr sz="4400" spc="-225" dirty="0">
                <a:latin typeface="Calibri Light"/>
                <a:cs typeface="Calibri Light"/>
              </a:rPr>
              <a:t> </a:t>
            </a:r>
            <a:r>
              <a:rPr sz="4400" dirty="0">
                <a:latin typeface="Calibri Light"/>
                <a:cs typeface="Calibri Light"/>
              </a:rPr>
              <a:t>Baris,</a:t>
            </a:r>
            <a:r>
              <a:rPr sz="4400" spc="-200" dirty="0">
                <a:latin typeface="Calibri Light"/>
                <a:cs typeface="Calibri Light"/>
              </a:rPr>
              <a:t> </a:t>
            </a:r>
            <a:r>
              <a:rPr sz="4400" spc="-20" dirty="0">
                <a:latin typeface="Calibri Light"/>
                <a:cs typeface="Calibri Light"/>
              </a:rPr>
              <a:t>Ruang</a:t>
            </a:r>
            <a:r>
              <a:rPr sz="4400" spc="-220" dirty="0">
                <a:latin typeface="Calibri Light"/>
                <a:cs typeface="Calibri Light"/>
              </a:rPr>
              <a:t> </a:t>
            </a:r>
            <a:r>
              <a:rPr sz="4400" spc="-40" dirty="0">
                <a:latin typeface="Calibri Light"/>
                <a:cs typeface="Calibri Light"/>
              </a:rPr>
              <a:t>Kolom,</a:t>
            </a:r>
            <a:r>
              <a:rPr sz="4400" spc="-210" dirty="0">
                <a:latin typeface="Calibri Light"/>
                <a:cs typeface="Calibri Light"/>
              </a:rPr>
              <a:t> </a:t>
            </a:r>
            <a:r>
              <a:rPr sz="4400" spc="-25" dirty="0">
                <a:latin typeface="Calibri Light"/>
                <a:cs typeface="Calibri Light"/>
              </a:rPr>
              <a:t>dan </a:t>
            </a:r>
            <a:r>
              <a:rPr sz="4400" spc="-20" dirty="0">
                <a:latin typeface="Calibri Light"/>
                <a:cs typeface="Calibri Light"/>
              </a:rPr>
              <a:t>Ruang</a:t>
            </a:r>
            <a:r>
              <a:rPr sz="4400" spc="-210" dirty="0">
                <a:latin typeface="Calibri Light"/>
                <a:cs typeface="Calibri Light"/>
              </a:rPr>
              <a:t> </a:t>
            </a:r>
            <a:r>
              <a:rPr sz="4400" spc="-20" dirty="0">
                <a:latin typeface="Calibri Light"/>
                <a:cs typeface="Calibri Light"/>
              </a:rPr>
              <a:t>Null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57" y="1737042"/>
            <a:ext cx="10158730" cy="451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Misalkan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adalah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matrik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berukuran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n.</a:t>
            </a:r>
            <a:endParaRPr sz="2600">
              <a:latin typeface="Calibri"/>
              <a:cs typeface="Calibri"/>
            </a:endParaRPr>
          </a:p>
          <a:p>
            <a:pPr marL="241300" marR="146050" indent="-228600">
              <a:lnSpc>
                <a:spcPct val="699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Bagaimana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menentukan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untuk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ruang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baris,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ruang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kolom,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ruang </a:t>
            </a:r>
            <a:r>
              <a:rPr sz="2600" dirty="0">
                <a:latin typeface="Calibri"/>
                <a:cs typeface="Calibri"/>
              </a:rPr>
              <a:t>null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dari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matriks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A?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Langkah-</a:t>
            </a:r>
            <a:r>
              <a:rPr sz="2600" spc="-10" dirty="0">
                <a:latin typeface="Calibri"/>
                <a:cs typeface="Calibri"/>
              </a:rPr>
              <a:t>langkahnya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adalah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sebagai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berikut:</a:t>
            </a:r>
            <a:endParaRPr sz="2600">
              <a:latin typeface="Calibri"/>
              <a:cs typeface="Calibri"/>
            </a:endParaRPr>
          </a:p>
          <a:p>
            <a:pPr marL="559435" marR="1225550" lvl="1" indent="-323850">
              <a:lnSpc>
                <a:spcPct val="69900"/>
              </a:lnSpc>
              <a:spcBef>
                <a:spcPts val="1000"/>
              </a:spcBef>
              <a:buAutoNum type="arabicPeriod"/>
              <a:tabLst>
                <a:tab pos="581025" algn="l"/>
              </a:tabLst>
            </a:pPr>
            <a:r>
              <a:rPr sz="2600" dirty="0">
                <a:latin typeface="Calibri"/>
                <a:cs typeface="Calibri"/>
              </a:rPr>
              <a:t>Lakukan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reduksi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baris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pada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dengan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menerapkan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sampai 	menghasilkan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matriks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eselon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baris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559435" marR="1322070" lvl="1" indent="-323850">
              <a:lnSpc>
                <a:spcPct val="69900"/>
              </a:lnSpc>
              <a:spcBef>
                <a:spcPts val="1000"/>
              </a:spcBef>
              <a:buAutoNum type="arabicPeriod"/>
              <a:tabLst>
                <a:tab pos="581025" algn="l"/>
              </a:tabLst>
            </a:pPr>
            <a:r>
              <a:rPr sz="2600" dirty="0">
                <a:latin typeface="Calibri"/>
                <a:cs typeface="Calibri"/>
              </a:rPr>
              <a:t>Basis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untuk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ruang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baris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dari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adalah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semua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vektor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baris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yang 	</a:t>
            </a:r>
            <a:r>
              <a:rPr sz="2600" dirty="0">
                <a:latin typeface="Calibri"/>
                <a:cs typeface="Calibri"/>
              </a:rPr>
              <a:t>mengandung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utama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matriks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560070" lvl="1" indent="-323850">
              <a:lnSpc>
                <a:spcPts val="2650"/>
              </a:lnSpc>
              <a:spcBef>
                <a:spcPts val="80"/>
              </a:spcBef>
              <a:buAutoNum type="arabicPeriod"/>
              <a:tabLst>
                <a:tab pos="560070" algn="l"/>
              </a:tabLst>
            </a:pPr>
            <a:r>
              <a:rPr sz="2600" dirty="0">
                <a:latin typeface="Calibri"/>
                <a:cs typeface="Calibri"/>
              </a:rPr>
              <a:t>Basis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untuk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ruang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kolom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dari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adalah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semua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vektor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kolom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dari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matriks</a:t>
            </a:r>
            <a:endParaRPr sz="2600">
              <a:latin typeface="Calibri"/>
              <a:cs typeface="Calibri"/>
            </a:endParaRPr>
          </a:p>
          <a:p>
            <a:pPr marL="581025" marR="1461770">
              <a:lnSpc>
                <a:spcPct val="69900"/>
              </a:lnSpc>
              <a:spcBef>
                <a:spcPts val="470"/>
              </a:spcBef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yang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berkoresponden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dengan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vektor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kolom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matriks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yang </a:t>
            </a:r>
            <a:r>
              <a:rPr sz="2600" dirty="0">
                <a:latin typeface="Calibri"/>
                <a:cs typeface="Calibri"/>
              </a:rPr>
              <a:t>mengandung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utama.</a:t>
            </a:r>
            <a:endParaRPr sz="2600">
              <a:latin typeface="Calibri"/>
              <a:cs typeface="Calibri"/>
            </a:endParaRPr>
          </a:p>
          <a:p>
            <a:pPr marL="241300" marR="644525" indent="-228600">
              <a:lnSpc>
                <a:spcPct val="699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Basis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untuk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ruang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null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adalah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adalah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vektor-</a:t>
            </a:r>
            <a:r>
              <a:rPr sz="2600" dirty="0">
                <a:latin typeface="Calibri"/>
                <a:cs typeface="Calibri"/>
              </a:rPr>
              <a:t>vektor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yang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membangun </a:t>
            </a:r>
            <a:r>
              <a:rPr sz="2600" dirty="0">
                <a:latin typeface="Calibri"/>
                <a:cs typeface="Calibri"/>
              </a:rPr>
              <a:t>ruang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solusi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homogen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i="1" dirty="0">
                <a:latin typeface="Calibri"/>
                <a:cs typeface="Calibri"/>
              </a:rPr>
              <a:t>x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0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817" y="360934"/>
            <a:ext cx="10611485" cy="72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Contoh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4</a:t>
            </a:r>
            <a:r>
              <a:rPr dirty="0"/>
              <a:t>:</a:t>
            </a:r>
            <a:r>
              <a:rPr spc="-60" dirty="0"/>
              <a:t> </a:t>
            </a:r>
            <a:r>
              <a:rPr spc="-35" dirty="0"/>
              <a:t>Tentukan</a:t>
            </a:r>
            <a:r>
              <a:rPr spc="-25" dirty="0"/>
              <a:t> </a:t>
            </a:r>
            <a:r>
              <a:rPr dirty="0"/>
              <a:t>basis</a:t>
            </a:r>
            <a:r>
              <a:rPr spc="-40" dirty="0"/>
              <a:t> </a:t>
            </a:r>
            <a:r>
              <a:rPr dirty="0"/>
              <a:t>untuk</a:t>
            </a:r>
            <a:r>
              <a:rPr spc="-55" dirty="0"/>
              <a:t> </a:t>
            </a:r>
            <a:r>
              <a:rPr dirty="0"/>
              <a:t>ruang</a:t>
            </a:r>
            <a:r>
              <a:rPr spc="-45" dirty="0"/>
              <a:t> </a:t>
            </a:r>
            <a:r>
              <a:rPr dirty="0"/>
              <a:t>baris,</a:t>
            </a:r>
            <a:r>
              <a:rPr spc="-35" dirty="0"/>
              <a:t> </a:t>
            </a:r>
            <a:r>
              <a:rPr dirty="0"/>
              <a:t>basis</a:t>
            </a:r>
            <a:r>
              <a:rPr spc="-40" dirty="0"/>
              <a:t> </a:t>
            </a:r>
            <a:r>
              <a:rPr dirty="0"/>
              <a:t>untuk</a:t>
            </a:r>
            <a:r>
              <a:rPr spc="-60" dirty="0"/>
              <a:t> </a:t>
            </a:r>
            <a:r>
              <a:rPr dirty="0"/>
              <a:t>ruang</a:t>
            </a:r>
            <a:r>
              <a:rPr spc="-45" dirty="0"/>
              <a:t> </a:t>
            </a:r>
            <a:r>
              <a:rPr dirty="0"/>
              <a:t>kolom,</a:t>
            </a:r>
            <a:r>
              <a:rPr spc="-75" dirty="0"/>
              <a:t> </a:t>
            </a:r>
            <a:r>
              <a:rPr dirty="0"/>
              <a:t>dan</a:t>
            </a:r>
            <a:r>
              <a:rPr spc="-30" dirty="0"/>
              <a:t> </a:t>
            </a:r>
            <a:r>
              <a:rPr dirty="0"/>
              <a:t>basis</a:t>
            </a:r>
            <a:r>
              <a:rPr spc="-55" dirty="0"/>
              <a:t> </a:t>
            </a:r>
            <a:r>
              <a:rPr spc="-10" dirty="0"/>
              <a:t>untuk</a:t>
            </a:r>
          </a:p>
          <a:p>
            <a:pPr marL="12700">
              <a:lnSpc>
                <a:spcPts val="2740"/>
              </a:lnSpc>
            </a:pPr>
            <a:r>
              <a:rPr dirty="0"/>
              <a:t>ruang</a:t>
            </a:r>
            <a:r>
              <a:rPr spc="-25" dirty="0"/>
              <a:t> </a:t>
            </a:r>
            <a:r>
              <a:rPr dirty="0"/>
              <a:t>null</a:t>
            </a:r>
            <a:r>
              <a:rPr spc="-35" dirty="0"/>
              <a:t> </a:t>
            </a:r>
            <a:r>
              <a:rPr dirty="0"/>
              <a:t>dari</a:t>
            </a:r>
            <a:r>
              <a:rPr spc="-5" dirty="0"/>
              <a:t> </a:t>
            </a:r>
            <a:r>
              <a:rPr dirty="0"/>
              <a:t>matriks</a:t>
            </a:r>
            <a:r>
              <a:rPr spc="-5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berikut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817" y="1612646"/>
            <a:ext cx="10376535" cy="1294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774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=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80"/>
              </a:spcBef>
            </a:pP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Jawaban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Lakukan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reduksi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matriks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dengan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operasi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elementer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sbb: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86421" y="2407920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0" y="16510"/>
                </a:moveTo>
                <a:lnTo>
                  <a:pt x="80391" y="16510"/>
                </a:lnTo>
                <a:lnTo>
                  <a:pt x="80391" y="0"/>
                </a:lnTo>
                <a:lnTo>
                  <a:pt x="0" y="0"/>
                </a:lnTo>
                <a:lnTo>
                  <a:pt x="0" y="16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23234" y="2407920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0" y="16510"/>
                </a:moveTo>
                <a:lnTo>
                  <a:pt x="80517" y="16510"/>
                </a:lnTo>
                <a:lnTo>
                  <a:pt x="80517" y="0"/>
                </a:lnTo>
                <a:lnTo>
                  <a:pt x="0" y="0"/>
                </a:lnTo>
                <a:lnTo>
                  <a:pt x="0" y="16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23234" y="1211811"/>
          <a:ext cx="3712845" cy="1261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675"/>
                <a:gridCol w="641350"/>
                <a:gridCol w="641350"/>
                <a:gridCol w="641350"/>
                <a:gridCol w="641350"/>
                <a:gridCol w="572770"/>
              </a:tblGrid>
              <a:tr h="303530">
                <a:tc>
                  <a:txBody>
                    <a:bodyPr/>
                    <a:lstStyle/>
                    <a:p>
                      <a:pPr marR="60960"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15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15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R="60960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4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4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8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R="60960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4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4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7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marR="60325"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7186421" y="1229360"/>
            <a:ext cx="80645" cy="15240"/>
          </a:xfrm>
          <a:custGeom>
            <a:avLst/>
            <a:gdLst/>
            <a:ahLst/>
            <a:cxnLst/>
            <a:rect l="l" t="t" r="r" b="b"/>
            <a:pathLst>
              <a:path w="80645" h="15240">
                <a:moveTo>
                  <a:pt x="0" y="15240"/>
                </a:moveTo>
                <a:lnTo>
                  <a:pt x="80391" y="15240"/>
                </a:lnTo>
                <a:lnTo>
                  <a:pt x="80391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23234" y="1229360"/>
            <a:ext cx="80645" cy="15240"/>
          </a:xfrm>
          <a:custGeom>
            <a:avLst/>
            <a:gdLst/>
            <a:ahLst/>
            <a:cxnLst/>
            <a:rect l="l" t="t" r="r" b="b"/>
            <a:pathLst>
              <a:path w="80645" h="15240">
                <a:moveTo>
                  <a:pt x="0" y="15240"/>
                </a:moveTo>
                <a:lnTo>
                  <a:pt x="80517" y="15240"/>
                </a:lnTo>
                <a:lnTo>
                  <a:pt x="80517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93462" y="3370579"/>
            <a:ext cx="80645" cy="1193800"/>
          </a:xfrm>
          <a:custGeom>
            <a:avLst/>
            <a:gdLst/>
            <a:ahLst/>
            <a:cxnLst/>
            <a:rect l="l" t="t" r="r" b="b"/>
            <a:pathLst>
              <a:path w="80645" h="1193800">
                <a:moveTo>
                  <a:pt x="80391" y="0"/>
                </a:moveTo>
                <a:lnTo>
                  <a:pt x="0" y="0"/>
                </a:lnTo>
                <a:lnTo>
                  <a:pt x="0" y="15240"/>
                </a:lnTo>
                <a:lnTo>
                  <a:pt x="50419" y="15240"/>
                </a:lnTo>
                <a:lnTo>
                  <a:pt x="50419" y="1178560"/>
                </a:lnTo>
                <a:lnTo>
                  <a:pt x="0" y="1178560"/>
                </a:lnTo>
                <a:lnTo>
                  <a:pt x="0" y="1193800"/>
                </a:lnTo>
                <a:lnTo>
                  <a:pt x="80391" y="1193800"/>
                </a:lnTo>
                <a:lnTo>
                  <a:pt x="80391" y="1178560"/>
                </a:lnTo>
                <a:lnTo>
                  <a:pt x="80391" y="15240"/>
                </a:lnTo>
                <a:lnTo>
                  <a:pt x="803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30274" y="3370579"/>
            <a:ext cx="80645" cy="1193800"/>
          </a:xfrm>
          <a:custGeom>
            <a:avLst/>
            <a:gdLst/>
            <a:ahLst/>
            <a:cxnLst/>
            <a:rect l="l" t="t" r="r" b="b"/>
            <a:pathLst>
              <a:path w="80644" h="1193800">
                <a:moveTo>
                  <a:pt x="80518" y="0"/>
                </a:moveTo>
                <a:lnTo>
                  <a:pt x="0" y="0"/>
                </a:lnTo>
                <a:lnTo>
                  <a:pt x="0" y="15240"/>
                </a:lnTo>
                <a:lnTo>
                  <a:pt x="0" y="1178560"/>
                </a:lnTo>
                <a:lnTo>
                  <a:pt x="0" y="1193800"/>
                </a:lnTo>
                <a:lnTo>
                  <a:pt x="80518" y="1193800"/>
                </a:lnTo>
                <a:lnTo>
                  <a:pt x="80518" y="1178560"/>
                </a:lnTo>
                <a:lnTo>
                  <a:pt x="29972" y="1178560"/>
                </a:lnTo>
                <a:lnTo>
                  <a:pt x="29972" y="15240"/>
                </a:lnTo>
                <a:lnTo>
                  <a:pt x="80518" y="15240"/>
                </a:lnTo>
                <a:lnTo>
                  <a:pt x="80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445260" y="3353913"/>
          <a:ext cx="8193399" cy="1262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040"/>
                <a:gridCol w="641985"/>
                <a:gridCol w="641985"/>
                <a:gridCol w="641985"/>
                <a:gridCol w="641985"/>
                <a:gridCol w="574039"/>
                <a:gridCol w="1247775"/>
                <a:gridCol w="367029"/>
                <a:gridCol w="641350"/>
                <a:gridCol w="433704"/>
                <a:gridCol w="643254"/>
                <a:gridCol w="641984"/>
                <a:gridCol w="502284"/>
              </a:tblGrid>
              <a:tr h="958850">
                <a:tc>
                  <a:txBody>
                    <a:bodyPr/>
                    <a:lstStyle/>
                    <a:p>
                      <a:pPr marL="174625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74625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74625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12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700">
                        <a:lnSpc>
                          <a:spcPts val="258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700">
                        <a:lnSpc>
                          <a:spcPts val="261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12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700">
                        <a:lnSpc>
                          <a:spcPts val="258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700">
                        <a:lnSpc>
                          <a:spcPts val="261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8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243840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243840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7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ts val="2765"/>
                        </a:lnSpc>
                        <a:spcBef>
                          <a:spcPts val="800"/>
                        </a:spcBef>
                      </a:pPr>
                      <a:r>
                        <a:rPr sz="24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OBE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6220">
                        <a:lnSpc>
                          <a:spcPts val="2285"/>
                        </a:lnSpc>
                        <a:tabLst>
                          <a:tab pos="536575" algn="l"/>
                        </a:tabLst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~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…</a:t>
                      </a:r>
                      <a:r>
                        <a:rPr sz="2000" spc="43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~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12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71755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71755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270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8430">
                        <a:lnSpc>
                          <a:spcPts val="258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8430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58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7795">
                        <a:lnSpc>
                          <a:spcPts val="258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242570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</a:tr>
              <a:tr h="303530">
                <a:tc>
                  <a:txBody>
                    <a:bodyPr/>
                    <a:lstStyle/>
                    <a:p>
                      <a:pPr marL="70485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9637903" y="3370579"/>
            <a:ext cx="80645" cy="1193800"/>
          </a:xfrm>
          <a:custGeom>
            <a:avLst/>
            <a:gdLst/>
            <a:ahLst/>
            <a:cxnLst/>
            <a:rect l="l" t="t" r="r" b="b"/>
            <a:pathLst>
              <a:path w="80645" h="1193800">
                <a:moveTo>
                  <a:pt x="80518" y="0"/>
                </a:moveTo>
                <a:lnTo>
                  <a:pt x="0" y="0"/>
                </a:lnTo>
                <a:lnTo>
                  <a:pt x="0" y="15240"/>
                </a:lnTo>
                <a:lnTo>
                  <a:pt x="50546" y="15240"/>
                </a:lnTo>
                <a:lnTo>
                  <a:pt x="50546" y="1178560"/>
                </a:lnTo>
                <a:lnTo>
                  <a:pt x="0" y="1178560"/>
                </a:lnTo>
                <a:lnTo>
                  <a:pt x="0" y="1193800"/>
                </a:lnTo>
                <a:lnTo>
                  <a:pt x="80518" y="1193800"/>
                </a:lnTo>
                <a:lnTo>
                  <a:pt x="80518" y="1178560"/>
                </a:lnTo>
                <a:lnTo>
                  <a:pt x="80518" y="15240"/>
                </a:lnTo>
                <a:lnTo>
                  <a:pt x="80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91402" y="3370579"/>
            <a:ext cx="80645" cy="1193800"/>
          </a:xfrm>
          <a:custGeom>
            <a:avLst/>
            <a:gdLst/>
            <a:ahLst/>
            <a:cxnLst/>
            <a:rect l="l" t="t" r="r" b="b"/>
            <a:pathLst>
              <a:path w="80645" h="1193800">
                <a:moveTo>
                  <a:pt x="80518" y="0"/>
                </a:moveTo>
                <a:lnTo>
                  <a:pt x="0" y="0"/>
                </a:lnTo>
                <a:lnTo>
                  <a:pt x="0" y="15240"/>
                </a:lnTo>
                <a:lnTo>
                  <a:pt x="0" y="1178560"/>
                </a:lnTo>
                <a:lnTo>
                  <a:pt x="0" y="1193800"/>
                </a:lnTo>
                <a:lnTo>
                  <a:pt x="80518" y="1193800"/>
                </a:lnTo>
                <a:lnTo>
                  <a:pt x="80518" y="1178560"/>
                </a:lnTo>
                <a:lnTo>
                  <a:pt x="29972" y="1178560"/>
                </a:lnTo>
                <a:lnTo>
                  <a:pt x="29972" y="15240"/>
                </a:lnTo>
                <a:lnTo>
                  <a:pt x="80518" y="15240"/>
                </a:lnTo>
                <a:lnTo>
                  <a:pt x="80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92225" y="3753802"/>
            <a:ext cx="10068560" cy="139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19505" algn="r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R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10"/>
              </a:spcBef>
            </a:pP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Basis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untuk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adalah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semua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matriks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yang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mengandung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utama: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59754" y="529462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79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656" y="11430"/>
                </a:lnTo>
                <a:lnTo>
                  <a:pt x="41656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26233" y="529462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79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638" y="273050"/>
                </a:lnTo>
                <a:lnTo>
                  <a:pt x="24638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62294" y="577087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79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656" y="11430"/>
                </a:lnTo>
                <a:lnTo>
                  <a:pt x="41656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26233" y="577087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79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638" y="273050"/>
                </a:lnTo>
                <a:lnTo>
                  <a:pt x="24638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825625" y="5096510"/>
            <a:ext cx="657225" cy="146939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75"/>
              </a:spcBef>
            </a:pPr>
            <a:r>
              <a:rPr sz="2400" dirty="0">
                <a:latin typeface="Cambria Math"/>
                <a:cs typeface="Cambria Math"/>
              </a:rPr>
              <a:t>𝐫</a:t>
            </a:r>
            <a:r>
              <a:rPr sz="2400" baseline="-20833" dirty="0">
                <a:latin typeface="Cambria Math"/>
                <a:cs typeface="Cambria Math"/>
              </a:rPr>
              <a:t>𝟏</a:t>
            </a:r>
            <a:r>
              <a:rPr sz="2400" spc="465" baseline="-20833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75"/>
              </a:spcBef>
            </a:pPr>
            <a:r>
              <a:rPr sz="2400" dirty="0">
                <a:latin typeface="Cambria Math"/>
                <a:cs typeface="Cambria Math"/>
              </a:rPr>
              <a:t>𝐫</a:t>
            </a:r>
            <a:r>
              <a:rPr sz="2400" baseline="-20833" dirty="0">
                <a:latin typeface="Cambria Math"/>
                <a:cs typeface="Cambria Math"/>
              </a:rPr>
              <a:t>𝟐</a:t>
            </a:r>
            <a:r>
              <a:rPr sz="2400" spc="465" baseline="-20833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980"/>
              </a:spcBef>
            </a:pPr>
            <a:r>
              <a:rPr sz="2400" dirty="0">
                <a:latin typeface="Cambria Math"/>
                <a:cs typeface="Cambria Math"/>
              </a:rPr>
              <a:t>𝐫</a:t>
            </a:r>
            <a:r>
              <a:rPr sz="2400" baseline="-20833" dirty="0">
                <a:latin typeface="Cambria Math"/>
                <a:cs typeface="Cambria Math"/>
              </a:rPr>
              <a:t>𝟑</a:t>
            </a:r>
            <a:r>
              <a:rPr sz="2400" spc="465" baseline="-20833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06414" y="6261100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79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656" y="11430"/>
                </a:lnTo>
                <a:lnTo>
                  <a:pt x="41656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26233" y="6261100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79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638" y="273050"/>
                </a:lnTo>
                <a:lnTo>
                  <a:pt x="24638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686685" y="5116829"/>
            <a:ext cx="3484879" cy="146685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487680" algn="l"/>
                <a:tab pos="1254760" algn="l"/>
                <a:tab pos="1727200" algn="l"/>
                <a:tab pos="2560320" algn="l"/>
                <a:tab pos="3300095" algn="l"/>
              </a:tabLst>
            </a:pPr>
            <a:r>
              <a:rPr sz="2400" spc="-50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−3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4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−2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5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4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685800" algn="l"/>
                <a:tab pos="1226820" algn="l"/>
                <a:tab pos="1899920" algn="l"/>
                <a:tab pos="2372360" algn="l"/>
                <a:tab pos="3073400" algn="l"/>
              </a:tabLst>
            </a:pPr>
            <a:r>
              <a:rPr sz="2400" spc="-50" dirty="0">
                <a:latin typeface="Cambria Math"/>
                <a:cs typeface="Cambria Math"/>
              </a:rPr>
              <a:t>0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0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3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−2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−6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685800" algn="l"/>
                <a:tab pos="1226820" algn="l"/>
                <a:tab pos="1899920" algn="l"/>
                <a:tab pos="2573020" algn="l"/>
                <a:tab pos="3246755" algn="l"/>
              </a:tabLst>
            </a:pPr>
            <a:r>
              <a:rPr sz="2400" spc="-50" dirty="0">
                <a:latin typeface="Cambria Math"/>
                <a:cs typeface="Cambria Math"/>
              </a:rPr>
              <a:t>0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0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0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0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5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22691" y="5710237"/>
            <a:ext cx="2926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Dimensi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769100" y="5793740"/>
            <a:ext cx="1323340" cy="342900"/>
            <a:chOff x="6769100" y="5793740"/>
            <a:chExt cx="1323340" cy="342900"/>
          </a:xfrm>
        </p:grpSpPr>
        <p:sp>
          <p:nvSpPr>
            <p:cNvPr id="25" name="object 25"/>
            <p:cNvSpPr/>
            <p:nvPr/>
          </p:nvSpPr>
          <p:spPr>
            <a:xfrm>
              <a:off x="6775450" y="5800090"/>
              <a:ext cx="1310640" cy="330200"/>
            </a:xfrm>
            <a:custGeom>
              <a:avLst/>
              <a:gdLst/>
              <a:ahLst/>
              <a:cxnLst/>
              <a:rect l="l" t="t" r="r" b="b"/>
              <a:pathLst>
                <a:path w="1310640" h="330200">
                  <a:moveTo>
                    <a:pt x="1145540" y="0"/>
                  </a:moveTo>
                  <a:lnTo>
                    <a:pt x="1145540" y="82550"/>
                  </a:lnTo>
                  <a:lnTo>
                    <a:pt x="0" y="82550"/>
                  </a:lnTo>
                  <a:lnTo>
                    <a:pt x="0" y="247650"/>
                  </a:lnTo>
                  <a:lnTo>
                    <a:pt x="1145540" y="247650"/>
                  </a:lnTo>
                  <a:lnTo>
                    <a:pt x="1145540" y="330200"/>
                  </a:lnTo>
                  <a:lnTo>
                    <a:pt x="1310640" y="165100"/>
                  </a:lnTo>
                  <a:lnTo>
                    <a:pt x="11455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75450" y="5800090"/>
              <a:ext cx="1310640" cy="330200"/>
            </a:xfrm>
            <a:custGeom>
              <a:avLst/>
              <a:gdLst/>
              <a:ahLst/>
              <a:cxnLst/>
              <a:rect l="l" t="t" r="r" b="b"/>
              <a:pathLst>
                <a:path w="1310640" h="330200">
                  <a:moveTo>
                    <a:pt x="0" y="82550"/>
                  </a:moveTo>
                  <a:lnTo>
                    <a:pt x="1145540" y="82550"/>
                  </a:lnTo>
                  <a:lnTo>
                    <a:pt x="1145540" y="0"/>
                  </a:lnTo>
                  <a:lnTo>
                    <a:pt x="1310640" y="165100"/>
                  </a:lnTo>
                  <a:lnTo>
                    <a:pt x="1145540" y="330200"/>
                  </a:lnTo>
                  <a:lnTo>
                    <a:pt x="1145540" y="247650"/>
                  </a:lnTo>
                  <a:lnTo>
                    <a:pt x="0" y="247650"/>
                  </a:lnTo>
                  <a:lnTo>
                    <a:pt x="0" y="825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57" y="718756"/>
            <a:ext cx="10197465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dirty="0"/>
              <a:t>Basis</a:t>
            </a:r>
            <a:r>
              <a:rPr spc="-45" dirty="0"/>
              <a:t> </a:t>
            </a:r>
            <a:r>
              <a:rPr dirty="0"/>
              <a:t>untuk</a:t>
            </a:r>
            <a:r>
              <a:rPr spc="-60" dirty="0"/>
              <a:t> </a:t>
            </a:r>
            <a:r>
              <a:rPr dirty="0"/>
              <a:t>ruang</a:t>
            </a:r>
            <a:r>
              <a:rPr spc="-35" dirty="0"/>
              <a:t> </a:t>
            </a:r>
            <a:r>
              <a:rPr dirty="0"/>
              <a:t>kolom</a:t>
            </a:r>
            <a:r>
              <a:rPr spc="-85" dirty="0"/>
              <a:t> </a:t>
            </a:r>
            <a:r>
              <a:rPr dirty="0"/>
              <a:t>adalah semua</a:t>
            </a:r>
            <a:r>
              <a:rPr spc="-50" dirty="0"/>
              <a:t> </a:t>
            </a:r>
            <a:r>
              <a:rPr dirty="0"/>
              <a:t>kolom</a:t>
            </a:r>
            <a:r>
              <a:rPr spc="-80" dirty="0"/>
              <a:t> </a:t>
            </a:r>
            <a:r>
              <a:rPr dirty="0"/>
              <a:t>dari</a:t>
            </a:r>
            <a:r>
              <a:rPr spc="-35" dirty="0"/>
              <a:t> </a:t>
            </a:r>
            <a:r>
              <a:rPr dirty="0"/>
              <a:t>matriks</a:t>
            </a:r>
            <a:r>
              <a:rPr spc="-7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yang</a:t>
            </a:r>
            <a:r>
              <a:rPr spc="-30" dirty="0"/>
              <a:t> </a:t>
            </a:r>
            <a:r>
              <a:rPr spc="-10" dirty="0"/>
              <a:t>berkoresponden</a:t>
            </a:r>
          </a:p>
          <a:p>
            <a:pPr marL="12700">
              <a:lnSpc>
                <a:spcPts val="2740"/>
              </a:lnSpc>
              <a:tabLst>
                <a:tab pos="1066800" algn="l"/>
              </a:tabLst>
            </a:pPr>
            <a:r>
              <a:rPr spc="-10" dirty="0"/>
              <a:t>dengan</a:t>
            </a:r>
            <a:r>
              <a:rPr dirty="0"/>
              <a:t>	kolom</a:t>
            </a:r>
            <a:r>
              <a:rPr spc="-95" dirty="0"/>
              <a:t> </a:t>
            </a:r>
            <a:r>
              <a:rPr dirty="0"/>
              <a:t>matriks</a:t>
            </a:r>
            <a:r>
              <a:rPr spc="-75" dirty="0"/>
              <a:t> </a:t>
            </a:r>
            <a:r>
              <a:rPr dirty="0"/>
              <a:t>R</a:t>
            </a:r>
            <a:r>
              <a:rPr spc="-80" dirty="0"/>
              <a:t> </a:t>
            </a:r>
            <a:r>
              <a:rPr dirty="0"/>
              <a:t>yang</a:t>
            </a:r>
            <a:r>
              <a:rPr spc="-35" dirty="0"/>
              <a:t> </a:t>
            </a:r>
            <a:r>
              <a:rPr dirty="0"/>
              <a:t>mengandung</a:t>
            </a:r>
            <a:r>
              <a:rPr spc="-55" dirty="0"/>
              <a:t> </a:t>
            </a:r>
            <a:r>
              <a:rPr dirty="0"/>
              <a:t>1</a:t>
            </a:r>
            <a:r>
              <a:rPr spc="-70" dirty="0"/>
              <a:t> </a:t>
            </a:r>
            <a:r>
              <a:rPr spc="-10" dirty="0"/>
              <a:t>utama: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57" y="4243006"/>
            <a:ext cx="45529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Jadi,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untuk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kolom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adalah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9418" y="6427152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4300" y="2263140"/>
            <a:ext cx="3905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=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96642" y="1781175"/>
            <a:ext cx="7641590" cy="2176145"/>
            <a:chOff x="2096642" y="1781175"/>
            <a:chExt cx="7641590" cy="2176145"/>
          </a:xfrm>
        </p:grpSpPr>
        <p:sp>
          <p:nvSpPr>
            <p:cNvPr id="7" name="object 7"/>
            <p:cNvSpPr/>
            <p:nvPr/>
          </p:nvSpPr>
          <p:spPr>
            <a:xfrm>
              <a:off x="5520182" y="1879599"/>
              <a:ext cx="80645" cy="1195070"/>
            </a:xfrm>
            <a:custGeom>
              <a:avLst/>
              <a:gdLst/>
              <a:ahLst/>
              <a:cxnLst/>
              <a:rect l="l" t="t" r="r" b="b"/>
              <a:pathLst>
                <a:path w="80645" h="1195070">
                  <a:moveTo>
                    <a:pt x="8039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50419" y="15240"/>
                  </a:lnTo>
                  <a:lnTo>
                    <a:pt x="50419" y="1178560"/>
                  </a:lnTo>
                  <a:lnTo>
                    <a:pt x="0" y="1178560"/>
                  </a:lnTo>
                  <a:lnTo>
                    <a:pt x="0" y="1195070"/>
                  </a:lnTo>
                  <a:lnTo>
                    <a:pt x="80391" y="1195070"/>
                  </a:lnTo>
                  <a:lnTo>
                    <a:pt x="80391" y="1178560"/>
                  </a:lnTo>
                  <a:lnTo>
                    <a:pt x="80391" y="15240"/>
                  </a:lnTo>
                  <a:lnTo>
                    <a:pt x="803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6642" y="1781175"/>
              <a:ext cx="7641082" cy="2176145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856994" y="1879599"/>
            <a:ext cx="80645" cy="1195070"/>
          </a:xfrm>
          <a:custGeom>
            <a:avLst/>
            <a:gdLst/>
            <a:ahLst/>
            <a:cxnLst/>
            <a:rect l="l" t="t" r="r" b="b"/>
            <a:pathLst>
              <a:path w="80644" h="1195070">
                <a:moveTo>
                  <a:pt x="80518" y="0"/>
                </a:moveTo>
                <a:lnTo>
                  <a:pt x="0" y="0"/>
                </a:lnTo>
                <a:lnTo>
                  <a:pt x="0" y="15240"/>
                </a:lnTo>
                <a:lnTo>
                  <a:pt x="0" y="1178560"/>
                </a:lnTo>
                <a:lnTo>
                  <a:pt x="0" y="1195070"/>
                </a:lnTo>
                <a:lnTo>
                  <a:pt x="80518" y="1195070"/>
                </a:lnTo>
                <a:lnTo>
                  <a:pt x="80518" y="1178560"/>
                </a:lnTo>
                <a:lnTo>
                  <a:pt x="29972" y="1178560"/>
                </a:lnTo>
                <a:lnTo>
                  <a:pt x="29972" y="15240"/>
                </a:lnTo>
                <a:lnTo>
                  <a:pt x="80518" y="15240"/>
                </a:lnTo>
                <a:lnTo>
                  <a:pt x="80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868297" y="1790700"/>
          <a:ext cx="8553450" cy="1347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/>
                <a:gridCol w="645160"/>
                <a:gridCol w="551180"/>
                <a:gridCol w="733425"/>
                <a:gridCol w="641350"/>
                <a:gridCol w="573404"/>
                <a:gridCol w="1443989"/>
                <a:gridCol w="385445"/>
                <a:gridCol w="641350"/>
                <a:gridCol w="433070"/>
                <a:gridCol w="642620"/>
                <a:gridCol w="641350"/>
                <a:gridCol w="570865"/>
              </a:tblGrid>
              <a:tr h="375285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9525" marB="0"/>
                </a:tc>
              </a:tr>
              <a:tr h="679450">
                <a:tc>
                  <a:txBody>
                    <a:bodyPr/>
                    <a:lstStyle/>
                    <a:p>
                      <a:pPr marL="178435">
                        <a:lnSpc>
                          <a:spcPts val="231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78435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1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44780">
                        <a:lnSpc>
                          <a:spcPts val="261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231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243840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231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231140">
                        <a:lnSpc>
                          <a:spcPts val="261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8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231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243840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7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50" dirty="0">
                          <a:latin typeface="Calibri"/>
                          <a:cs typeface="Calibri"/>
                        </a:rPr>
                        <a:t>=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109855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31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90170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1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315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8430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1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270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31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242570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</a:tr>
              <a:tr h="292735">
                <a:tc>
                  <a:txBody>
                    <a:bodyPr/>
                    <a:lstStyle/>
                    <a:p>
                      <a:pPr marR="52069" algn="ctr">
                        <a:lnSpc>
                          <a:spcPts val="215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ts val="215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710"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215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32080" algn="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215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10279761" y="1879599"/>
            <a:ext cx="80645" cy="1195070"/>
          </a:xfrm>
          <a:custGeom>
            <a:avLst/>
            <a:gdLst/>
            <a:ahLst/>
            <a:cxnLst/>
            <a:rect l="l" t="t" r="r" b="b"/>
            <a:pathLst>
              <a:path w="80645" h="1195070">
                <a:moveTo>
                  <a:pt x="80391" y="0"/>
                </a:moveTo>
                <a:lnTo>
                  <a:pt x="0" y="0"/>
                </a:lnTo>
                <a:lnTo>
                  <a:pt x="0" y="15240"/>
                </a:lnTo>
                <a:lnTo>
                  <a:pt x="50419" y="15240"/>
                </a:lnTo>
                <a:lnTo>
                  <a:pt x="50419" y="1178560"/>
                </a:lnTo>
                <a:lnTo>
                  <a:pt x="0" y="1178560"/>
                </a:lnTo>
                <a:lnTo>
                  <a:pt x="0" y="1195070"/>
                </a:lnTo>
                <a:lnTo>
                  <a:pt x="80391" y="1195070"/>
                </a:lnTo>
                <a:lnTo>
                  <a:pt x="80391" y="1178560"/>
                </a:lnTo>
                <a:lnTo>
                  <a:pt x="80391" y="15240"/>
                </a:lnTo>
                <a:lnTo>
                  <a:pt x="803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507091" y="2263140"/>
            <a:ext cx="38036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=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12239" y="5351145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85239" y="5175884"/>
            <a:ext cx="477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1785" algn="l"/>
              </a:tabLst>
            </a:pPr>
            <a:r>
              <a:rPr sz="2400" b="1" spc="-50" dirty="0">
                <a:latin typeface="Calibri"/>
                <a:cs typeface="Calibri"/>
              </a:rPr>
              <a:t>c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48357" y="4756150"/>
            <a:ext cx="88265" cy="1301750"/>
          </a:xfrm>
          <a:custGeom>
            <a:avLst/>
            <a:gdLst/>
            <a:ahLst/>
            <a:cxnLst/>
            <a:rect l="l" t="t" r="r" b="b"/>
            <a:pathLst>
              <a:path w="88264" h="1301750">
                <a:moveTo>
                  <a:pt x="87757" y="0"/>
                </a:moveTo>
                <a:lnTo>
                  <a:pt x="0" y="0"/>
                </a:lnTo>
                <a:lnTo>
                  <a:pt x="0" y="16510"/>
                </a:lnTo>
                <a:lnTo>
                  <a:pt x="55118" y="16510"/>
                </a:lnTo>
                <a:lnTo>
                  <a:pt x="55118" y="1285240"/>
                </a:lnTo>
                <a:lnTo>
                  <a:pt x="0" y="1285240"/>
                </a:lnTo>
                <a:lnTo>
                  <a:pt x="0" y="1301750"/>
                </a:lnTo>
                <a:lnTo>
                  <a:pt x="87757" y="1301750"/>
                </a:lnTo>
                <a:lnTo>
                  <a:pt x="87757" y="1285240"/>
                </a:lnTo>
                <a:lnTo>
                  <a:pt x="87757" y="16510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9755" y="4756150"/>
            <a:ext cx="88265" cy="1301750"/>
          </a:xfrm>
          <a:custGeom>
            <a:avLst/>
            <a:gdLst/>
            <a:ahLst/>
            <a:cxnLst/>
            <a:rect l="l" t="t" r="r" b="b"/>
            <a:pathLst>
              <a:path w="88264" h="1301750">
                <a:moveTo>
                  <a:pt x="87884" y="0"/>
                </a:moveTo>
                <a:lnTo>
                  <a:pt x="0" y="0"/>
                </a:lnTo>
                <a:lnTo>
                  <a:pt x="0" y="16510"/>
                </a:lnTo>
                <a:lnTo>
                  <a:pt x="0" y="1285240"/>
                </a:lnTo>
                <a:lnTo>
                  <a:pt x="0" y="1301750"/>
                </a:lnTo>
                <a:lnTo>
                  <a:pt x="87884" y="1301750"/>
                </a:lnTo>
                <a:lnTo>
                  <a:pt x="87884" y="1285240"/>
                </a:lnTo>
                <a:lnTo>
                  <a:pt x="32766" y="1285240"/>
                </a:lnTo>
                <a:lnTo>
                  <a:pt x="32766" y="16510"/>
                </a:lnTo>
                <a:lnTo>
                  <a:pt x="87884" y="16510"/>
                </a:lnTo>
                <a:lnTo>
                  <a:pt x="878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933194" y="4655184"/>
            <a:ext cx="422909" cy="146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ts val="285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20"/>
              </a:lnSpc>
            </a:pPr>
            <a:r>
              <a:rPr sz="2400" spc="-50" dirty="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40"/>
              </a:lnSpc>
            </a:pPr>
            <a:r>
              <a:rPr sz="2400" spc="-25" dirty="0">
                <a:latin typeface="Cambria Math"/>
                <a:cs typeface="Cambria Math"/>
              </a:rPr>
              <a:t>−1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60141" y="5317108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33141" y="5141976"/>
            <a:ext cx="4768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1785" algn="l"/>
              </a:tabLst>
            </a:pPr>
            <a:r>
              <a:rPr sz="2400" b="1" spc="-50" dirty="0">
                <a:latin typeface="Calibri"/>
                <a:cs typeface="Calibri"/>
              </a:rPr>
              <a:t>c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95623" y="4721859"/>
            <a:ext cx="88265" cy="1301750"/>
          </a:xfrm>
          <a:custGeom>
            <a:avLst/>
            <a:gdLst/>
            <a:ahLst/>
            <a:cxnLst/>
            <a:rect l="l" t="t" r="r" b="b"/>
            <a:pathLst>
              <a:path w="88264" h="1301750">
                <a:moveTo>
                  <a:pt x="87757" y="0"/>
                </a:moveTo>
                <a:lnTo>
                  <a:pt x="0" y="0"/>
                </a:lnTo>
                <a:lnTo>
                  <a:pt x="0" y="16510"/>
                </a:lnTo>
                <a:lnTo>
                  <a:pt x="55118" y="16510"/>
                </a:lnTo>
                <a:lnTo>
                  <a:pt x="55118" y="1285240"/>
                </a:lnTo>
                <a:lnTo>
                  <a:pt x="0" y="1285240"/>
                </a:lnTo>
                <a:lnTo>
                  <a:pt x="0" y="1301750"/>
                </a:lnTo>
                <a:lnTo>
                  <a:pt x="87757" y="1301750"/>
                </a:lnTo>
                <a:lnTo>
                  <a:pt x="87757" y="1285240"/>
                </a:lnTo>
                <a:lnTo>
                  <a:pt x="87757" y="16510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97021" y="4721859"/>
            <a:ext cx="88265" cy="1301750"/>
          </a:xfrm>
          <a:custGeom>
            <a:avLst/>
            <a:gdLst/>
            <a:ahLst/>
            <a:cxnLst/>
            <a:rect l="l" t="t" r="r" b="b"/>
            <a:pathLst>
              <a:path w="88264" h="1301750">
                <a:moveTo>
                  <a:pt x="87884" y="0"/>
                </a:moveTo>
                <a:lnTo>
                  <a:pt x="0" y="0"/>
                </a:lnTo>
                <a:lnTo>
                  <a:pt x="0" y="16510"/>
                </a:lnTo>
                <a:lnTo>
                  <a:pt x="0" y="1285240"/>
                </a:lnTo>
                <a:lnTo>
                  <a:pt x="0" y="1301750"/>
                </a:lnTo>
                <a:lnTo>
                  <a:pt x="87884" y="1301750"/>
                </a:lnTo>
                <a:lnTo>
                  <a:pt x="87884" y="1285240"/>
                </a:lnTo>
                <a:lnTo>
                  <a:pt x="32766" y="1285240"/>
                </a:lnTo>
                <a:lnTo>
                  <a:pt x="32766" y="16510"/>
                </a:lnTo>
                <a:lnTo>
                  <a:pt x="87884" y="16510"/>
                </a:lnTo>
                <a:lnTo>
                  <a:pt x="878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680840" y="4620895"/>
            <a:ext cx="423545" cy="146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ts val="285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4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9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9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50"/>
              </a:lnSpc>
            </a:pPr>
            <a:r>
              <a:rPr sz="2400" spc="-25" dirty="0">
                <a:latin typeface="Cambria Math"/>
                <a:cs typeface="Cambria Math"/>
              </a:rPr>
              <a:t>−4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69535" y="5351145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42535" y="5175884"/>
            <a:ext cx="4768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1785" algn="l"/>
              </a:tabLst>
            </a:pPr>
            <a:r>
              <a:rPr sz="2400" b="1" spc="-50" dirty="0">
                <a:latin typeface="Calibri"/>
                <a:cs typeface="Calibri"/>
              </a:rPr>
              <a:t>c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04764" y="4756150"/>
            <a:ext cx="88265" cy="1301750"/>
          </a:xfrm>
          <a:custGeom>
            <a:avLst/>
            <a:gdLst/>
            <a:ahLst/>
            <a:cxnLst/>
            <a:rect l="l" t="t" r="r" b="b"/>
            <a:pathLst>
              <a:path w="88264" h="1301750">
                <a:moveTo>
                  <a:pt x="87884" y="0"/>
                </a:moveTo>
                <a:lnTo>
                  <a:pt x="0" y="0"/>
                </a:lnTo>
                <a:lnTo>
                  <a:pt x="0" y="16510"/>
                </a:lnTo>
                <a:lnTo>
                  <a:pt x="55118" y="16510"/>
                </a:lnTo>
                <a:lnTo>
                  <a:pt x="55118" y="1285240"/>
                </a:lnTo>
                <a:lnTo>
                  <a:pt x="0" y="1285240"/>
                </a:lnTo>
                <a:lnTo>
                  <a:pt x="0" y="1301750"/>
                </a:lnTo>
                <a:lnTo>
                  <a:pt x="87884" y="1301750"/>
                </a:lnTo>
                <a:lnTo>
                  <a:pt x="87884" y="1285240"/>
                </a:lnTo>
                <a:lnTo>
                  <a:pt x="87884" y="16510"/>
                </a:lnTo>
                <a:lnTo>
                  <a:pt x="878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06289" y="4756150"/>
            <a:ext cx="88265" cy="1301750"/>
          </a:xfrm>
          <a:custGeom>
            <a:avLst/>
            <a:gdLst/>
            <a:ahLst/>
            <a:cxnLst/>
            <a:rect l="l" t="t" r="r" b="b"/>
            <a:pathLst>
              <a:path w="88264" h="1301750">
                <a:moveTo>
                  <a:pt x="87757" y="0"/>
                </a:moveTo>
                <a:lnTo>
                  <a:pt x="0" y="0"/>
                </a:lnTo>
                <a:lnTo>
                  <a:pt x="0" y="16510"/>
                </a:lnTo>
                <a:lnTo>
                  <a:pt x="0" y="1285240"/>
                </a:lnTo>
                <a:lnTo>
                  <a:pt x="0" y="1301750"/>
                </a:lnTo>
                <a:lnTo>
                  <a:pt x="87757" y="1301750"/>
                </a:lnTo>
                <a:lnTo>
                  <a:pt x="87757" y="1285240"/>
                </a:lnTo>
                <a:lnTo>
                  <a:pt x="32766" y="1285240"/>
                </a:lnTo>
                <a:lnTo>
                  <a:pt x="32766" y="16510"/>
                </a:lnTo>
                <a:lnTo>
                  <a:pt x="87757" y="16510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190109" y="4657725"/>
            <a:ext cx="422909" cy="146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ts val="285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5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20"/>
              </a:lnSpc>
            </a:pPr>
            <a:r>
              <a:rPr sz="2400" spc="-50" dirty="0">
                <a:latin typeface="Cambria Math"/>
                <a:cs typeface="Cambria Math"/>
              </a:rPr>
              <a:t>8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9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40"/>
              </a:lnSpc>
            </a:pPr>
            <a:r>
              <a:rPr sz="2400" spc="-25" dirty="0">
                <a:latin typeface="Cambria Math"/>
                <a:cs typeface="Cambria Math"/>
              </a:rPr>
              <a:t>−5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30819" y="5274309"/>
            <a:ext cx="3084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Dimensi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kolom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25540" y="5321300"/>
            <a:ext cx="1323340" cy="342900"/>
            <a:chOff x="6225540" y="5321300"/>
            <a:chExt cx="1323340" cy="342900"/>
          </a:xfrm>
        </p:grpSpPr>
        <p:sp>
          <p:nvSpPr>
            <p:cNvPr id="30" name="object 30"/>
            <p:cNvSpPr/>
            <p:nvPr/>
          </p:nvSpPr>
          <p:spPr>
            <a:xfrm>
              <a:off x="6231890" y="5327650"/>
              <a:ext cx="1310640" cy="330200"/>
            </a:xfrm>
            <a:custGeom>
              <a:avLst/>
              <a:gdLst/>
              <a:ahLst/>
              <a:cxnLst/>
              <a:rect l="l" t="t" r="r" b="b"/>
              <a:pathLst>
                <a:path w="1310640" h="330200">
                  <a:moveTo>
                    <a:pt x="1145539" y="0"/>
                  </a:moveTo>
                  <a:lnTo>
                    <a:pt x="1145539" y="82550"/>
                  </a:lnTo>
                  <a:lnTo>
                    <a:pt x="0" y="82550"/>
                  </a:lnTo>
                  <a:lnTo>
                    <a:pt x="0" y="247650"/>
                  </a:lnTo>
                  <a:lnTo>
                    <a:pt x="1145539" y="247650"/>
                  </a:lnTo>
                  <a:lnTo>
                    <a:pt x="1145539" y="330200"/>
                  </a:lnTo>
                  <a:lnTo>
                    <a:pt x="1310639" y="165100"/>
                  </a:lnTo>
                  <a:lnTo>
                    <a:pt x="11455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31890" y="5327650"/>
              <a:ext cx="1310640" cy="330200"/>
            </a:xfrm>
            <a:custGeom>
              <a:avLst/>
              <a:gdLst/>
              <a:ahLst/>
              <a:cxnLst/>
              <a:rect l="l" t="t" r="r" b="b"/>
              <a:pathLst>
                <a:path w="1310640" h="330200">
                  <a:moveTo>
                    <a:pt x="0" y="82550"/>
                  </a:moveTo>
                  <a:lnTo>
                    <a:pt x="1145539" y="82550"/>
                  </a:lnTo>
                  <a:lnTo>
                    <a:pt x="1145539" y="0"/>
                  </a:lnTo>
                  <a:lnTo>
                    <a:pt x="1310639" y="165100"/>
                  </a:lnTo>
                  <a:lnTo>
                    <a:pt x="1145539" y="330200"/>
                  </a:lnTo>
                  <a:lnTo>
                    <a:pt x="1145539" y="247650"/>
                  </a:lnTo>
                  <a:lnTo>
                    <a:pt x="0" y="247650"/>
                  </a:lnTo>
                  <a:lnTo>
                    <a:pt x="0" y="825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679700" y="6177279"/>
            <a:ext cx="6037580" cy="58420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745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Dimensi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ruang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baris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dimensi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ruang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kolom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957" y="672465"/>
            <a:ext cx="9196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Untuk</a:t>
            </a:r>
            <a:r>
              <a:rPr spc="-60" dirty="0"/>
              <a:t> </a:t>
            </a:r>
            <a:r>
              <a:rPr dirty="0"/>
              <a:t>menemukan</a:t>
            </a:r>
            <a:r>
              <a:rPr spc="-45" dirty="0"/>
              <a:t> </a:t>
            </a:r>
            <a:r>
              <a:rPr dirty="0"/>
              <a:t>basis</a:t>
            </a:r>
            <a:r>
              <a:rPr spc="-55" dirty="0"/>
              <a:t> </a:t>
            </a:r>
            <a:r>
              <a:rPr dirty="0"/>
              <a:t>ruang</a:t>
            </a:r>
            <a:r>
              <a:rPr spc="-40" dirty="0"/>
              <a:t> </a:t>
            </a:r>
            <a:r>
              <a:rPr dirty="0"/>
              <a:t>null,</a:t>
            </a:r>
            <a:r>
              <a:rPr spc="-60" dirty="0"/>
              <a:t> </a:t>
            </a:r>
            <a:r>
              <a:rPr spc="-10" dirty="0"/>
              <a:t>tentukan</a:t>
            </a:r>
            <a:r>
              <a:rPr spc="-65" dirty="0"/>
              <a:t> </a:t>
            </a:r>
            <a:r>
              <a:rPr dirty="0"/>
              <a:t>solusi</a:t>
            </a:r>
            <a:r>
              <a:rPr spc="-45" dirty="0"/>
              <a:t> </a:t>
            </a:r>
            <a:r>
              <a:rPr dirty="0"/>
              <a:t>A</a:t>
            </a:r>
            <a:r>
              <a:rPr b="1" dirty="0">
                <a:latin typeface="Calibri"/>
                <a:cs typeface="Calibri"/>
              </a:rPr>
              <a:t>x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dirty="0"/>
              <a:t>=</a:t>
            </a:r>
            <a:r>
              <a:rPr spc="-45" dirty="0"/>
              <a:t> </a:t>
            </a:r>
            <a:r>
              <a:rPr dirty="0"/>
              <a:t>0</a:t>
            </a:r>
            <a:r>
              <a:rPr spc="-55" dirty="0"/>
              <a:t> </a:t>
            </a:r>
            <a:r>
              <a:rPr dirty="0"/>
              <a:t>sebagai</a:t>
            </a:r>
            <a:r>
              <a:rPr spc="-10" dirty="0"/>
              <a:t> berikut</a:t>
            </a:r>
          </a:p>
        </p:txBody>
      </p:sp>
      <p:sp>
        <p:nvSpPr>
          <p:cNvPr id="3" name="object 3"/>
          <p:cNvSpPr/>
          <p:nvPr/>
        </p:nvSpPr>
        <p:spPr>
          <a:xfrm>
            <a:off x="5468112" y="1352549"/>
            <a:ext cx="80645" cy="1195070"/>
          </a:xfrm>
          <a:custGeom>
            <a:avLst/>
            <a:gdLst/>
            <a:ahLst/>
            <a:cxnLst/>
            <a:rect l="l" t="t" r="r" b="b"/>
            <a:pathLst>
              <a:path w="80645" h="1195070">
                <a:moveTo>
                  <a:pt x="80391" y="0"/>
                </a:moveTo>
                <a:lnTo>
                  <a:pt x="0" y="0"/>
                </a:lnTo>
                <a:lnTo>
                  <a:pt x="0" y="15240"/>
                </a:lnTo>
                <a:lnTo>
                  <a:pt x="50419" y="15240"/>
                </a:lnTo>
                <a:lnTo>
                  <a:pt x="50419" y="1178560"/>
                </a:lnTo>
                <a:lnTo>
                  <a:pt x="0" y="1178560"/>
                </a:lnTo>
                <a:lnTo>
                  <a:pt x="0" y="1195070"/>
                </a:lnTo>
                <a:lnTo>
                  <a:pt x="80391" y="1195070"/>
                </a:lnTo>
                <a:lnTo>
                  <a:pt x="80391" y="1178560"/>
                </a:lnTo>
                <a:lnTo>
                  <a:pt x="80391" y="15240"/>
                </a:lnTo>
                <a:lnTo>
                  <a:pt x="803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73124" y="1352549"/>
            <a:ext cx="80645" cy="1195070"/>
          </a:xfrm>
          <a:custGeom>
            <a:avLst/>
            <a:gdLst/>
            <a:ahLst/>
            <a:cxnLst/>
            <a:rect l="l" t="t" r="r" b="b"/>
            <a:pathLst>
              <a:path w="80644" h="1195070">
                <a:moveTo>
                  <a:pt x="80518" y="0"/>
                </a:moveTo>
                <a:lnTo>
                  <a:pt x="0" y="0"/>
                </a:lnTo>
                <a:lnTo>
                  <a:pt x="0" y="15240"/>
                </a:lnTo>
                <a:lnTo>
                  <a:pt x="0" y="1178560"/>
                </a:lnTo>
                <a:lnTo>
                  <a:pt x="0" y="1195070"/>
                </a:lnTo>
                <a:lnTo>
                  <a:pt x="80518" y="1195070"/>
                </a:lnTo>
                <a:lnTo>
                  <a:pt x="80518" y="1178560"/>
                </a:lnTo>
                <a:lnTo>
                  <a:pt x="29972" y="1178560"/>
                </a:lnTo>
                <a:lnTo>
                  <a:pt x="29972" y="15240"/>
                </a:lnTo>
                <a:lnTo>
                  <a:pt x="80518" y="15240"/>
                </a:lnTo>
                <a:lnTo>
                  <a:pt x="80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88110" y="1335001"/>
          <a:ext cx="9413875" cy="1263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040"/>
                <a:gridCol w="641985"/>
                <a:gridCol w="641985"/>
                <a:gridCol w="641985"/>
                <a:gridCol w="641985"/>
                <a:gridCol w="641985"/>
                <a:gridCol w="364489"/>
                <a:gridCol w="1461135"/>
                <a:gridCol w="367664"/>
                <a:gridCol w="641985"/>
                <a:gridCol w="433704"/>
                <a:gridCol w="643254"/>
                <a:gridCol w="641984"/>
                <a:gridCol w="641984"/>
                <a:gridCol w="365125"/>
              </a:tblGrid>
              <a:tr h="959485">
                <a:tc>
                  <a:txBody>
                    <a:bodyPr/>
                    <a:lstStyle/>
                    <a:p>
                      <a:pPr marL="174625">
                        <a:lnSpc>
                          <a:spcPts val="21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74625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74625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1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700">
                        <a:lnSpc>
                          <a:spcPts val="258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700">
                        <a:lnSpc>
                          <a:spcPts val="261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1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700">
                        <a:lnSpc>
                          <a:spcPts val="258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700">
                        <a:lnSpc>
                          <a:spcPts val="261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8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1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270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7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1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8430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8430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4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OBE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36854">
                        <a:lnSpc>
                          <a:spcPct val="100000"/>
                        </a:lnSpc>
                        <a:spcBef>
                          <a:spcPts val="30"/>
                        </a:spcBef>
                        <a:tabLst>
                          <a:tab pos="536575" algn="l"/>
                        </a:tabLst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~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…</a:t>
                      </a:r>
                      <a:r>
                        <a:rPr sz="2000" spc="4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~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1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71755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71755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1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8430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8430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58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58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1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700">
                        <a:lnSpc>
                          <a:spcPts val="258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700">
                        <a:lnSpc>
                          <a:spcPts val="26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</a:tr>
              <a:tr h="303530">
                <a:tc>
                  <a:txBody>
                    <a:bodyPr/>
                    <a:lstStyle/>
                    <a:p>
                      <a:pPr marL="70485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0659872" y="1352549"/>
            <a:ext cx="80645" cy="1195070"/>
          </a:xfrm>
          <a:custGeom>
            <a:avLst/>
            <a:gdLst/>
            <a:ahLst/>
            <a:cxnLst/>
            <a:rect l="l" t="t" r="r" b="b"/>
            <a:pathLst>
              <a:path w="80645" h="1195070">
                <a:moveTo>
                  <a:pt x="80518" y="0"/>
                </a:moveTo>
                <a:lnTo>
                  <a:pt x="0" y="0"/>
                </a:lnTo>
                <a:lnTo>
                  <a:pt x="0" y="15240"/>
                </a:lnTo>
                <a:lnTo>
                  <a:pt x="50546" y="15240"/>
                </a:lnTo>
                <a:lnTo>
                  <a:pt x="50546" y="1178560"/>
                </a:lnTo>
                <a:lnTo>
                  <a:pt x="0" y="1178560"/>
                </a:lnTo>
                <a:lnTo>
                  <a:pt x="0" y="1195070"/>
                </a:lnTo>
                <a:lnTo>
                  <a:pt x="80518" y="1195070"/>
                </a:lnTo>
                <a:lnTo>
                  <a:pt x="80518" y="1178560"/>
                </a:lnTo>
                <a:lnTo>
                  <a:pt x="80518" y="15240"/>
                </a:lnTo>
                <a:lnTo>
                  <a:pt x="80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79031" y="1352549"/>
            <a:ext cx="80645" cy="1195070"/>
          </a:xfrm>
          <a:custGeom>
            <a:avLst/>
            <a:gdLst/>
            <a:ahLst/>
            <a:cxnLst/>
            <a:rect l="l" t="t" r="r" b="b"/>
            <a:pathLst>
              <a:path w="80645" h="1195070">
                <a:moveTo>
                  <a:pt x="80518" y="0"/>
                </a:moveTo>
                <a:lnTo>
                  <a:pt x="0" y="0"/>
                </a:lnTo>
                <a:lnTo>
                  <a:pt x="0" y="15240"/>
                </a:lnTo>
                <a:lnTo>
                  <a:pt x="0" y="1178560"/>
                </a:lnTo>
                <a:lnTo>
                  <a:pt x="0" y="1195070"/>
                </a:lnTo>
                <a:lnTo>
                  <a:pt x="80518" y="1195070"/>
                </a:lnTo>
                <a:lnTo>
                  <a:pt x="80518" y="1178560"/>
                </a:lnTo>
                <a:lnTo>
                  <a:pt x="29972" y="1178560"/>
                </a:lnTo>
                <a:lnTo>
                  <a:pt x="29972" y="15240"/>
                </a:lnTo>
                <a:lnTo>
                  <a:pt x="80518" y="15240"/>
                </a:lnTo>
                <a:lnTo>
                  <a:pt x="80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54405" y="2401227"/>
            <a:ext cx="8505825" cy="969644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28725">
              <a:lnSpc>
                <a:spcPct val="100000"/>
              </a:lnSpc>
              <a:spcBef>
                <a:spcPts val="1075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matriks</a:t>
            </a:r>
            <a:r>
              <a:rPr sz="20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augmented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Calibri"/>
                <a:cs typeface="Calibri"/>
              </a:rPr>
              <a:t>Dari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matriks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augmented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yang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terakhir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diperoleh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tiga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persamaan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sbb: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12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1475105" y="3345179"/>
            <a:ext cx="42913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0005" algn="r">
              <a:lnSpc>
                <a:spcPct val="100000"/>
              </a:lnSpc>
              <a:spcBef>
                <a:spcPts val="100"/>
              </a:spcBef>
              <a:tabLst>
                <a:tab pos="1727200" algn="l"/>
                <a:tab pos="3830954" algn="l"/>
              </a:tabLst>
            </a:pP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3x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4x</a:t>
            </a:r>
            <a:r>
              <a:rPr sz="2400" spc="-37" baseline="-20833" dirty="0">
                <a:latin typeface="Calibri"/>
                <a:cs typeface="Calibri"/>
              </a:rPr>
              <a:t>3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4x</a:t>
            </a:r>
            <a:r>
              <a:rPr sz="2400" spc="-37" baseline="-20833" dirty="0">
                <a:latin typeface="Calibri"/>
                <a:cs typeface="Calibri"/>
              </a:rPr>
              <a:t>6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R="30480" algn="r">
              <a:lnSpc>
                <a:spcPct val="100000"/>
              </a:lnSpc>
              <a:tabLst>
                <a:tab pos="591820" algn="l"/>
                <a:tab pos="2472055" algn="l"/>
              </a:tabLst>
            </a:pP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+</a:t>
            </a:r>
            <a:r>
              <a:rPr sz="2400" dirty="0">
                <a:latin typeface="Calibri"/>
                <a:cs typeface="Calibri"/>
              </a:rPr>
              <a:t>	3x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6x</a:t>
            </a:r>
            <a:r>
              <a:rPr sz="2400" spc="-37" baseline="-20833" dirty="0">
                <a:latin typeface="Calibri"/>
                <a:cs typeface="Calibri"/>
              </a:rPr>
              <a:t>6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R="43180" algn="r">
              <a:lnSpc>
                <a:spcPct val="100000"/>
              </a:lnSpc>
              <a:tabLst>
                <a:tab pos="591185" algn="l"/>
              </a:tabLst>
            </a:pP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+</a:t>
            </a:r>
            <a:r>
              <a:rPr sz="2400" dirty="0">
                <a:latin typeface="Calibri"/>
                <a:cs typeface="Calibri"/>
              </a:rPr>
              <a:t>	5x</a:t>
            </a:r>
            <a:r>
              <a:rPr sz="2400" baseline="-20833" dirty="0">
                <a:latin typeface="Calibri"/>
                <a:cs typeface="Calibri"/>
              </a:rPr>
              <a:t>6</a:t>
            </a:r>
            <a:r>
              <a:rPr sz="2400" spc="-3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41489" y="3345179"/>
            <a:ext cx="4216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(i)</a:t>
            </a:r>
            <a:endParaRPr sz="24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</a:pPr>
            <a:r>
              <a:rPr sz="2400" spc="-20" dirty="0">
                <a:latin typeface="Calibri"/>
                <a:cs typeface="Calibri"/>
              </a:rPr>
              <a:t>(ii)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(iii)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305" y="4808854"/>
            <a:ext cx="91986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Dari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(iii)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diperoleh: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209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–5x</a:t>
            </a:r>
            <a:r>
              <a:rPr sz="2400" spc="-30" baseline="-20833" dirty="0">
                <a:latin typeface="Calibri"/>
                <a:cs typeface="Calibri"/>
              </a:rPr>
              <a:t>6</a:t>
            </a:r>
            <a:endParaRPr sz="2400" baseline="-20833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tabLst>
                <a:tab pos="2425700" algn="l"/>
                <a:tab pos="4984115" algn="l"/>
              </a:tabLst>
            </a:pPr>
            <a:r>
              <a:rPr sz="2400" dirty="0">
                <a:latin typeface="Calibri"/>
                <a:cs typeface="Calibri"/>
              </a:rPr>
              <a:t>Dari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(ii)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diperoleh:</a:t>
            </a:r>
            <a:r>
              <a:rPr sz="2400" dirty="0">
                <a:latin typeface="Calibri"/>
                <a:cs typeface="Calibri"/>
              </a:rPr>
              <a:t>	x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6x</a:t>
            </a:r>
            <a:r>
              <a:rPr sz="2400" spc="-37" baseline="-20833" dirty="0">
                <a:latin typeface="Calibri"/>
                <a:cs typeface="Calibri"/>
              </a:rPr>
              <a:t>6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2(–5x</a:t>
            </a:r>
            <a:r>
              <a:rPr sz="2400" baseline="-20833" dirty="0">
                <a:latin typeface="Calibri"/>
                <a:cs typeface="Calibri"/>
              </a:rPr>
              <a:t>6</a:t>
            </a:r>
            <a:r>
              <a:rPr sz="2400" spc="-37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6x</a:t>
            </a:r>
            <a:r>
              <a:rPr sz="2400" baseline="-20833" dirty="0">
                <a:latin typeface="Calibri"/>
                <a:cs typeface="Calibri"/>
              </a:rPr>
              <a:t>6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4x</a:t>
            </a:r>
            <a:r>
              <a:rPr sz="2400" spc="-37" baseline="-20833" dirty="0">
                <a:latin typeface="Calibri"/>
                <a:cs typeface="Calibri"/>
              </a:rPr>
              <a:t>6</a:t>
            </a:r>
            <a:endParaRPr sz="2400" baseline="-2083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4405" y="5540057"/>
            <a:ext cx="21958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Dari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diperoleh: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02245" y="5540057"/>
            <a:ext cx="75291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917064" algn="l"/>
                <a:tab pos="2885440" algn="l"/>
                <a:tab pos="4089400" algn="l"/>
                <a:tab pos="6878320" algn="l"/>
              </a:tabLst>
            </a:pP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spc="247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–3x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4x</a:t>
            </a:r>
            <a:r>
              <a:rPr sz="2400" spc="-37" baseline="-20833" dirty="0">
                <a:latin typeface="Calibri"/>
                <a:cs typeface="Calibri"/>
              </a:rPr>
              <a:t>3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–</a:t>
            </a:r>
            <a:r>
              <a:rPr sz="2400" dirty="0">
                <a:latin typeface="Calibri"/>
                <a:cs typeface="Calibri"/>
              </a:rPr>
              <a:t>	5x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4x</a:t>
            </a:r>
            <a:r>
              <a:rPr sz="2400" spc="-37" baseline="-20833" dirty="0">
                <a:latin typeface="Calibri"/>
                <a:cs typeface="Calibri"/>
              </a:rPr>
              <a:t>6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–3x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17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4(–3x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4x</a:t>
            </a:r>
            <a:r>
              <a:rPr sz="2400" baseline="-20833" dirty="0">
                <a:latin typeface="Calibri"/>
                <a:cs typeface="Calibri"/>
              </a:rPr>
              <a:t>6</a:t>
            </a:r>
            <a:r>
              <a:rPr sz="2400" spc="-37" baseline="-20833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	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2x</a:t>
            </a:r>
            <a:r>
              <a:rPr sz="2400" spc="-37" baseline="-20833" dirty="0">
                <a:latin typeface="Calibri"/>
                <a:cs typeface="Calibri"/>
              </a:rPr>
              <a:t>4</a:t>
            </a:r>
            <a:endParaRPr sz="2400" baseline="-20833">
              <a:latin typeface="Calibri"/>
              <a:cs typeface="Calibri"/>
            </a:endParaRPr>
          </a:p>
          <a:p>
            <a:pPr marL="532765">
              <a:lnSpc>
                <a:spcPct val="100000"/>
              </a:lnSpc>
              <a:spcBef>
                <a:spcPts val="5"/>
              </a:spcBef>
              <a:tabLst>
                <a:tab pos="822325" algn="l"/>
              </a:tabLst>
            </a:pPr>
            <a:r>
              <a:rPr sz="2400" spc="-50" dirty="0">
                <a:latin typeface="Calibri"/>
                <a:cs typeface="Calibri"/>
              </a:rPr>
              <a:t>–</a:t>
            </a:r>
            <a:r>
              <a:rPr sz="2400" dirty="0">
                <a:latin typeface="Calibri"/>
                <a:cs typeface="Calibri"/>
              </a:rPr>
              <a:t>	5(–5x</a:t>
            </a:r>
            <a:r>
              <a:rPr sz="2400" baseline="-20833" dirty="0">
                <a:latin typeface="Calibri"/>
                <a:cs typeface="Calibri"/>
              </a:rPr>
              <a:t>6</a:t>
            </a:r>
            <a:r>
              <a:rPr sz="2400" spc="-37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4x</a:t>
            </a:r>
            <a:r>
              <a:rPr sz="2400" baseline="-20833" dirty="0">
                <a:latin typeface="Calibri"/>
                <a:cs typeface="Calibri"/>
              </a:rPr>
              <a:t>6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–3x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22x</a:t>
            </a:r>
            <a:r>
              <a:rPr sz="2400" spc="-30" baseline="-20833" dirty="0">
                <a:latin typeface="Calibri"/>
                <a:cs typeface="Calibri"/>
              </a:rPr>
              <a:t>6</a:t>
            </a:r>
            <a:endParaRPr sz="2400" baseline="-2083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857" y="537082"/>
            <a:ext cx="7703820" cy="23075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19"/>
              </a:spcBef>
            </a:pPr>
            <a:r>
              <a:rPr sz="2400" dirty="0">
                <a:latin typeface="Calibri"/>
                <a:cs typeface="Calibri"/>
              </a:rPr>
              <a:t>Misalkan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5" dirty="0">
                <a:latin typeface="Calibri"/>
                <a:cs typeface="Calibri"/>
              </a:rPr>
              <a:t>r,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54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6</a:t>
            </a:r>
            <a:r>
              <a:rPr sz="2400" spc="217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maka</a:t>
            </a:r>
            <a:endParaRPr sz="2400">
              <a:latin typeface="Calibri"/>
              <a:cs typeface="Calibri"/>
            </a:endParaRPr>
          </a:p>
          <a:p>
            <a:pPr marL="447040">
              <a:lnSpc>
                <a:spcPct val="100000"/>
              </a:lnSpc>
              <a:spcBef>
                <a:spcPts val="725"/>
              </a:spcBef>
            </a:pP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spc="254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–3x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22x</a:t>
            </a:r>
            <a:r>
              <a:rPr sz="2400" baseline="-20833" dirty="0">
                <a:latin typeface="Calibri"/>
                <a:cs typeface="Calibri"/>
              </a:rPr>
              <a:t>6</a:t>
            </a:r>
            <a:r>
              <a:rPr sz="2400" spc="-37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22t</a:t>
            </a:r>
            <a:endParaRPr sz="2400">
              <a:latin typeface="Calibri"/>
              <a:cs typeface="Calibri"/>
            </a:endParaRPr>
          </a:p>
          <a:p>
            <a:pPr marL="44704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54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4x</a:t>
            </a:r>
            <a:r>
              <a:rPr sz="2400" baseline="-20833" dirty="0">
                <a:latin typeface="Calibri"/>
                <a:cs typeface="Calibri"/>
              </a:rPr>
              <a:t>6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4t</a:t>
            </a:r>
            <a:endParaRPr sz="2400">
              <a:latin typeface="Calibri"/>
              <a:cs typeface="Calibri"/>
            </a:endParaRPr>
          </a:p>
          <a:p>
            <a:pPr marL="44704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254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–5t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Calibri"/>
                <a:cs typeface="Calibri"/>
              </a:rPr>
              <a:t>Solusi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dinyatakan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dalam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bentuk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vektor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sebagai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berikut: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1247" y="3073399"/>
            <a:ext cx="90170" cy="1932939"/>
          </a:xfrm>
          <a:custGeom>
            <a:avLst/>
            <a:gdLst/>
            <a:ahLst/>
            <a:cxnLst/>
            <a:rect l="l" t="t" r="r" b="b"/>
            <a:pathLst>
              <a:path w="90169" h="1932939">
                <a:moveTo>
                  <a:pt x="89598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20240"/>
                </a:lnTo>
                <a:lnTo>
                  <a:pt x="0" y="1932940"/>
                </a:lnTo>
                <a:lnTo>
                  <a:pt x="89598" y="1932940"/>
                </a:lnTo>
                <a:lnTo>
                  <a:pt x="89598" y="1920240"/>
                </a:lnTo>
                <a:lnTo>
                  <a:pt x="31254" y="1920240"/>
                </a:lnTo>
                <a:lnTo>
                  <a:pt x="31254" y="12700"/>
                </a:lnTo>
                <a:lnTo>
                  <a:pt x="89598" y="12700"/>
                </a:lnTo>
                <a:lnTo>
                  <a:pt x="895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44041" y="3073399"/>
            <a:ext cx="90170" cy="1932939"/>
          </a:xfrm>
          <a:custGeom>
            <a:avLst/>
            <a:gdLst/>
            <a:ahLst/>
            <a:cxnLst/>
            <a:rect l="l" t="t" r="r" b="b"/>
            <a:pathLst>
              <a:path w="90169" h="1932939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20240"/>
                </a:lnTo>
                <a:lnTo>
                  <a:pt x="0" y="1920240"/>
                </a:lnTo>
                <a:lnTo>
                  <a:pt x="0" y="1932940"/>
                </a:lnTo>
                <a:lnTo>
                  <a:pt x="89662" y="1932940"/>
                </a:lnTo>
                <a:lnTo>
                  <a:pt x="89662" y="192024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8537" y="2868929"/>
            <a:ext cx="365760" cy="217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ts val="285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2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4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5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4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6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6633" y="3809110"/>
            <a:ext cx="25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16557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69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31369" y="1917700"/>
                </a:lnTo>
                <a:lnTo>
                  <a:pt x="31369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39641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7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97755" y="380911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41977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31369" y="1917700"/>
                </a:lnTo>
                <a:lnTo>
                  <a:pt x="31369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99360" y="2929890"/>
            <a:ext cx="3291840" cy="217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  <a:tabLst>
                <a:tab pos="2738120" algn="l"/>
              </a:tabLst>
            </a:pPr>
            <a:r>
              <a:rPr sz="2400" dirty="0">
                <a:latin typeface="Cambria Math"/>
                <a:cs typeface="Cambria Math"/>
              </a:rPr>
              <a:t>−3𝑟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14𝑠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22𝑡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−3𝑟</a:t>
            </a:r>
            <a:endParaRPr sz="2400">
              <a:latin typeface="Cambria Math"/>
              <a:cs typeface="Cambria Math"/>
            </a:endParaRPr>
          </a:p>
          <a:p>
            <a:pPr marR="201930" algn="r">
              <a:lnSpc>
                <a:spcPts val="2810"/>
              </a:lnSpc>
              <a:tabLst>
                <a:tab pos="1887220" algn="l"/>
              </a:tabLst>
            </a:pPr>
            <a:r>
              <a:rPr sz="2400" spc="-50" dirty="0">
                <a:latin typeface="Cambria Math"/>
                <a:cs typeface="Cambria Math"/>
              </a:rPr>
              <a:t>𝑟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𝑟</a:t>
            </a:r>
            <a:endParaRPr sz="2400">
              <a:latin typeface="Cambria Math"/>
              <a:cs typeface="Cambria Math"/>
            </a:endParaRPr>
          </a:p>
          <a:p>
            <a:pPr marR="185420" algn="r">
              <a:lnSpc>
                <a:spcPts val="2810"/>
              </a:lnSpc>
              <a:tabLst>
                <a:tab pos="675005" algn="l"/>
                <a:tab pos="2438400" algn="l"/>
              </a:tabLst>
            </a:pPr>
            <a:r>
              <a:rPr sz="2400" spc="-25" dirty="0">
                <a:latin typeface="Cambria Math"/>
                <a:cs typeface="Cambria Math"/>
              </a:rPr>
              <a:t>−3𝑠</a:t>
            </a:r>
            <a:r>
              <a:rPr sz="2400" dirty="0">
                <a:latin typeface="Cambria Math"/>
                <a:cs typeface="Cambria Math"/>
              </a:rPr>
              <a:t>	−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4𝑡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R="185420" algn="r">
              <a:lnSpc>
                <a:spcPts val="2820"/>
              </a:lnSpc>
              <a:tabLst>
                <a:tab pos="1879600" algn="l"/>
              </a:tabLst>
            </a:pPr>
            <a:r>
              <a:rPr sz="2400" spc="-50" dirty="0">
                <a:latin typeface="Cambria Math"/>
                <a:cs typeface="Cambria Math"/>
              </a:rPr>
              <a:t>𝑠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R="185420" algn="r">
              <a:lnSpc>
                <a:spcPts val="2810"/>
              </a:lnSpc>
              <a:tabLst>
                <a:tab pos="2067560" algn="l"/>
              </a:tabLst>
            </a:pPr>
            <a:r>
              <a:rPr sz="2400" spc="-25" dirty="0">
                <a:latin typeface="Cambria Math"/>
                <a:cs typeface="Cambria Math"/>
              </a:rPr>
              <a:t>−5𝑡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R="185420" algn="r">
              <a:lnSpc>
                <a:spcPts val="2840"/>
              </a:lnSpc>
              <a:tabLst>
                <a:tab pos="1869439" algn="l"/>
              </a:tabLst>
            </a:pPr>
            <a:r>
              <a:rPr sz="2400" spc="-50" dirty="0">
                <a:latin typeface="Cambria Math"/>
                <a:cs typeface="Cambria Math"/>
              </a:rPr>
              <a:t>𝑡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91201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7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64657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31369" y="1917700"/>
                </a:lnTo>
                <a:lnTo>
                  <a:pt x="31369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08801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7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78829" y="2929890"/>
            <a:ext cx="500380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5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14𝑠</a:t>
            </a:r>
            <a:endParaRPr sz="2400">
              <a:latin typeface="Cambria Math"/>
              <a:cs typeface="Cambria Math"/>
            </a:endParaRPr>
          </a:p>
          <a:p>
            <a:pPr marL="8890" algn="ctr">
              <a:lnSpc>
                <a:spcPts val="285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36309" y="4002023"/>
            <a:ext cx="194945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>
              <a:lnSpc>
                <a:spcPts val="285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4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84797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31369" y="1917700"/>
                </a:lnTo>
                <a:lnTo>
                  <a:pt x="31369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508621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7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996683" y="2929890"/>
            <a:ext cx="480059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22𝑡</a:t>
            </a:r>
            <a:endParaRPr sz="2400">
              <a:latin typeface="Cambria Math"/>
              <a:cs typeface="Cambria Math"/>
            </a:endParaRPr>
          </a:p>
          <a:p>
            <a:pPr marL="160020">
              <a:lnSpc>
                <a:spcPts val="285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08929" y="3643883"/>
            <a:ext cx="2139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51484" algn="l"/>
                <a:tab pos="1170305" algn="l"/>
                <a:tab pos="1572260" algn="l"/>
              </a:tabLst>
            </a:pPr>
            <a:r>
              <a:rPr sz="3600" spc="-75" baseline="-30092" dirty="0">
                <a:latin typeface="Cambria Math"/>
                <a:cs typeface="Cambria Math"/>
              </a:rPr>
              <a:t>+</a:t>
            </a:r>
            <a:r>
              <a:rPr sz="3600" baseline="-30092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−3𝑠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3600" spc="-75" baseline="-30092" dirty="0">
                <a:latin typeface="Cambria Math"/>
                <a:cs typeface="Cambria Math"/>
              </a:rPr>
              <a:t>+</a:t>
            </a:r>
            <a:r>
              <a:rPr sz="3600" baseline="-30092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−4𝑡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68743" y="4002023"/>
            <a:ext cx="541020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ts val="285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−5𝑡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ts val="2840"/>
              </a:lnSpc>
            </a:pPr>
            <a:r>
              <a:rPr sz="2400" spc="-50" dirty="0">
                <a:latin typeface="Cambria Math"/>
                <a:cs typeface="Cambria Math"/>
              </a:rPr>
              <a:t>𝑡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82483" y="3792626"/>
            <a:ext cx="464184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500" spc="-50" dirty="0">
                <a:latin typeface="Cambria Math"/>
                <a:cs typeface="Cambria Math"/>
              </a:rPr>
              <a:t>r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192897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31369" y="1917700"/>
                </a:lnTo>
                <a:lnTo>
                  <a:pt x="31369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89721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7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276970" y="2929890"/>
            <a:ext cx="423545" cy="217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−3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2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0">
              <a:lnSpc>
                <a:spcPts val="284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346057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31369" y="1917700"/>
                </a:lnTo>
                <a:lnTo>
                  <a:pt x="31369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842881" y="307339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7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460865" y="2929890"/>
            <a:ext cx="361950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14</a:t>
            </a:r>
            <a:endParaRPr sz="2400">
              <a:latin typeface="Cambria Math"/>
              <a:cs typeface="Cambria Math"/>
            </a:endParaRPr>
          </a:p>
          <a:p>
            <a:pPr marL="95885">
              <a:lnSpc>
                <a:spcPts val="285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44684" y="4002023"/>
            <a:ext cx="194945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4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496677" y="3075939"/>
            <a:ext cx="90170" cy="1927860"/>
          </a:xfrm>
          <a:custGeom>
            <a:avLst/>
            <a:gdLst/>
            <a:ahLst/>
            <a:cxnLst/>
            <a:rect l="l" t="t" r="r" b="b"/>
            <a:pathLst>
              <a:path w="90170" h="192786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5160"/>
                </a:lnTo>
                <a:lnTo>
                  <a:pt x="0" y="1927860"/>
                </a:lnTo>
                <a:lnTo>
                  <a:pt x="89662" y="1927860"/>
                </a:lnTo>
                <a:lnTo>
                  <a:pt x="89662" y="1915160"/>
                </a:lnTo>
                <a:lnTo>
                  <a:pt x="31369" y="1915160"/>
                </a:lnTo>
                <a:lnTo>
                  <a:pt x="31369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993501" y="3075939"/>
            <a:ext cx="90170" cy="1927860"/>
          </a:xfrm>
          <a:custGeom>
            <a:avLst/>
            <a:gdLst/>
            <a:ahLst/>
            <a:cxnLst/>
            <a:rect l="l" t="t" r="r" b="b"/>
            <a:pathLst>
              <a:path w="90170" h="192786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5160"/>
                </a:lnTo>
                <a:lnTo>
                  <a:pt x="0" y="1915160"/>
                </a:lnTo>
                <a:lnTo>
                  <a:pt x="0" y="1927860"/>
                </a:lnTo>
                <a:lnTo>
                  <a:pt x="89662" y="1927860"/>
                </a:lnTo>
                <a:lnTo>
                  <a:pt x="89662" y="191516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820784" y="3792626"/>
            <a:ext cx="220916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21665" algn="l"/>
                <a:tab pos="1193800" algn="l"/>
                <a:tab pos="1772920" algn="l"/>
              </a:tabLst>
            </a:pP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500" spc="-50" dirty="0">
                <a:latin typeface="Cambria Math"/>
                <a:cs typeface="Cambria Math"/>
              </a:rPr>
              <a:t>s</a:t>
            </a:r>
            <a:r>
              <a:rPr sz="2500" dirty="0">
                <a:latin typeface="Cambria Math"/>
                <a:cs typeface="Cambria Math"/>
              </a:rPr>
              <a:t>	</a:t>
            </a:r>
            <a:r>
              <a:rPr sz="3600" spc="-37" baseline="30092" dirty="0">
                <a:latin typeface="Cambria Math"/>
                <a:cs typeface="Cambria Math"/>
              </a:rPr>
              <a:t>−3</a:t>
            </a:r>
            <a:r>
              <a:rPr sz="3600" baseline="30092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𝑡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3600" spc="-52" baseline="30092" dirty="0">
                <a:latin typeface="Cambria Math"/>
                <a:cs typeface="Cambria Math"/>
              </a:rPr>
              <a:t>−4</a:t>
            </a:r>
            <a:endParaRPr sz="3600" baseline="30092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13</a:t>
            </a:fld>
            <a:endParaRPr spc="-25" dirty="0"/>
          </a:p>
        </p:txBody>
      </p:sp>
      <p:sp>
        <p:nvSpPr>
          <p:cNvPr id="33" name="object 33"/>
          <p:cNvSpPr txBox="1"/>
          <p:nvPr/>
        </p:nvSpPr>
        <p:spPr>
          <a:xfrm>
            <a:off x="10609326" y="2929890"/>
            <a:ext cx="361950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22</a:t>
            </a:r>
            <a:endParaRPr sz="2400">
              <a:latin typeface="Cambria Math"/>
              <a:cs typeface="Cambria Math"/>
            </a:endParaRPr>
          </a:p>
          <a:p>
            <a:pPr marL="95885">
              <a:lnSpc>
                <a:spcPts val="285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581258" y="4004691"/>
            <a:ext cx="423545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>
              <a:lnSpc>
                <a:spcPts val="284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−5</a:t>
            </a:r>
            <a:endParaRPr sz="2400">
              <a:latin typeface="Cambria Math"/>
              <a:cs typeface="Cambria Math"/>
            </a:endParaRPr>
          </a:p>
          <a:p>
            <a:pPr marL="124460">
              <a:lnSpc>
                <a:spcPts val="2850"/>
              </a:lnSpc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91857" y="5268023"/>
            <a:ext cx="93319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Basis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untuk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adalah:</a:t>
            </a:r>
            <a:endParaRPr sz="2400">
              <a:latin typeface="Calibri"/>
              <a:cs typeface="Calibri"/>
            </a:endParaRPr>
          </a:p>
          <a:p>
            <a:pPr marL="377825">
              <a:lnSpc>
                <a:spcPct val="100000"/>
              </a:lnSpc>
              <a:spcBef>
                <a:spcPts val="5"/>
              </a:spcBef>
              <a:tabLst>
                <a:tab pos="3111500" algn="l"/>
              </a:tabLst>
            </a:pPr>
            <a:r>
              <a:rPr sz="2400" b="1" dirty="0">
                <a:latin typeface="Calibri"/>
                <a:cs typeface="Calibri"/>
              </a:rPr>
              <a:t>v</a:t>
            </a:r>
            <a:r>
              <a:rPr sz="2400" b="1" baseline="-20833" dirty="0">
                <a:latin typeface="Calibri"/>
                <a:cs typeface="Calibri"/>
              </a:rPr>
              <a:t>1</a:t>
            </a:r>
            <a:r>
              <a:rPr sz="2400" b="1" spc="26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(–3,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25" dirty="0">
                <a:latin typeface="Calibri"/>
                <a:cs typeface="Calibri"/>
              </a:rPr>
              <a:t> 0),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v</a:t>
            </a:r>
            <a:r>
              <a:rPr sz="2400" b="1" baseline="-20833" dirty="0">
                <a:latin typeface="Calibri"/>
                <a:cs typeface="Calibri"/>
              </a:rPr>
              <a:t>2</a:t>
            </a:r>
            <a:r>
              <a:rPr sz="2400" b="1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(14,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0),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</a:t>
            </a:r>
            <a:r>
              <a:rPr sz="2400" b="1" baseline="-20833" dirty="0">
                <a:latin typeface="Calibri"/>
                <a:cs typeface="Calibri"/>
              </a:rPr>
              <a:t>3</a:t>
            </a:r>
            <a:r>
              <a:rPr sz="2400" b="1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(22,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–4,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–5,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0)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Dimensi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9157" y="697166"/>
            <a:ext cx="10487660" cy="2546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130" indent="-227329">
              <a:lnSpc>
                <a:spcPts val="2740"/>
              </a:lnSpc>
              <a:spcBef>
                <a:spcPts val="100"/>
              </a:spcBef>
              <a:buFont typeface="Arial MT"/>
              <a:buChar char="•"/>
              <a:tabLst>
                <a:tab pos="278130" algn="l"/>
              </a:tabLst>
            </a:pPr>
            <a:r>
              <a:rPr sz="2400" dirty="0">
                <a:latin typeface="Calibri"/>
                <a:cs typeface="Calibri"/>
              </a:rPr>
              <a:t>Kita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juga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dapat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menemukan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untuk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baseline="24305" dirty="0">
                <a:latin typeface="Calibri"/>
                <a:cs typeface="Calibri"/>
              </a:rPr>
              <a:t>n</a:t>
            </a:r>
            <a:r>
              <a:rPr sz="2400" spc="172" baseline="24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dengan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menggunakan</a:t>
            </a:r>
            <a:endParaRPr sz="2400">
              <a:latin typeface="Calibri"/>
              <a:cs typeface="Calibri"/>
            </a:endParaRPr>
          </a:p>
          <a:p>
            <a:pPr marL="279400">
              <a:lnSpc>
                <a:spcPts val="2740"/>
              </a:lnSpc>
            </a:pPr>
            <a:r>
              <a:rPr sz="2400" dirty="0">
                <a:latin typeface="Calibri"/>
                <a:cs typeface="Calibri"/>
              </a:rPr>
              <a:t>operasi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elementer.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Perhatikan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contoh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bawah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ini.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Contoh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5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Tentukan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untuk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subruang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baseline="24305" dirty="0">
                <a:latin typeface="Calibri"/>
                <a:cs typeface="Calibri"/>
              </a:rPr>
              <a:t>5</a:t>
            </a:r>
            <a:r>
              <a:rPr sz="2400" spc="-30" baseline="24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yang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dibangun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oleh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vektor-</a:t>
            </a:r>
            <a:r>
              <a:rPr sz="2400" spc="-10" dirty="0">
                <a:latin typeface="Calibri"/>
                <a:cs typeface="Calibri"/>
              </a:rPr>
              <a:t>vektor</a:t>
            </a: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700"/>
              </a:spcBef>
              <a:tabLst>
                <a:tab pos="2484120" algn="l"/>
              </a:tabLst>
            </a:pPr>
            <a:r>
              <a:rPr sz="2400" b="1" dirty="0">
                <a:latin typeface="Calibri"/>
                <a:cs typeface="Calibri"/>
              </a:rPr>
              <a:t>v</a:t>
            </a:r>
            <a:r>
              <a:rPr sz="2400" b="1" baseline="-20833" dirty="0">
                <a:latin typeface="Calibri"/>
                <a:cs typeface="Calibri"/>
              </a:rPr>
              <a:t>1</a:t>
            </a:r>
            <a:r>
              <a:rPr sz="2400" b="1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–2,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3),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v</a:t>
            </a:r>
            <a:r>
              <a:rPr sz="2400" b="1" baseline="-20833" dirty="0">
                <a:latin typeface="Calibri"/>
                <a:cs typeface="Calibri"/>
              </a:rPr>
              <a:t>2</a:t>
            </a:r>
            <a:r>
              <a:rPr sz="2400" b="1" spc="26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(2,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–5,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–3,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–2,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6),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</a:t>
            </a:r>
            <a:r>
              <a:rPr sz="2400" b="1" baseline="-20833" dirty="0">
                <a:latin typeface="Calibri"/>
                <a:cs typeface="Calibri"/>
              </a:rPr>
              <a:t>3</a:t>
            </a:r>
            <a:r>
              <a:rPr sz="2400" b="1" spc="27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(0,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15,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0),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</a:t>
            </a:r>
            <a:r>
              <a:rPr sz="2400" b="1" baseline="-20833" dirty="0">
                <a:latin typeface="Calibri"/>
                <a:cs typeface="Calibri"/>
              </a:rPr>
              <a:t>4</a:t>
            </a:r>
            <a:r>
              <a:rPr sz="2400" b="1" spc="24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(2,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18,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6)</a:t>
            </a: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72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Jawaban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3757" y="4889817"/>
            <a:ext cx="8829040" cy="12960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420"/>
              </a:spcBef>
            </a:pPr>
            <a:r>
              <a:rPr sz="2400" dirty="0">
                <a:latin typeface="Calibri"/>
                <a:cs typeface="Calibri"/>
              </a:rPr>
              <a:t>Basis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adalah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semua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dari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yang</a:t>
            </a:r>
            <a:r>
              <a:rPr sz="2400" spc="-10" dirty="0">
                <a:latin typeface="Calibri"/>
                <a:cs typeface="Calibri"/>
              </a:rPr>
              <a:t> mengandung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utama,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yaitu:</a:t>
            </a:r>
            <a:endParaRPr sz="2400">
              <a:latin typeface="Calibri"/>
              <a:cs typeface="Calibri"/>
            </a:endParaRPr>
          </a:p>
          <a:p>
            <a:pPr marL="989965">
              <a:lnSpc>
                <a:spcPct val="100000"/>
              </a:lnSpc>
              <a:spcBef>
                <a:spcPts val="325"/>
              </a:spcBef>
              <a:tabLst>
                <a:tab pos="3576954" algn="l"/>
                <a:tab pos="4654550" algn="l"/>
                <a:tab pos="6612255" algn="l"/>
              </a:tabLst>
            </a:pPr>
            <a:r>
              <a:rPr sz="2400" b="1" dirty="0">
                <a:latin typeface="Calibri"/>
                <a:cs typeface="Calibri"/>
              </a:rPr>
              <a:t>w</a:t>
            </a:r>
            <a:r>
              <a:rPr sz="2400" b="1" baseline="-20833" dirty="0">
                <a:latin typeface="Calibri"/>
                <a:cs typeface="Calibri"/>
              </a:rPr>
              <a:t>1</a:t>
            </a:r>
            <a:r>
              <a:rPr sz="2400" b="1" spc="26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–2,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3),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w</a:t>
            </a:r>
            <a:r>
              <a:rPr sz="2400" b="1" baseline="-20833" dirty="0">
                <a:latin typeface="Calibri"/>
                <a:cs typeface="Calibri"/>
              </a:rPr>
              <a:t>2</a:t>
            </a:r>
            <a:r>
              <a:rPr sz="2400" b="1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(0,</a:t>
            </a:r>
            <a:r>
              <a:rPr sz="2400" dirty="0">
                <a:latin typeface="Calibri"/>
                <a:cs typeface="Calibri"/>
              </a:rPr>
              <a:t>	1,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3, 2,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0), </a:t>
            </a:r>
            <a:r>
              <a:rPr sz="2400" spc="-25" dirty="0">
                <a:latin typeface="Calibri"/>
                <a:cs typeface="Calibri"/>
              </a:rPr>
              <a:t>dan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w</a:t>
            </a:r>
            <a:r>
              <a:rPr sz="2400" b="1" baseline="-20833" dirty="0">
                <a:latin typeface="Calibri"/>
                <a:cs typeface="Calibri"/>
              </a:rPr>
              <a:t>3</a:t>
            </a:r>
            <a:r>
              <a:rPr sz="2400" b="1" spc="24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(0,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0)</a:t>
            </a:r>
            <a:endParaRPr sz="24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720"/>
              </a:spcBef>
              <a:tabLst>
                <a:tab pos="1214120" algn="l"/>
              </a:tabLst>
            </a:pPr>
            <a:r>
              <a:rPr sz="2400" spc="-10" dirty="0">
                <a:latin typeface="Calibri"/>
                <a:cs typeface="Calibri"/>
              </a:rPr>
              <a:t>Dimensi</a:t>
            </a:r>
            <a:r>
              <a:rPr sz="2400" dirty="0">
                <a:latin typeface="Calibri"/>
                <a:cs typeface="Calibri"/>
              </a:rPr>
              <a:t>	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08831" y="3475989"/>
            <a:ext cx="80645" cy="1195070"/>
          </a:xfrm>
          <a:custGeom>
            <a:avLst/>
            <a:gdLst/>
            <a:ahLst/>
            <a:cxnLst/>
            <a:rect l="l" t="t" r="r" b="b"/>
            <a:pathLst>
              <a:path w="80645" h="1195070">
                <a:moveTo>
                  <a:pt x="80518" y="0"/>
                </a:moveTo>
                <a:lnTo>
                  <a:pt x="0" y="0"/>
                </a:lnTo>
                <a:lnTo>
                  <a:pt x="0" y="16510"/>
                </a:lnTo>
                <a:lnTo>
                  <a:pt x="50546" y="16510"/>
                </a:lnTo>
                <a:lnTo>
                  <a:pt x="50546" y="1178560"/>
                </a:lnTo>
                <a:lnTo>
                  <a:pt x="0" y="1178560"/>
                </a:lnTo>
                <a:lnTo>
                  <a:pt x="0" y="1195070"/>
                </a:lnTo>
                <a:lnTo>
                  <a:pt x="80518" y="1195070"/>
                </a:lnTo>
                <a:lnTo>
                  <a:pt x="80518" y="1178560"/>
                </a:lnTo>
                <a:lnTo>
                  <a:pt x="80518" y="16510"/>
                </a:lnTo>
                <a:lnTo>
                  <a:pt x="80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4950" y="3475989"/>
            <a:ext cx="80645" cy="1195070"/>
          </a:xfrm>
          <a:custGeom>
            <a:avLst/>
            <a:gdLst/>
            <a:ahLst/>
            <a:cxnLst/>
            <a:rect l="l" t="t" r="r" b="b"/>
            <a:pathLst>
              <a:path w="80644" h="1195070">
                <a:moveTo>
                  <a:pt x="80518" y="0"/>
                </a:moveTo>
                <a:lnTo>
                  <a:pt x="0" y="0"/>
                </a:lnTo>
                <a:lnTo>
                  <a:pt x="0" y="16510"/>
                </a:lnTo>
                <a:lnTo>
                  <a:pt x="0" y="1178560"/>
                </a:lnTo>
                <a:lnTo>
                  <a:pt x="0" y="1195070"/>
                </a:lnTo>
                <a:lnTo>
                  <a:pt x="80518" y="1195070"/>
                </a:lnTo>
                <a:lnTo>
                  <a:pt x="80518" y="1178560"/>
                </a:lnTo>
                <a:lnTo>
                  <a:pt x="29972" y="1178560"/>
                </a:lnTo>
                <a:lnTo>
                  <a:pt x="29972" y="16510"/>
                </a:lnTo>
                <a:lnTo>
                  <a:pt x="80518" y="16510"/>
                </a:lnTo>
                <a:lnTo>
                  <a:pt x="80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78228" y="3381946"/>
            <a:ext cx="2538095" cy="1344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10"/>
              </a:lnSpc>
              <a:spcBef>
                <a:spcPts val="100"/>
              </a:spcBef>
              <a:tabLst>
                <a:tab pos="447040" algn="l"/>
                <a:tab pos="1191260" algn="l"/>
                <a:tab pos="1833880" algn="l"/>
                <a:tab pos="2369820" algn="l"/>
              </a:tabLst>
            </a:pPr>
            <a:r>
              <a:rPr sz="2200" spc="-50" dirty="0">
                <a:latin typeface="Cambria Math"/>
                <a:cs typeface="Cambria Math"/>
              </a:rPr>
              <a:t>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−2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3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580"/>
              </a:lnSpc>
              <a:tabLst>
                <a:tab pos="447040" algn="l"/>
                <a:tab pos="1087120" algn="l"/>
                <a:tab pos="1729739" algn="l"/>
                <a:tab pos="2369820" algn="l"/>
              </a:tabLst>
            </a:pPr>
            <a:r>
              <a:rPr sz="2200" spc="-50" dirty="0">
                <a:latin typeface="Cambria Math"/>
                <a:cs typeface="Cambria Math"/>
              </a:rPr>
              <a:t>2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−5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−3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−2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6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580"/>
              </a:lnSpc>
              <a:tabLst>
                <a:tab pos="551180" algn="l"/>
                <a:tab pos="1115060" algn="l"/>
                <a:tab pos="1757680" algn="l"/>
                <a:tab pos="2369820" algn="l"/>
              </a:tabLst>
            </a:pP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5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15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10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610"/>
              </a:lnSpc>
              <a:tabLst>
                <a:tab pos="551180" algn="l"/>
                <a:tab pos="1115060" algn="l"/>
                <a:tab pos="1833880" algn="l"/>
                <a:tab pos="2369820" algn="l"/>
              </a:tabLst>
            </a:pPr>
            <a:r>
              <a:rPr sz="2200" spc="-50" dirty="0">
                <a:latin typeface="Cambria Math"/>
                <a:cs typeface="Cambria Math"/>
              </a:rPr>
              <a:t>2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6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18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8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6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98390" y="3637660"/>
            <a:ext cx="791210" cy="57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890">
              <a:lnSpc>
                <a:spcPts val="2415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OBE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1935"/>
              </a:lnSpc>
              <a:tabLst>
                <a:tab pos="311785" algn="l"/>
              </a:tabLst>
            </a:pPr>
            <a:r>
              <a:rPr sz="2000" spc="-50" dirty="0">
                <a:latin typeface="Calibri"/>
                <a:cs typeface="Calibri"/>
              </a:rPr>
              <a:t>~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dirty="0">
                <a:latin typeface="Cambria Math"/>
                <a:cs typeface="Cambria Math"/>
              </a:rPr>
              <a:t>…</a:t>
            </a:r>
            <a:r>
              <a:rPr sz="2000" spc="434" dirty="0">
                <a:latin typeface="Cambria Math"/>
                <a:cs typeface="Cambria Math"/>
              </a:rPr>
              <a:t> </a:t>
            </a:r>
            <a:r>
              <a:rPr sz="2000" spc="-60" dirty="0">
                <a:latin typeface="Calibri"/>
                <a:cs typeface="Calibri"/>
              </a:rPr>
              <a:t>~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60207" y="4740909"/>
            <a:ext cx="88265" cy="17780"/>
          </a:xfrm>
          <a:custGeom>
            <a:avLst/>
            <a:gdLst/>
            <a:ahLst/>
            <a:cxnLst/>
            <a:rect l="l" t="t" r="r" b="b"/>
            <a:pathLst>
              <a:path w="88265" h="17779">
                <a:moveTo>
                  <a:pt x="0" y="17780"/>
                </a:moveTo>
                <a:lnTo>
                  <a:pt x="87884" y="17780"/>
                </a:lnTo>
                <a:lnTo>
                  <a:pt x="87884" y="0"/>
                </a:lnTo>
                <a:lnTo>
                  <a:pt x="0" y="0"/>
                </a:lnTo>
                <a:lnTo>
                  <a:pt x="0" y="17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71972" y="4740909"/>
            <a:ext cx="88265" cy="17780"/>
          </a:xfrm>
          <a:custGeom>
            <a:avLst/>
            <a:gdLst/>
            <a:ahLst/>
            <a:cxnLst/>
            <a:rect l="l" t="t" r="r" b="b"/>
            <a:pathLst>
              <a:path w="88264" h="17779">
                <a:moveTo>
                  <a:pt x="0" y="17780"/>
                </a:moveTo>
                <a:lnTo>
                  <a:pt x="87756" y="17780"/>
                </a:lnTo>
                <a:lnTo>
                  <a:pt x="87756" y="0"/>
                </a:lnTo>
                <a:lnTo>
                  <a:pt x="0" y="0"/>
                </a:lnTo>
                <a:lnTo>
                  <a:pt x="0" y="17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371972" y="3434493"/>
          <a:ext cx="2552700" cy="1376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145"/>
                <a:gridCol w="701040"/>
                <a:gridCol w="471805"/>
                <a:gridCol w="473075"/>
                <a:gridCol w="396239"/>
              </a:tblGrid>
              <a:tr h="330200">
                <a:tc>
                  <a:txBody>
                    <a:bodyPr/>
                    <a:lstStyle/>
                    <a:p>
                      <a:pPr marR="66040" algn="ctr">
                        <a:lnSpc>
                          <a:spcPts val="23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ts val="23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R="66040"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R="66040"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marR="66040" algn="ctr">
                        <a:lnSpc>
                          <a:spcPts val="25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ts val="25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7760207" y="3455670"/>
            <a:ext cx="88265" cy="16510"/>
          </a:xfrm>
          <a:custGeom>
            <a:avLst/>
            <a:gdLst/>
            <a:ahLst/>
            <a:cxnLst/>
            <a:rect l="l" t="t" r="r" b="b"/>
            <a:pathLst>
              <a:path w="88265" h="16510">
                <a:moveTo>
                  <a:pt x="0" y="16510"/>
                </a:moveTo>
                <a:lnTo>
                  <a:pt x="87884" y="16510"/>
                </a:lnTo>
                <a:lnTo>
                  <a:pt x="87884" y="0"/>
                </a:lnTo>
                <a:lnTo>
                  <a:pt x="0" y="0"/>
                </a:lnTo>
                <a:lnTo>
                  <a:pt x="0" y="16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71972" y="3455670"/>
            <a:ext cx="88265" cy="16510"/>
          </a:xfrm>
          <a:custGeom>
            <a:avLst/>
            <a:gdLst/>
            <a:ahLst/>
            <a:cxnLst/>
            <a:rect l="l" t="t" r="r" b="b"/>
            <a:pathLst>
              <a:path w="88264" h="16510">
                <a:moveTo>
                  <a:pt x="0" y="16510"/>
                </a:moveTo>
                <a:lnTo>
                  <a:pt x="87756" y="16510"/>
                </a:lnTo>
                <a:lnTo>
                  <a:pt x="87756" y="0"/>
                </a:lnTo>
                <a:lnTo>
                  <a:pt x="0" y="0"/>
                </a:lnTo>
                <a:lnTo>
                  <a:pt x="0" y="16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940675" y="3875404"/>
            <a:ext cx="409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Calibri Light"/>
                <a:cs typeface="Calibri Light"/>
              </a:rPr>
              <a:t>Rank</a:t>
            </a:r>
            <a:r>
              <a:rPr sz="4400" spc="-220" dirty="0">
                <a:latin typeface="Calibri Light"/>
                <a:cs typeface="Calibri Light"/>
              </a:rPr>
              <a:t> </a:t>
            </a:r>
            <a:r>
              <a:rPr sz="4400" dirty="0">
                <a:latin typeface="Calibri Light"/>
                <a:cs typeface="Calibri Light"/>
              </a:rPr>
              <a:t>dan</a:t>
            </a:r>
            <a:r>
              <a:rPr sz="4400" spc="-235" dirty="0">
                <a:latin typeface="Calibri Light"/>
                <a:cs typeface="Calibri Light"/>
              </a:rPr>
              <a:t> </a:t>
            </a:r>
            <a:r>
              <a:rPr sz="4400" spc="-10" dirty="0">
                <a:latin typeface="Calibri Light"/>
                <a:cs typeface="Calibri Light"/>
              </a:rPr>
              <a:t>Nullity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57" y="1793621"/>
            <a:ext cx="10159365" cy="2753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2740660" algn="l"/>
              </a:tabLst>
            </a:pPr>
            <a:r>
              <a:rPr sz="2800" i="1" dirty="0">
                <a:latin typeface="Calibri"/>
                <a:cs typeface="Calibri"/>
              </a:rPr>
              <a:t>Rank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ditulis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sebagai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rank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didefinisikan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sebagai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dimensi </a:t>
            </a:r>
            <a:r>
              <a:rPr sz="2800" dirty="0">
                <a:latin typeface="Calibri"/>
                <a:cs typeface="Calibri"/>
              </a:rPr>
              <a:t>ruang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baris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atau</a:t>
            </a:r>
            <a:r>
              <a:rPr sz="2800" dirty="0">
                <a:latin typeface="Calibri"/>
                <a:cs typeface="Calibri"/>
              </a:rPr>
              <a:t>	dimensi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ruang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kolom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Ingat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kembali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bahwa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ruang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baris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ruang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kolom</a:t>
            </a:r>
            <a:endParaRPr sz="2800">
              <a:latin typeface="Calibri"/>
              <a:cs typeface="Calibri"/>
            </a:endParaRPr>
          </a:p>
          <a:p>
            <a:pPr marL="241300" marR="773430" indent="-228600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dirty="0">
                <a:latin typeface="Calibri"/>
                <a:cs typeface="Calibri"/>
              </a:rPr>
              <a:t>Nullity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ditulis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sebagai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nullity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didefinisikan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sebagai </a:t>
            </a:r>
            <a:r>
              <a:rPr sz="2800" dirty="0">
                <a:latin typeface="Calibri"/>
                <a:cs typeface="Calibri"/>
              </a:rPr>
              <a:t>dimensi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ruang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null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dari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Untuk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matriks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dengan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n</a:t>
            </a:r>
            <a:r>
              <a:rPr sz="2800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kolom,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berlaku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hubungan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sbb: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800" y="4919979"/>
            <a:ext cx="3309620" cy="58420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210"/>
              </a:spcBef>
            </a:pPr>
            <a:r>
              <a:rPr sz="2400" i="1" dirty="0">
                <a:latin typeface="Calibri"/>
                <a:cs typeface="Calibri"/>
              </a:rPr>
              <a:t>rank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nullity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57" y="738663"/>
            <a:ext cx="10302240" cy="263842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Rank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matriks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juga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dapat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diartikan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juga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sebagai</a:t>
            </a:r>
            <a:endParaRPr sz="2400">
              <a:latin typeface="Calibri"/>
              <a:cs typeface="Calibri"/>
            </a:endParaRPr>
          </a:p>
          <a:p>
            <a:pPr marL="287020">
              <a:lnSpc>
                <a:spcPct val="100000"/>
              </a:lnSpc>
              <a:spcBef>
                <a:spcPts val="720"/>
              </a:spcBef>
              <a:tabLst>
                <a:tab pos="8708390" algn="l"/>
              </a:tabLst>
            </a:pPr>
            <a:r>
              <a:rPr sz="2400" dirty="0">
                <a:latin typeface="Calibri"/>
                <a:cs typeface="Calibri"/>
              </a:rPr>
              <a:t>=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jumlah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tidak-</a:t>
            </a:r>
            <a:r>
              <a:rPr sz="2400" dirty="0">
                <a:latin typeface="Calibri"/>
                <a:cs typeface="Calibri"/>
              </a:rPr>
              <a:t>nol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matriks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eselon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dari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hasil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reduksi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baris</a:t>
            </a:r>
            <a:r>
              <a:rPr sz="2400" dirty="0">
                <a:latin typeface="Calibri"/>
                <a:cs typeface="Calibri"/>
              </a:rPr>
              <a:t>	matriks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A.</a:t>
            </a:r>
            <a:endParaRPr sz="2400">
              <a:latin typeface="Calibri"/>
              <a:cs typeface="Calibri"/>
            </a:endParaRPr>
          </a:p>
          <a:p>
            <a:pPr marL="287020">
              <a:lnSpc>
                <a:spcPct val="100000"/>
              </a:lnSpc>
              <a:spcBef>
                <a:spcPts val="700"/>
              </a:spcBef>
              <a:tabLst>
                <a:tab pos="574040" algn="l"/>
              </a:tabLst>
            </a:pPr>
            <a:r>
              <a:rPr sz="2400" spc="-50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jumlah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utama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(variable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non-parameter)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solusi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umum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Ax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4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Nullity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dapat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diartikan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sebagai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jumlah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parameter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dalam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solusi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umum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40"/>
              </a:lnSpc>
            </a:pPr>
            <a:r>
              <a:rPr sz="2400" dirty="0">
                <a:latin typeface="Calibri"/>
                <a:cs typeface="Calibri"/>
              </a:rPr>
              <a:t>Ax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539" y="4063504"/>
            <a:ext cx="10408920" cy="156563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Contoh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6: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dirty="0"/>
              <a:t>Tinjau</a:t>
            </a:r>
            <a:r>
              <a:rPr sz="2800" spc="-50" dirty="0"/>
              <a:t> </a:t>
            </a:r>
            <a:r>
              <a:rPr sz="2800" dirty="0"/>
              <a:t>kembali</a:t>
            </a:r>
            <a:r>
              <a:rPr sz="2800" spc="-55" dirty="0"/>
              <a:t> </a:t>
            </a:r>
            <a:r>
              <a:rPr sz="2800" dirty="0"/>
              <a:t>matriks</a:t>
            </a:r>
            <a:r>
              <a:rPr sz="2800" spc="-70" dirty="0"/>
              <a:t> </a:t>
            </a:r>
            <a:r>
              <a:rPr sz="2800" dirty="0"/>
              <a:t>A</a:t>
            </a:r>
            <a:r>
              <a:rPr sz="2800" spc="-40" dirty="0"/>
              <a:t> </a:t>
            </a:r>
            <a:r>
              <a:rPr sz="2800" dirty="0"/>
              <a:t>pada</a:t>
            </a:r>
            <a:r>
              <a:rPr sz="2800" spc="-50" dirty="0"/>
              <a:t> </a:t>
            </a:r>
            <a:r>
              <a:rPr sz="2800" dirty="0"/>
              <a:t>Contoh</a:t>
            </a:r>
            <a:r>
              <a:rPr sz="2800" spc="-70" dirty="0"/>
              <a:t> </a:t>
            </a:r>
            <a:r>
              <a:rPr sz="2800" spc="-50" dirty="0"/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57" y="3220402"/>
            <a:ext cx="10541000" cy="27597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0200"/>
              </a:lnSpc>
              <a:spcBef>
                <a:spcPts val="430"/>
              </a:spcBef>
              <a:tabLst>
                <a:tab pos="4350385" algn="l"/>
              </a:tabLst>
            </a:pPr>
            <a:r>
              <a:rPr sz="2800" dirty="0">
                <a:latin typeface="Calibri"/>
                <a:cs typeface="Calibri"/>
              </a:rPr>
              <a:t>Ukuran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mariks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adalah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</a:t>
            </a:r>
            <a:r>
              <a:rPr sz="2800" spc="-50" dirty="0">
                <a:latin typeface="Calibri"/>
                <a:cs typeface="Calibri"/>
              </a:rPr>
              <a:t> 6</a:t>
            </a:r>
            <a:r>
              <a:rPr sz="2800" dirty="0">
                <a:latin typeface="Calibri"/>
                <a:cs typeface="Calibri"/>
              </a:rPr>
              <a:t>	(m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6).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Sudah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dihitung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Contoh </a:t>
            </a:r>
            <a:r>
              <a:rPr sz="2800" dirty="0">
                <a:latin typeface="Calibri"/>
                <a:cs typeface="Calibri"/>
              </a:rPr>
              <a:t>4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bahwa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ruang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baris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dimensi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ruang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kolom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dimensi </a:t>
            </a:r>
            <a:r>
              <a:rPr sz="2800" dirty="0">
                <a:latin typeface="Calibri"/>
                <a:cs typeface="Calibri"/>
              </a:rPr>
              <a:t>ruang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null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maka</a:t>
            </a:r>
            <a:endParaRPr sz="28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660"/>
              </a:spcBef>
            </a:pPr>
            <a:r>
              <a:rPr sz="2800" spc="-10" dirty="0">
                <a:latin typeface="Calibri"/>
                <a:cs typeface="Calibri"/>
              </a:rPr>
              <a:t>rank(A)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latin typeface="Calibri"/>
                <a:cs typeface="Calibri"/>
              </a:rPr>
              <a:t>nullity(A)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705"/>
              </a:spcBef>
              <a:tabLst>
                <a:tab pos="4415155" algn="l"/>
              </a:tabLst>
            </a:pPr>
            <a:r>
              <a:rPr sz="2800" spc="-10" dirty="0">
                <a:latin typeface="Calibri"/>
                <a:cs typeface="Calibri"/>
              </a:rPr>
              <a:t>rank(A)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nullity(A)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dirty="0">
                <a:latin typeface="Symbol"/>
                <a:cs typeface="Symbol"/>
              </a:rPr>
              <a:t>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+ 3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 </a:t>
            </a:r>
            <a:r>
              <a:rPr sz="2800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8060" y="1875091"/>
            <a:ext cx="3905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=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63561" y="2670810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0" y="16510"/>
                </a:moveTo>
                <a:lnTo>
                  <a:pt x="80391" y="16510"/>
                </a:lnTo>
                <a:lnTo>
                  <a:pt x="80391" y="0"/>
                </a:lnTo>
                <a:lnTo>
                  <a:pt x="0" y="0"/>
                </a:lnTo>
                <a:lnTo>
                  <a:pt x="0" y="16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00373" y="2670810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0" y="16510"/>
                </a:moveTo>
                <a:lnTo>
                  <a:pt x="80517" y="16510"/>
                </a:lnTo>
                <a:lnTo>
                  <a:pt x="80517" y="0"/>
                </a:lnTo>
                <a:lnTo>
                  <a:pt x="0" y="0"/>
                </a:lnTo>
                <a:lnTo>
                  <a:pt x="0" y="16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00373" y="1475202"/>
          <a:ext cx="3820160" cy="1261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675"/>
                <a:gridCol w="641985"/>
                <a:gridCol w="641985"/>
                <a:gridCol w="641984"/>
                <a:gridCol w="641985"/>
                <a:gridCol w="574039"/>
              </a:tblGrid>
              <a:tr h="303530">
                <a:tc>
                  <a:txBody>
                    <a:bodyPr/>
                    <a:lstStyle/>
                    <a:p>
                      <a:pPr marR="60325" algn="ctr">
                        <a:lnSpc>
                          <a:spcPts val="215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15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15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215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R="60325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4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4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8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R="60325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4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−6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4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9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7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marR="60325"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−5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7163561" y="1492250"/>
            <a:ext cx="80645" cy="15240"/>
          </a:xfrm>
          <a:custGeom>
            <a:avLst/>
            <a:gdLst/>
            <a:ahLst/>
            <a:cxnLst/>
            <a:rect l="l" t="t" r="r" b="b"/>
            <a:pathLst>
              <a:path w="80645" h="15240">
                <a:moveTo>
                  <a:pt x="0" y="15239"/>
                </a:moveTo>
                <a:lnTo>
                  <a:pt x="80391" y="15239"/>
                </a:lnTo>
                <a:lnTo>
                  <a:pt x="80391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00373" y="1492250"/>
            <a:ext cx="80645" cy="15240"/>
          </a:xfrm>
          <a:custGeom>
            <a:avLst/>
            <a:gdLst/>
            <a:ahLst/>
            <a:cxnLst/>
            <a:rect l="l" t="t" r="r" b="b"/>
            <a:pathLst>
              <a:path w="80645" h="15240">
                <a:moveTo>
                  <a:pt x="0" y="15239"/>
                </a:moveTo>
                <a:lnTo>
                  <a:pt x="80517" y="15239"/>
                </a:lnTo>
                <a:lnTo>
                  <a:pt x="80517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8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Contoh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17</a:t>
            </a:r>
            <a:r>
              <a:rPr sz="2800" dirty="0"/>
              <a:t>:</a:t>
            </a:r>
            <a:r>
              <a:rPr sz="2800" spc="-20" dirty="0"/>
              <a:t> </a:t>
            </a:r>
            <a:r>
              <a:rPr sz="2800" spc="-35" dirty="0"/>
              <a:t>Tentukan</a:t>
            </a:r>
            <a:r>
              <a:rPr sz="2800" spc="-85" dirty="0"/>
              <a:t> </a:t>
            </a:r>
            <a:r>
              <a:rPr sz="2800" i="1" dirty="0">
                <a:latin typeface="Calibri"/>
                <a:cs typeface="Calibri"/>
              </a:rPr>
              <a:t>rank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dirty="0"/>
              <a:t>dan</a:t>
            </a:r>
            <a:r>
              <a:rPr sz="2800" spc="-45" dirty="0"/>
              <a:t> </a:t>
            </a:r>
            <a:r>
              <a:rPr sz="2800" i="1" dirty="0">
                <a:latin typeface="Calibri"/>
                <a:cs typeface="Calibri"/>
              </a:rPr>
              <a:t>nullity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dirty="0"/>
              <a:t>matriks</a:t>
            </a:r>
            <a:r>
              <a:rPr sz="2800" spc="-65" dirty="0"/>
              <a:t> </a:t>
            </a:r>
            <a:r>
              <a:rPr sz="2800" dirty="0"/>
              <a:t>A</a:t>
            </a:r>
            <a:r>
              <a:rPr sz="2800" spc="-35" dirty="0"/>
              <a:t> </a:t>
            </a:r>
            <a:r>
              <a:rPr sz="2800" spc="-10" dirty="0"/>
              <a:t>berikut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57" y="1913191"/>
            <a:ext cx="2532380" cy="1261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Jawaban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57" y="5287962"/>
            <a:ext cx="10285095" cy="11766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ts val="2580"/>
              </a:lnSpc>
              <a:spcBef>
                <a:spcPts val="434"/>
              </a:spcBef>
              <a:tabLst>
                <a:tab pos="6290310" algn="l"/>
              </a:tabLst>
            </a:pPr>
            <a:r>
              <a:rPr sz="2400" i="1" dirty="0">
                <a:latin typeface="Calibri"/>
                <a:cs typeface="Calibri"/>
              </a:rPr>
              <a:t>Rank</a:t>
            </a:r>
            <a:r>
              <a:rPr sz="2400" dirty="0">
                <a:latin typeface="Calibri"/>
                <a:cs typeface="Calibri"/>
              </a:rPr>
              <a:t>(A)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juga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dapat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dihitung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dari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jumlah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tidak-</a:t>
            </a:r>
            <a:r>
              <a:rPr sz="2400" dirty="0">
                <a:latin typeface="Calibri"/>
                <a:cs typeface="Calibri"/>
              </a:rPr>
              <a:t>nol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matriks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hasil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OBE.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Ada </a:t>
            </a:r>
            <a:r>
              <a:rPr sz="2400" dirty="0">
                <a:latin typeface="Calibri"/>
                <a:cs typeface="Calibri"/>
              </a:rPr>
              <a:t>dua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tidak-</a:t>
            </a:r>
            <a:r>
              <a:rPr sz="2400" dirty="0">
                <a:latin typeface="Calibri"/>
                <a:cs typeface="Calibri"/>
              </a:rPr>
              <a:t>nol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pada matriks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hasil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atas,</a:t>
            </a:r>
            <a:r>
              <a:rPr sz="2400" dirty="0">
                <a:latin typeface="Calibri"/>
                <a:cs typeface="Calibri"/>
              </a:rPr>
              <a:t>	maka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rank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2633980" algn="l"/>
              </a:tabLst>
            </a:pPr>
            <a:r>
              <a:rPr sz="2400" i="1" dirty="0">
                <a:latin typeface="Calibri"/>
                <a:cs typeface="Calibri"/>
              </a:rPr>
              <a:t>Nullity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dihitung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sbb: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i="1" dirty="0">
                <a:latin typeface="Calibri"/>
                <a:cs typeface="Calibri"/>
              </a:rPr>
              <a:t>nullity</a:t>
            </a:r>
            <a:r>
              <a:rPr sz="2400" dirty="0">
                <a:latin typeface="Calibri"/>
                <a:cs typeface="Calibri"/>
              </a:rPr>
              <a:t>(A)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rank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08850" y="2780029"/>
            <a:ext cx="88265" cy="17780"/>
          </a:xfrm>
          <a:custGeom>
            <a:avLst/>
            <a:gdLst/>
            <a:ahLst/>
            <a:cxnLst/>
            <a:rect l="l" t="t" r="r" b="b"/>
            <a:pathLst>
              <a:path w="88265" h="17780">
                <a:moveTo>
                  <a:pt x="0" y="17779"/>
                </a:moveTo>
                <a:lnTo>
                  <a:pt x="87756" y="17779"/>
                </a:lnTo>
                <a:lnTo>
                  <a:pt x="87756" y="0"/>
                </a:lnTo>
                <a:lnTo>
                  <a:pt x="0" y="0"/>
                </a:lnTo>
                <a:lnTo>
                  <a:pt x="0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38728" y="2780029"/>
            <a:ext cx="88265" cy="17780"/>
          </a:xfrm>
          <a:custGeom>
            <a:avLst/>
            <a:gdLst/>
            <a:ahLst/>
            <a:cxnLst/>
            <a:rect l="l" t="t" r="r" b="b"/>
            <a:pathLst>
              <a:path w="88264" h="17780">
                <a:moveTo>
                  <a:pt x="0" y="17779"/>
                </a:moveTo>
                <a:lnTo>
                  <a:pt x="87884" y="17779"/>
                </a:lnTo>
                <a:lnTo>
                  <a:pt x="87884" y="0"/>
                </a:lnTo>
                <a:lnTo>
                  <a:pt x="0" y="0"/>
                </a:lnTo>
                <a:lnTo>
                  <a:pt x="0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38728" y="1475765"/>
          <a:ext cx="3934460" cy="1376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015"/>
                <a:gridCol w="699770"/>
                <a:gridCol w="472439"/>
                <a:gridCol w="701039"/>
                <a:gridCol w="699769"/>
                <a:gridCol w="623569"/>
              </a:tblGrid>
              <a:tr h="331470">
                <a:tc>
                  <a:txBody>
                    <a:bodyPr/>
                    <a:lstStyle/>
                    <a:p>
                      <a:pPr marR="62865" algn="ctr">
                        <a:lnSpc>
                          <a:spcPts val="234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ts val="234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marR="67945"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−7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R="67945"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−5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6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R="67945" algn="ctr">
                        <a:lnSpc>
                          <a:spcPts val="25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−9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0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5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7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7308850" y="1494789"/>
            <a:ext cx="88265" cy="16510"/>
          </a:xfrm>
          <a:custGeom>
            <a:avLst/>
            <a:gdLst/>
            <a:ahLst/>
            <a:cxnLst/>
            <a:rect l="l" t="t" r="r" b="b"/>
            <a:pathLst>
              <a:path w="88265" h="16509">
                <a:moveTo>
                  <a:pt x="0" y="16510"/>
                </a:moveTo>
                <a:lnTo>
                  <a:pt x="87756" y="16510"/>
                </a:lnTo>
                <a:lnTo>
                  <a:pt x="87756" y="0"/>
                </a:lnTo>
                <a:lnTo>
                  <a:pt x="0" y="0"/>
                </a:lnTo>
                <a:lnTo>
                  <a:pt x="0" y="16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38728" y="1494789"/>
            <a:ext cx="88265" cy="16510"/>
          </a:xfrm>
          <a:custGeom>
            <a:avLst/>
            <a:gdLst/>
            <a:ahLst/>
            <a:cxnLst/>
            <a:rect l="l" t="t" r="r" b="b"/>
            <a:pathLst>
              <a:path w="88264" h="16509">
                <a:moveTo>
                  <a:pt x="0" y="16510"/>
                </a:moveTo>
                <a:lnTo>
                  <a:pt x="87884" y="16510"/>
                </a:lnTo>
                <a:lnTo>
                  <a:pt x="87884" y="0"/>
                </a:lnTo>
                <a:lnTo>
                  <a:pt x="0" y="0"/>
                </a:lnTo>
                <a:lnTo>
                  <a:pt x="0" y="16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25440" y="3425189"/>
            <a:ext cx="88265" cy="1303020"/>
          </a:xfrm>
          <a:custGeom>
            <a:avLst/>
            <a:gdLst/>
            <a:ahLst/>
            <a:cxnLst/>
            <a:rect l="l" t="t" r="r" b="b"/>
            <a:pathLst>
              <a:path w="88264" h="1303020">
                <a:moveTo>
                  <a:pt x="87757" y="0"/>
                </a:moveTo>
                <a:lnTo>
                  <a:pt x="0" y="0"/>
                </a:lnTo>
                <a:lnTo>
                  <a:pt x="0" y="16510"/>
                </a:lnTo>
                <a:lnTo>
                  <a:pt x="55118" y="16510"/>
                </a:lnTo>
                <a:lnTo>
                  <a:pt x="55118" y="1285240"/>
                </a:lnTo>
                <a:lnTo>
                  <a:pt x="0" y="1285240"/>
                </a:lnTo>
                <a:lnTo>
                  <a:pt x="0" y="1303020"/>
                </a:lnTo>
                <a:lnTo>
                  <a:pt x="87757" y="1303020"/>
                </a:lnTo>
                <a:lnTo>
                  <a:pt x="87757" y="1285240"/>
                </a:lnTo>
                <a:lnTo>
                  <a:pt x="87757" y="16510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5318" y="3425189"/>
            <a:ext cx="88265" cy="1303020"/>
          </a:xfrm>
          <a:custGeom>
            <a:avLst/>
            <a:gdLst/>
            <a:ahLst/>
            <a:cxnLst/>
            <a:rect l="l" t="t" r="r" b="b"/>
            <a:pathLst>
              <a:path w="88264" h="1303020">
                <a:moveTo>
                  <a:pt x="87884" y="0"/>
                </a:moveTo>
                <a:lnTo>
                  <a:pt x="0" y="0"/>
                </a:lnTo>
                <a:lnTo>
                  <a:pt x="0" y="16510"/>
                </a:lnTo>
                <a:lnTo>
                  <a:pt x="0" y="1285240"/>
                </a:lnTo>
                <a:lnTo>
                  <a:pt x="0" y="1303020"/>
                </a:lnTo>
                <a:lnTo>
                  <a:pt x="87884" y="1303020"/>
                </a:lnTo>
                <a:lnTo>
                  <a:pt x="87884" y="1285240"/>
                </a:lnTo>
                <a:lnTo>
                  <a:pt x="32766" y="1285240"/>
                </a:lnTo>
                <a:lnTo>
                  <a:pt x="32766" y="16510"/>
                </a:lnTo>
                <a:lnTo>
                  <a:pt x="87884" y="16510"/>
                </a:lnTo>
                <a:lnTo>
                  <a:pt x="878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671701" y="3404641"/>
          <a:ext cx="8976995" cy="1379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015"/>
                <a:gridCol w="700404"/>
                <a:gridCol w="473075"/>
                <a:gridCol w="701675"/>
                <a:gridCol w="700405"/>
                <a:gridCol w="624204"/>
                <a:gridCol w="1199514"/>
                <a:gridCol w="401320"/>
                <a:gridCol w="472439"/>
                <a:gridCol w="701040"/>
                <a:gridCol w="868045"/>
                <a:gridCol w="867409"/>
                <a:gridCol w="564515"/>
              </a:tblGrid>
              <a:tr h="1071880">
                <a:tc>
                  <a:txBody>
                    <a:bodyPr/>
                    <a:lstStyle/>
                    <a:p>
                      <a:pPr marL="79375">
                        <a:lnSpc>
                          <a:spcPts val="233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91135">
                        <a:lnSpc>
                          <a:spcPts val="28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91135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2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−7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−5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1130">
                        <a:lnSpc>
                          <a:spcPts val="28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1130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6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233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264795">
                        <a:lnSpc>
                          <a:spcPts val="28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264795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24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OBE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3204">
                        <a:lnSpc>
                          <a:spcPct val="100000"/>
                        </a:lnSpc>
                        <a:spcBef>
                          <a:spcPts val="270"/>
                        </a:spcBef>
                        <a:tabLst>
                          <a:tab pos="542925" algn="l"/>
                        </a:tabLst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~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…</a:t>
                      </a:r>
                      <a:r>
                        <a:rPr sz="2000" spc="43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~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80645">
                        <a:lnSpc>
                          <a:spcPts val="28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80645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1765">
                        <a:lnSpc>
                          <a:spcPts val="28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1765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1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−28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1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−12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0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−37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81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−16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230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13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236854">
                        <a:lnSpc>
                          <a:spcPts val="28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236854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</a:tr>
              <a:tr h="307340">
                <a:tc>
                  <a:txBody>
                    <a:bodyPr/>
                    <a:lstStyle/>
                    <a:p>
                      <a:pPr marL="191135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232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−9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2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232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7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44145" algn="r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10500868" y="3425189"/>
            <a:ext cx="88265" cy="1303020"/>
          </a:xfrm>
          <a:custGeom>
            <a:avLst/>
            <a:gdLst/>
            <a:ahLst/>
            <a:cxnLst/>
            <a:rect l="l" t="t" r="r" b="b"/>
            <a:pathLst>
              <a:path w="88265" h="1303020">
                <a:moveTo>
                  <a:pt x="87757" y="0"/>
                </a:moveTo>
                <a:lnTo>
                  <a:pt x="0" y="0"/>
                </a:lnTo>
                <a:lnTo>
                  <a:pt x="0" y="16510"/>
                </a:lnTo>
                <a:lnTo>
                  <a:pt x="54991" y="16510"/>
                </a:lnTo>
                <a:lnTo>
                  <a:pt x="54991" y="1285240"/>
                </a:lnTo>
                <a:lnTo>
                  <a:pt x="0" y="1285240"/>
                </a:lnTo>
                <a:lnTo>
                  <a:pt x="0" y="1303020"/>
                </a:lnTo>
                <a:lnTo>
                  <a:pt x="87757" y="1303020"/>
                </a:lnTo>
                <a:lnTo>
                  <a:pt x="87757" y="1285240"/>
                </a:lnTo>
                <a:lnTo>
                  <a:pt x="87757" y="16510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79946" y="3425189"/>
            <a:ext cx="88265" cy="1303020"/>
          </a:xfrm>
          <a:custGeom>
            <a:avLst/>
            <a:gdLst/>
            <a:ahLst/>
            <a:cxnLst/>
            <a:rect l="l" t="t" r="r" b="b"/>
            <a:pathLst>
              <a:path w="88265" h="1303020">
                <a:moveTo>
                  <a:pt x="87884" y="0"/>
                </a:moveTo>
                <a:lnTo>
                  <a:pt x="0" y="0"/>
                </a:lnTo>
                <a:lnTo>
                  <a:pt x="0" y="16510"/>
                </a:lnTo>
                <a:lnTo>
                  <a:pt x="0" y="1285240"/>
                </a:lnTo>
                <a:lnTo>
                  <a:pt x="0" y="1303020"/>
                </a:lnTo>
                <a:lnTo>
                  <a:pt x="87884" y="1303020"/>
                </a:lnTo>
                <a:lnTo>
                  <a:pt x="87884" y="1285240"/>
                </a:lnTo>
                <a:lnTo>
                  <a:pt x="32766" y="1285240"/>
                </a:lnTo>
                <a:lnTo>
                  <a:pt x="32766" y="16510"/>
                </a:lnTo>
                <a:lnTo>
                  <a:pt x="87884" y="16510"/>
                </a:lnTo>
                <a:lnTo>
                  <a:pt x="878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Untuk</a:t>
            </a:r>
            <a:r>
              <a:rPr spc="-65" dirty="0"/>
              <a:t> </a:t>
            </a:r>
            <a:r>
              <a:rPr dirty="0"/>
              <a:t>membuktikan</a:t>
            </a:r>
            <a:r>
              <a:rPr spc="-70" dirty="0"/>
              <a:t> </a:t>
            </a:r>
            <a:r>
              <a:rPr dirty="0"/>
              <a:t>bahwa</a:t>
            </a:r>
            <a:r>
              <a:rPr spc="-60" dirty="0"/>
              <a:t> </a:t>
            </a:r>
            <a:r>
              <a:rPr i="1" dirty="0">
                <a:latin typeface="Calibri"/>
                <a:cs typeface="Calibri"/>
              </a:rPr>
              <a:t>nullity</a:t>
            </a:r>
            <a:r>
              <a:rPr dirty="0"/>
              <a:t>(A)</a:t>
            </a:r>
            <a:r>
              <a:rPr spc="-70" dirty="0"/>
              <a:t> </a:t>
            </a:r>
            <a:r>
              <a:rPr dirty="0"/>
              <a:t>=</a:t>
            </a:r>
            <a:r>
              <a:rPr spc="-45" dirty="0"/>
              <a:t> </a:t>
            </a:r>
            <a:r>
              <a:rPr dirty="0"/>
              <a:t>4,</a:t>
            </a:r>
            <a:r>
              <a:rPr spc="-40" dirty="0"/>
              <a:t> </a:t>
            </a:r>
            <a:r>
              <a:rPr dirty="0"/>
              <a:t>maka</a:t>
            </a:r>
            <a:r>
              <a:rPr spc="-75" dirty="0"/>
              <a:t> </a:t>
            </a:r>
            <a:r>
              <a:rPr dirty="0"/>
              <a:t>selesaikan</a:t>
            </a:r>
            <a:r>
              <a:rPr spc="-75" dirty="0"/>
              <a:t> </a:t>
            </a:r>
            <a:r>
              <a:rPr dirty="0"/>
              <a:t>terlebih</a:t>
            </a:r>
            <a:r>
              <a:rPr spc="-65" dirty="0"/>
              <a:t> </a:t>
            </a:r>
            <a:r>
              <a:rPr dirty="0"/>
              <a:t>dahulu</a:t>
            </a:r>
            <a:r>
              <a:rPr spc="-20" dirty="0"/>
              <a:t> </a:t>
            </a:r>
            <a:r>
              <a:rPr dirty="0"/>
              <a:t>A</a:t>
            </a:r>
            <a:r>
              <a:rPr b="1" dirty="0">
                <a:latin typeface="Calibri"/>
                <a:cs typeface="Calibri"/>
              </a:rPr>
              <a:t>x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spc="-25" dirty="0"/>
              <a:t>0,</a:t>
            </a:r>
          </a:p>
        </p:txBody>
      </p:sp>
      <p:sp>
        <p:nvSpPr>
          <p:cNvPr id="3" name="object 3"/>
          <p:cNvSpPr/>
          <p:nvPr/>
        </p:nvSpPr>
        <p:spPr>
          <a:xfrm>
            <a:off x="5368798" y="1607819"/>
            <a:ext cx="88265" cy="1303020"/>
          </a:xfrm>
          <a:custGeom>
            <a:avLst/>
            <a:gdLst/>
            <a:ahLst/>
            <a:cxnLst/>
            <a:rect l="l" t="t" r="r" b="b"/>
            <a:pathLst>
              <a:path w="88264" h="1303020">
                <a:moveTo>
                  <a:pt x="87757" y="0"/>
                </a:moveTo>
                <a:lnTo>
                  <a:pt x="0" y="0"/>
                </a:lnTo>
                <a:lnTo>
                  <a:pt x="0" y="16510"/>
                </a:lnTo>
                <a:lnTo>
                  <a:pt x="54991" y="16510"/>
                </a:lnTo>
                <a:lnTo>
                  <a:pt x="54991" y="1285240"/>
                </a:lnTo>
                <a:lnTo>
                  <a:pt x="0" y="1285240"/>
                </a:lnTo>
                <a:lnTo>
                  <a:pt x="0" y="1303020"/>
                </a:lnTo>
                <a:lnTo>
                  <a:pt x="87757" y="1303020"/>
                </a:lnTo>
                <a:lnTo>
                  <a:pt x="87757" y="1285240"/>
                </a:lnTo>
                <a:lnTo>
                  <a:pt x="87757" y="16510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6261" y="1607819"/>
            <a:ext cx="88265" cy="1303020"/>
          </a:xfrm>
          <a:custGeom>
            <a:avLst/>
            <a:gdLst/>
            <a:ahLst/>
            <a:cxnLst/>
            <a:rect l="l" t="t" r="r" b="b"/>
            <a:pathLst>
              <a:path w="88265" h="1303020">
                <a:moveTo>
                  <a:pt x="87807" y="0"/>
                </a:moveTo>
                <a:lnTo>
                  <a:pt x="0" y="0"/>
                </a:lnTo>
                <a:lnTo>
                  <a:pt x="0" y="16510"/>
                </a:lnTo>
                <a:lnTo>
                  <a:pt x="0" y="1285240"/>
                </a:lnTo>
                <a:lnTo>
                  <a:pt x="0" y="1303020"/>
                </a:lnTo>
                <a:lnTo>
                  <a:pt x="87807" y="1303020"/>
                </a:lnTo>
                <a:lnTo>
                  <a:pt x="87807" y="1285240"/>
                </a:lnTo>
                <a:lnTo>
                  <a:pt x="32740" y="1285240"/>
                </a:lnTo>
                <a:lnTo>
                  <a:pt x="32740" y="16510"/>
                </a:lnTo>
                <a:lnTo>
                  <a:pt x="87807" y="16510"/>
                </a:lnTo>
                <a:lnTo>
                  <a:pt x="87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42631" y="1586636"/>
          <a:ext cx="9909810" cy="1379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7380"/>
                <a:gridCol w="699770"/>
                <a:gridCol w="472439"/>
                <a:gridCol w="701039"/>
                <a:gridCol w="699769"/>
                <a:gridCol w="699769"/>
                <a:gridCol w="396239"/>
                <a:gridCol w="1187450"/>
                <a:gridCol w="401320"/>
                <a:gridCol w="472439"/>
                <a:gridCol w="701039"/>
                <a:gridCol w="868045"/>
                <a:gridCol w="867409"/>
                <a:gridCol w="640079"/>
                <a:gridCol w="396875"/>
              </a:tblGrid>
              <a:tr h="1071880">
                <a:tc>
                  <a:txBody>
                    <a:bodyPr/>
                    <a:lstStyle/>
                    <a:p>
                      <a:pPr marL="79375">
                        <a:lnSpc>
                          <a:spcPts val="233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90500">
                        <a:lnSpc>
                          <a:spcPts val="28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90500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2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−7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−5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1130">
                        <a:lnSpc>
                          <a:spcPts val="28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1130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6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1765">
                        <a:lnSpc>
                          <a:spcPts val="28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1765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591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24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OBE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242570">
                        <a:lnSpc>
                          <a:spcPct val="100000"/>
                        </a:lnSpc>
                        <a:spcBef>
                          <a:spcPts val="270"/>
                        </a:spcBef>
                        <a:tabLst>
                          <a:tab pos="542290" algn="l"/>
                        </a:tabLst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~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…</a:t>
                      </a:r>
                      <a:r>
                        <a:rPr sz="2000" spc="4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~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80645">
                        <a:lnSpc>
                          <a:spcPts val="28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80645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1130">
                        <a:lnSpc>
                          <a:spcPts val="28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1130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1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−28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1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−12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0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−37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281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−16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13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3175" algn="ctr">
                        <a:lnSpc>
                          <a:spcPts val="28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5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3810" algn="ctr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3035">
                        <a:lnSpc>
                          <a:spcPts val="281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153035">
                        <a:lnSpc>
                          <a:spcPts val="28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</a:tr>
              <a:tr h="307340">
                <a:tc>
                  <a:txBody>
                    <a:bodyPr/>
                    <a:lstStyle/>
                    <a:p>
                      <a:pPr marL="190500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232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−9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2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2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2320"/>
                        </a:lnSpc>
                      </a:pPr>
                      <a:r>
                        <a:rPr sz="2400" spc="-25" dirty="0">
                          <a:latin typeface="Cambria Math"/>
                          <a:cs typeface="Cambria Math"/>
                        </a:rPr>
                        <a:t>−4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7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44145" algn="r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23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0904728" y="1607819"/>
            <a:ext cx="88265" cy="1303020"/>
          </a:xfrm>
          <a:custGeom>
            <a:avLst/>
            <a:gdLst/>
            <a:ahLst/>
            <a:cxnLst/>
            <a:rect l="l" t="t" r="r" b="b"/>
            <a:pathLst>
              <a:path w="88265" h="1303020">
                <a:moveTo>
                  <a:pt x="87757" y="0"/>
                </a:moveTo>
                <a:lnTo>
                  <a:pt x="0" y="0"/>
                </a:lnTo>
                <a:lnTo>
                  <a:pt x="0" y="16510"/>
                </a:lnTo>
                <a:lnTo>
                  <a:pt x="54991" y="16510"/>
                </a:lnTo>
                <a:lnTo>
                  <a:pt x="54991" y="1285240"/>
                </a:lnTo>
                <a:lnTo>
                  <a:pt x="0" y="1285240"/>
                </a:lnTo>
                <a:lnTo>
                  <a:pt x="0" y="1303020"/>
                </a:lnTo>
                <a:lnTo>
                  <a:pt x="87757" y="1303020"/>
                </a:lnTo>
                <a:lnTo>
                  <a:pt x="87757" y="1285240"/>
                </a:lnTo>
                <a:lnTo>
                  <a:pt x="87757" y="16510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11366" y="1607819"/>
            <a:ext cx="88265" cy="1303020"/>
          </a:xfrm>
          <a:custGeom>
            <a:avLst/>
            <a:gdLst/>
            <a:ahLst/>
            <a:cxnLst/>
            <a:rect l="l" t="t" r="r" b="b"/>
            <a:pathLst>
              <a:path w="88265" h="1303020">
                <a:moveTo>
                  <a:pt x="87884" y="0"/>
                </a:moveTo>
                <a:lnTo>
                  <a:pt x="0" y="0"/>
                </a:lnTo>
                <a:lnTo>
                  <a:pt x="0" y="16510"/>
                </a:lnTo>
                <a:lnTo>
                  <a:pt x="0" y="1285240"/>
                </a:lnTo>
                <a:lnTo>
                  <a:pt x="0" y="1303020"/>
                </a:lnTo>
                <a:lnTo>
                  <a:pt x="87884" y="1303020"/>
                </a:lnTo>
                <a:lnTo>
                  <a:pt x="87884" y="1285240"/>
                </a:lnTo>
                <a:lnTo>
                  <a:pt x="32753" y="1285240"/>
                </a:lnTo>
                <a:lnTo>
                  <a:pt x="32753" y="16510"/>
                </a:lnTo>
                <a:lnTo>
                  <a:pt x="87884" y="16510"/>
                </a:lnTo>
                <a:lnTo>
                  <a:pt x="878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16317" y="3303206"/>
            <a:ext cx="10063480" cy="258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Dari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matriks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augmented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yang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terakhir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diperoleh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persamaan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sbb:</a:t>
            </a:r>
            <a:endParaRPr sz="2400">
              <a:latin typeface="Calibri"/>
              <a:cs typeface="Calibri"/>
            </a:endParaRPr>
          </a:p>
          <a:p>
            <a:pPr marR="4234180" algn="r">
              <a:lnSpc>
                <a:spcPct val="100000"/>
              </a:lnSpc>
              <a:spcBef>
                <a:spcPts val="5"/>
              </a:spcBef>
              <a:tabLst>
                <a:tab pos="782320" algn="l"/>
                <a:tab pos="2360295" algn="l"/>
                <a:tab pos="4092575" algn="l"/>
                <a:tab pos="4944110" algn="l"/>
              </a:tabLst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20833" dirty="0">
                <a:latin typeface="Calibri"/>
                <a:cs typeface="Calibri"/>
              </a:rPr>
              <a:t>1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4x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28x</a:t>
            </a:r>
            <a:r>
              <a:rPr sz="2400" spc="-30" baseline="-20833" dirty="0">
                <a:latin typeface="Calibri"/>
                <a:cs typeface="Calibri"/>
              </a:rPr>
              <a:t>4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37x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209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13x</a:t>
            </a:r>
            <a:r>
              <a:rPr sz="2400" spc="-30" baseline="-20833" dirty="0">
                <a:latin typeface="Calibri"/>
                <a:cs typeface="Calibri"/>
              </a:rPr>
              <a:t>6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(i)</a:t>
            </a:r>
            <a:endParaRPr sz="2400">
              <a:latin typeface="Calibri"/>
              <a:cs typeface="Calibri"/>
            </a:endParaRPr>
          </a:p>
          <a:p>
            <a:pPr marR="4166235" algn="r">
              <a:lnSpc>
                <a:spcPct val="100000"/>
              </a:lnSpc>
              <a:tabLst>
                <a:tab pos="372745" algn="l"/>
                <a:tab pos="1950720" algn="l"/>
                <a:tab pos="3616960" algn="l"/>
                <a:tab pos="4531995" algn="l"/>
              </a:tabLst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20833" dirty="0">
                <a:latin typeface="Calibri"/>
                <a:cs typeface="Calibri"/>
              </a:rPr>
              <a:t>2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2x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12x</a:t>
            </a:r>
            <a:r>
              <a:rPr sz="2400" spc="-30" baseline="-20833" dirty="0">
                <a:latin typeface="Calibri"/>
                <a:cs typeface="Calibri"/>
              </a:rPr>
              <a:t>4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16x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20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5x</a:t>
            </a:r>
            <a:r>
              <a:rPr sz="2400" spc="-37" baseline="-20833" dirty="0">
                <a:latin typeface="Calibri"/>
                <a:cs typeface="Calibri"/>
              </a:rPr>
              <a:t>6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(ii)</a:t>
            </a:r>
            <a:endParaRPr sz="2400">
              <a:latin typeface="Calibri"/>
              <a:cs typeface="Calibri"/>
            </a:endParaRPr>
          </a:p>
          <a:p>
            <a:pPr marL="76200" marR="4126865">
              <a:lnSpc>
                <a:spcPct val="100000"/>
              </a:lnSpc>
              <a:spcBef>
                <a:spcPts val="2880"/>
              </a:spcBef>
              <a:tabLst>
                <a:tab pos="2448560" algn="l"/>
                <a:tab pos="3500120" algn="l"/>
              </a:tabLst>
            </a:pPr>
            <a:r>
              <a:rPr sz="2400" dirty="0">
                <a:latin typeface="Calibri"/>
                <a:cs typeface="Calibri"/>
              </a:rPr>
              <a:t>Dari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(ii)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diperoleh: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2x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4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12x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16x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73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5x</a:t>
            </a:r>
            <a:r>
              <a:rPr sz="2400" spc="-30" baseline="-20833" dirty="0">
                <a:latin typeface="Calibri"/>
                <a:cs typeface="Calibri"/>
              </a:rPr>
              <a:t>6 </a:t>
            </a:r>
            <a:r>
              <a:rPr sz="2400" dirty="0">
                <a:latin typeface="Calibri"/>
                <a:cs typeface="Calibri"/>
              </a:rPr>
              <a:t>Dari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diperoleh:</a:t>
            </a:r>
            <a:r>
              <a:rPr sz="2400" dirty="0">
                <a:latin typeface="Calibri"/>
                <a:cs typeface="Calibri"/>
              </a:rPr>
              <a:t>	x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spc="254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4x</a:t>
            </a:r>
            <a:r>
              <a:rPr sz="2400" spc="-37" baseline="-20833" dirty="0">
                <a:latin typeface="Calibri"/>
                <a:cs typeface="Calibri"/>
              </a:rPr>
              <a:t>3</a:t>
            </a:r>
            <a:r>
              <a:rPr sz="2400" baseline="-20833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28x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37x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20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13x</a:t>
            </a:r>
            <a:r>
              <a:rPr sz="2400" spc="-30" baseline="-20833" dirty="0">
                <a:latin typeface="Calibri"/>
                <a:cs typeface="Calibri"/>
              </a:rPr>
              <a:t>6</a:t>
            </a:r>
            <a:endParaRPr sz="2400" baseline="-20833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Misalkan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09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5" dirty="0">
                <a:latin typeface="Calibri"/>
                <a:cs typeface="Calibri"/>
              </a:rPr>
              <a:t>r,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4</a:t>
            </a:r>
            <a:r>
              <a:rPr sz="2400" spc="24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5</a:t>
            </a:r>
            <a:r>
              <a:rPr sz="2400" spc="247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20833" dirty="0">
                <a:latin typeface="Calibri"/>
                <a:cs typeface="Calibri"/>
              </a:rPr>
              <a:t>6</a:t>
            </a:r>
            <a:r>
              <a:rPr sz="2400" spc="217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solusi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dinyatakan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sebagai </a:t>
            </a:r>
            <a:r>
              <a:rPr sz="2400" spc="-10" dirty="0">
                <a:latin typeface="Calibri"/>
                <a:cs typeface="Calibri"/>
              </a:rPr>
              <a:t>vektor: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1267" y="1096009"/>
            <a:ext cx="90170" cy="1932939"/>
          </a:xfrm>
          <a:custGeom>
            <a:avLst/>
            <a:gdLst/>
            <a:ahLst/>
            <a:cxnLst/>
            <a:rect l="l" t="t" r="r" b="b"/>
            <a:pathLst>
              <a:path w="90169" h="1932939">
                <a:moveTo>
                  <a:pt x="89598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20240"/>
                </a:lnTo>
                <a:lnTo>
                  <a:pt x="0" y="1932940"/>
                </a:lnTo>
                <a:lnTo>
                  <a:pt x="89598" y="1932940"/>
                </a:lnTo>
                <a:lnTo>
                  <a:pt x="89598" y="1920240"/>
                </a:lnTo>
                <a:lnTo>
                  <a:pt x="31254" y="1920240"/>
                </a:lnTo>
                <a:lnTo>
                  <a:pt x="31254" y="12700"/>
                </a:lnTo>
                <a:lnTo>
                  <a:pt x="89598" y="12700"/>
                </a:lnTo>
                <a:lnTo>
                  <a:pt x="895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04061" y="1096009"/>
            <a:ext cx="90170" cy="1932939"/>
          </a:xfrm>
          <a:custGeom>
            <a:avLst/>
            <a:gdLst/>
            <a:ahLst/>
            <a:cxnLst/>
            <a:rect l="l" t="t" r="r" b="b"/>
            <a:pathLst>
              <a:path w="90169" h="1932939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20240"/>
                </a:lnTo>
                <a:lnTo>
                  <a:pt x="0" y="1920240"/>
                </a:lnTo>
                <a:lnTo>
                  <a:pt x="0" y="1932940"/>
                </a:lnTo>
                <a:lnTo>
                  <a:pt x="89662" y="1932940"/>
                </a:lnTo>
                <a:lnTo>
                  <a:pt x="89662" y="192024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557" y="890206"/>
            <a:ext cx="366395" cy="217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ts val="285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2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4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5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40"/>
              </a:lnSpc>
            </a:pP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6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6654" y="1830959"/>
            <a:ext cx="25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76577" y="109600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69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31242" y="1917700"/>
                </a:lnTo>
                <a:lnTo>
                  <a:pt x="31242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18481" y="109600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7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59254" y="951865"/>
            <a:ext cx="2958465" cy="217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50"/>
              </a:lnSpc>
              <a:spcBef>
                <a:spcPts val="100"/>
              </a:spcBef>
              <a:tabLst>
                <a:tab pos="2128520" algn="l"/>
              </a:tabLst>
            </a:pPr>
            <a:r>
              <a:rPr sz="2400" dirty="0">
                <a:latin typeface="Cambria Math"/>
                <a:cs typeface="Cambria Math"/>
              </a:rPr>
              <a:t>4𝑟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28𝑠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37𝑡</a:t>
            </a:r>
            <a:r>
              <a:rPr sz="2400" dirty="0">
                <a:latin typeface="Cambria Math"/>
                <a:cs typeface="Cambria Math"/>
              </a:rPr>
              <a:t>	−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13𝑢</a:t>
            </a:r>
            <a:endParaRPr sz="2400">
              <a:latin typeface="Cambria Math"/>
              <a:cs typeface="Cambria Math"/>
            </a:endParaRPr>
          </a:p>
          <a:p>
            <a:pPr marL="2540" algn="ctr">
              <a:lnSpc>
                <a:spcPts val="2810"/>
              </a:lnSpc>
            </a:pPr>
            <a:r>
              <a:rPr sz="2400" dirty="0">
                <a:latin typeface="Cambria Math"/>
                <a:cs typeface="Cambria Math"/>
              </a:rPr>
              <a:t>2𝑟</a:t>
            </a:r>
            <a:r>
              <a:rPr sz="2400" spc="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12𝑠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16𝑡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5𝑢</a:t>
            </a:r>
            <a:endParaRPr sz="2400">
              <a:latin typeface="Cambria Math"/>
              <a:cs typeface="Cambria Math"/>
            </a:endParaRPr>
          </a:p>
          <a:p>
            <a:pPr marL="6350" algn="ctr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𝑟</a:t>
            </a:r>
            <a:endParaRPr sz="2400">
              <a:latin typeface="Cambria Math"/>
              <a:cs typeface="Cambria Math"/>
            </a:endParaRPr>
          </a:p>
          <a:p>
            <a:pPr marL="2540" algn="ctr">
              <a:lnSpc>
                <a:spcPts val="2820"/>
              </a:lnSpc>
            </a:pPr>
            <a:r>
              <a:rPr sz="2400" spc="-50" dirty="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  <a:p>
            <a:pPr marL="1905" algn="ctr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𝑡</a:t>
            </a:r>
            <a:endParaRPr sz="2400">
              <a:latin typeface="Cambria Math"/>
              <a:cs typeface="Cambria Math"/>
            </a:endParaRPr>
          </a:p>
          <a:p>
            <a:pPr marL="5715" algn="ctr">
              <a:lnSpc>
                <a:spcPts val="2840"/>
              </a:lnSpc>
            </a:pPr>
            <a:r>
              <a:rPr sz="2400" spc="-50" dirty="0">
                <a:latin typeface="Cambria Math"/>
                <a:cs typeface="Cambria Math"/>
              </a:rPr>
              <a:t>𝑢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87517" y="109600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31242" y="1917700"/>
                </a:lnTo>
                <a:lnTo>
                  <a:pt x="31242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58281" y="109600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7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71209" y="951865"/>
            <a:ext cx="19431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4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40"/>
              </a:lnSpc>
            </a:pPr>
            <a:r>
              <a:rPr sz="2400" spc="-50" dirty="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71209" y="2023998"/>
            <a:ext cx="194310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5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51196" y="1814474"/>
            <a:ext cx="143954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32460" algn="l"/>
                <a:tab pos="975360" algn="l"/>
              </a:tabLst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500" spc="-60" dirty="0">
                <a:latin typeface="Cambria Math"/>
                <a:cs typeface="Cambria Math"/>
              </a:rPr>
              <a:t>r</a:t>
            </a:r>
            <a:r>
              <a:rPr sz="2500" dirty="0">
                <a:latin typeface="Cambria Math"/>
                <a:cs typeface="Cambria Math"/>
              </a:rPr>
              <a:t>	</a:t>
            </a:r>
            <a:r>
              <a:rPr sz="3600" spc="-75" baseline="30092" dirty="0">
                <a:latin typeface="Cambria Math"/>
                <a:cs typeface="Cambria Math"/>
              </a:rPr>
              <a:t>1</a:t>
            </a:r>
            <a:r>
              <a:rPr sz="3600" baseline="30092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500" spc="-50" dirty="0">
                <a:latin typeface="Cambria Math"/>
                <a:cs typeface="Cambria Math"/>
              </a:rPr>
              <a:t>s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14617" y="109600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31242" y="1917700"/>
                </a:lnTo>
                <a:lnTo>
                  <a:pt x="31242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53021" y="109600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7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98309" y="951865"/>
            <a:ext cx="362585" cy="217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28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12</a:t>
            </a:r>
            <a:endParaRPr sz="2400">
              <a:latin typeface="Cambria Math"/>
              <a:cs typeface="Cambria Math"/>
            </a:endParaRPr>
          </a:p>
          <a:p>
            <a:pPr marL="9652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96520">
              <a:lnSpc>
                <a:spcPts val="2820"/>
              </a:lnSpc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96520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96520">
              <a:lnSpc>
                <a:spcPts val="284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09231" y="1830959"/>
            <a:ext cx="440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𝑡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04277" y="109600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31242" y="1917700"/>
                </a:lnTo>
                <a:lnTo>
                  <a:pt x="31242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40141" y="1096009"/>
            <a:ext cx="90170" cy="1930400"/>
          </a:xfrm>
          <a:custGeom>
            <a:avLst/>
            <a:gdLst/>
            <a:ahLst/>
            <a:cxnLst/>
            <a:rect l="l" t="t" r="r" b="b"/>
            <a:pathLst>
              <a:path w="90170" h="193040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7700"/>
                </a:lnTo>
                <a:lnTo>
                  <a:pt x="0" y="1917700"/>
                </a:lnTo>
                <a:lnTo>
                  <a:pt x="0" y="1930400"/>
                </a:lnTo>
                <a:lnTo>
                  <a:pt x="89662" y="1930400"/>
                </a:lnTo>
                <a:lnTo>
                  <a:pt x="89662" y="1917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88351" y="951865"/>
            <a:ext cx="361950" cy="217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37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0"/>
              </a:lnSpc>
            </a:pPr>
            <a:r>
              <a:rPr sz="2400" spc="-25" dirty="0">
                <a:latin typeface="Cambria Math"/>
                <a:cs typeface="Cambria Math"/>
              </a:rPr>
              <a:t>16</a:t>
            </a:r>
            <a:endParaRPr sz="2400">
              <a:latin typeface="Cambria Math"/>
              <a:cs typeface="Cambria Math"/>
            </a:endParaRPr>
          </a:p>
          <a:p>
            <a:pPr marL="95885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95885">
              <a:lnSpc>
                <a:spcPts val="282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95885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95885">
              <a:lnSpc>
                <a:spcPts val="284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98891" y="1830959"/>
            <a:ext cx="561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3380" algn="l"/>
              </a:tabLst>
            </a:pPr>
            <a:r>
              <a:rPr sz="2400" spc="-50" dirty="0">
                <a:latin typeface="Cambria Math"/>
                <a:cs typeface="Cambria Math"/>
              </a:rPr>
              <a:t>+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𝑢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015857" y="1098549"/>
            <a:ext cx="90170" cy="1927860"/>
          </a:xfrm>
          <a:custGeom>
            <a:avLst/>
            <a:gdLst/>
            <a:ahLst/>
            <a:cxnLst/>
            <a:rect l="l" t="t" r="r" b="b"/>
            <a:pathLst>
              <a:path w="90170" h="192786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915160"/>
                </a:lnTo>
                <a:lnTo>
                  <a:pt x="0" y="1927860"/>
                </a:lnTo>
                <a:lnTo>
                  <a:pt x="89662" y="1927860"/>
                </a:lnTo>
                <a:lnTo>
                  <a:pt x="89662" y="1915160"/>
                </a:lnTo>
                <a:lnTo>
                  <a:pt x="31369" y="1915160"/>
                </a:lnTo>
                <a:lnTo>
                  <a:pt x="31369" y="1270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680321" y="1098549"/>
            <a:ext cx="90170" cy="1927860"/>
          </a:xfrm>
          <a:custGeom>
            <a:avLst/>
            <a:gdLst/>
            <a:ahLst/>
            <a:cxnLst/>
            <a:rect l="l" t="t" r="r" b="b"/>
            <a:pathLst>
              <a:path w="90170" h="1927860">
                <a:moveTo>
                  <a:pt x="89662" y="0"/>
                </a:moveTo>
                <a:lnTo>
                  <a:pt x="0" y="0"/>
                </a:lnTo>
                <a:lnTo>
                  <a:pt x="0" y="12700"/>
                </a:lnTo>
                <a:lnTo>
                  <a:pt x="58420" y="12700"/>
                </a:lnTo>
                <a:lnTo>
                  <a:pt x="58420" y="1915160"/>
                </a:lnTo>
                <a:lnTo>
                  <a:pt x="0" y="1915160"/>
                </a:lnTo>
                <a:lnTo>
                  <a:pt x="0" y="1927860"/>
                </a:lnTo>
                <a:lnTo>
                  <a:pt x="89662" y="1927860"/>
                </a:lnTo>
                <a:lnTo>
                  <a:pt x="89662" y="1915160"/>
                </a:lnTo>
                <a:lnTo>
                  <a:pt x="89662" y="12700"/>
                </a:lnTo>
                <a:lnTo>
                  <a:pt x="89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100184" y="951865"/>
            <a:ext cx="589280" cy="217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5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−13</a:t>
            </a:r>
            <a:endParaRPr sz="2400">
              <a:latin typeface="Cambria Math"/>
              <a:cs typeface="Cambria Math"/>
            </a:endParaRPr>
          </a:p>
          <a:p>
            <a:pPr marL="635" algn="ctr">
              <a:lnSpc>
                <a:spcPts val="2820"/>
              </a:lnSpc>
            </a:pPr>
            <a:r>
              <a:rPr sz="2400" spc="-25" dirty="0">
                <a:latin typeface="Cambria Math"/>
                <a:cs typeface="Cambria Math"/>
              </a:rPr>
              <a:t>−5</a:t>
            </a:r>
            <a:endParaRPr sz="2400">
              <a:latin typeface="Cambria Math"/>
              <a:cs typeface="Cambria Math"/>
            </a:endParaRPr>
          </a:p>
          <a:p>
            <a:pPr marL="1270" algn="ctr">
              <a:lnSpc>
                <a:spcPts val="282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635" algn="ctr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635" algn="ctr">
              <a:lnSpc>
                <a:spcPts val="2810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635" algn="ctr">
              <a:lnSpc>
                <a:spcPts val="2850"/>
              </a:lnSpc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20</a:t>
            </a:fld>
            <a:endParaRPr spc="-25" dirty="0"/>
          </a:p>
        </p:txBody>
      </p:sp>
      <p:sp>
        <p:nvSpPr>
          <p:cNvPr id="25" name="object 25"/>
          <p:cNvSpPr txBox="1"/>
          <p:nvPr/>
        </p:nvSpPr>
        <p:spPr>
          <a:xfrm>
            <a:off x="627380" y="3442652"/>
            <a:ext cx="10570210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Basis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untuk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adalah:</a:t>
            </a:r>
            <a:endParaRPr sz="2400">
              <a:latin typeface="Calibri"/>
              <a:cs typeface="Calibri"/>
            </a:endParaRPr>
          </a:p>
          <a:p>
            <a:pPr marL="391160">
              <a:lnSpc>
                <a:spcPct val="100000"/>
              </a:lnSpc>
              <a:spcBef>
                <a:spcPts val="5"/>
              </a:spcBef>
              <a:tabLst>
                <a:tab pos="2971800" algn="l"/>
              </a:tabLst>
            </a:pPr>
            <a:r>
              <a:rPr sz="2400" b="1" dirty="0">
                <a:latin typeface="Calibri"/>
                <a:cs typeface="Calibri"/>
              </a:rPr>
              <a:t>v</a:t>
            </a:r>
            <a:r>
              <a:rPr sz="2400" b="1" baseline="-20833" dirty="0">
                <a:latin typeface="Calibri"/>
                <a:cs typeface="Calibri"/>
              </a:rPr>
              <a:t>1</a:t>
            </a:r>
            <a:r>
              <a:rPr sz="2400" b="1" spc="27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(4,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25" dirty="0">
                <a:latin typeface="Calibri"/>
                <a:cs typeface="Calibri"/>
              </a:rPr>
              <a:t> 0),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v</a:t>
            </a:r>
            <a:r>
              <a:rPr sz="2400" b="1" baseline="-20833" dirty="0">
                <a:latin typeface="Calibri"/>
                <a:cs typeface="Calibri"/>
              </a:rPr>
              <a:t>2</a:t>
            </a:r>
            <a:r>
              <a:rPr sz="2400" b="1" spc="24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(28,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12,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0),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</a:t>
            </a:r>
            <a:r>
              <a:rPr sz="2400" b="1" baseline="-20833" dirty="0">
                <a:latin typeface="Calibri"/>
                <a:cs typeface="Calibri"/>
              </a:rPr>
              <a:t>3</a:t>
            </a:r>
            <a:r>
              <a:rPr sz="2400" b="1" spc="24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(37,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16,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0),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dan</a:t>
            </a:r>
            <a:endParaRPr sz="2400">
              <a:latin typeface="Calibri"/>
              <a:cs typeface="Calibri"/>
            </a:endParaRPr>
          </a:p>
          <a:p>
            <a:pPr marL="39116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v</a:t>
            </a:r>
            <a:r>
              <a:rPr sz="2400" b="1" baseline="-20833" dirty="0">
                <a:latin typeface="Calibri"/>
                <a:cs typeface="Calibri"/>
              </a:rPr>
              <a:t>4</a:t>
            </a:r>
            <a:r>
              <a:rPr sz="2400" b="1" spc="254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(–13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–5,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1)</a:t>
            </a: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Dimensi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sehingga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nullity</a:t>
            </a:r>
            <a:r>
              <a:rPr sz="2400" dirty="0">
                <a:latin typeface="Calibri"/>
                <a:cs typeface="Calibri"/>
              </a:rPr>
              <a:t>(A)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50800" marR="17780">
              <a:lnSpc>
                <a:spcPct val="100000"/>
              </a:lnSpc>
              <a:spcBef>
                <a:spcPts val="2885"/>
              </a:spcBef>
              <a:tabLst>
                <a:tab pos="2382520" algn="l"/>
              </a:tabLst>
            </a:pPr>
            <a:r>
              <a:rPr sz="2400" dirty="0">
                <a:latin typeface="Calibri"/>
                <a:cs typeface="Calibri"/>
              </a:rPr>
              <a:t>Nullity(A)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20" dirty="0">
                <a:latin typeface="Calibri"/>
                <a:cs typeface="Calibri"/>
              </a:rPr>
              <a:t> juga</a:t>
            </a:r>
            <a:r>
              <a:rPr sz="2400" dirty="0">
                <a:latin typeface="Calibri"/>
                <a:cs typeface="Calibri"/>
              </a:rPr>
              <a:t>	berarti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jumlah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parameter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solusi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Ax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adalah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(pada </a:t>
            </a:r>
            <a:r>
              <a:rPr sz="2400" dirty="0">
                <a:latin typeface="Calibri"/>
                <a:cs typeface="Calibri"/>
              </a:rPr>
              <a:t>kasus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parameter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solusi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adalah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10" dirty="0">
                <a:latin typeface="Calibri"/>
                <a:cs typeface="Calibri"/>
              </a:rPr>
              <a:t>r,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semuanya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bilangan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riil)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8216" y="269710"/>
            <a:ext cx="7870763" cy="64797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>
                <a:latin typeface="Calibri Light"/>
                <a:cs typeface="Calibri Light"/>
              </a:rPr>
              <a:t>Latihan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57" y="1793621"/>
            <a:ext cx="37134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8320" algn="l"/>
              </a:tabLst>
            </a:pPr>
            <a:r>
              <a:rPr sz="2800" spc="-25" dirty="0">
                <a:latin typeface="Calibri"/>
                <a:cs typeface="Calibri"/>
              </a:rPr>
              <a:t>1.</a:t>
            </a:r>
            <a:r>
              <a:rPr sz="2800" dirty="0">
                <a:latin typeface="Calibri"/>
                <a:cs typeface="Calibri"/>
              </a:rPr>
              <a:t>	(soal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kuis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tahun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2019)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6382" y="2716026"/>
            <a:ext cx="5614166" cy="34433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1629</Words>
  <Application>Microsoft Office PowerPoint</Application>
  <PresentationFormat>Custom</PresentationFormat>
  <Paragraphs>728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Ruang Vektor Umum</vt:lpstr>
      <vt:lpstr>Sumber:</vt:lpstr>
      <vt:lpstr>Ruang Baris, Ruang Kolom, dan Ruang Null</vt:lpstr>
      <vt:lpstr>Slide 4</vt:lpstr>
      <vt:lpstr>Slide 5</vt:lpstr>
      <vt:lpstr>Slide 6</vt:lpstr>
      <vt:lpstr>Slide 7</vt:lpstr>
      <vt:lpstr>Slide 8</vt:lpstr>
      <vt:lpstr>Basis untuk Ruang Baris, Ruang Kolom, dan Ruang Null</vt:lpstr>
      <vt:lpstr>Contoh 4: Tentukan basis untuk ruang baris, basis untuk ruang kolom, dan basis untuk ruang null dari matriks A berikut</vt:lpstr>
      <vt:lpstr>Basis untuk ruang kolom adalah semua kolom dari matriks A yang berkoresponden dengan kolom matriks R yang mengandung 1 utama:</vt:lpstr>
      <vt:lpstr>Untuk menemukan basis ruang null, tentukan solusi Ax = 0 sebagai berikut</vt:lpstr>
      <vt:lpstr>Slide 13</vt:lpstr>
      <vt:lpstr>Slide 14</vt:lpstr>
      <vt:lpstr>Rank dan Nullity</vt:lpstr>
      <vt:lpstr>Slide 16</vt:lpstr>
      <vt:lpstr>Contoh 6: Tinjau kembali matriks A pada Contoh 4</vt:lpstr>
      <vt:lpstr>Contoh 17: Tentukan rank dan nullity matriks A berikut</vt:lpstr>
      <vt:lpstr>Untuk membuktikan bahwa nullity(A) = 4, maka selesaikan terlebih dahulu Ax = 0,</vt:lpstr>
      <vt:lpstr>Slide 20</vt:lpstr>
      <vt:lpstr>Slide 21</vt:lpstr>
      <vt:lpstr>Latihan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Ruang Vektor Umum (bagian 3)</dc:title>
  <dc:creator>Rinaldi Munir</dc:creator>
  <cp:lastModifiedBy>ASUS</cp:lastModifiedBy>
  <cp:revision>3</cp:revision>
  <dcterms:created xsi:type="dcterms:W3CDTF">2026-05-13T05:44:04Z</dcterms:created>
  <dcterms:modified xsi:type="dcterms:W3CDTF">2026-05-13T05:57:31Z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2026-05-13T00:00:00Z</vt:filetime>
  </property>
  <property fmtid="{D5CDD505-2E9C-101B-9397-08002B2CF9AE}" pid="5" name="Producer">
    <vt:lpwstr>Microsoft® PowerPoint® for Microsoft 365</vt:lpwstr>
  </property>
</Properties>
</file>