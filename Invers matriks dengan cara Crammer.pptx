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2" r:id="rId4"/>
    <p:sldId id="263" r:id="rId5"/>
    <p:sldId id="258" r:id="rId6"/>
    <p:sldId id="259" r:id="rId7"/>
    <p:sldId id="260" r:id="rId8"/>
    <p:sldId id="261" r:id="rId9"/>
    <p:sldId id="264" r:id="rId10"/>
    <p:sldId id="265" r:id="rId11"/>
    <p:sldId id="277" r:id="rId12"/>
    <p:sldId id="266" r:id="rId13"/>
    <p:sldId id="269" r:id="rId14"/>
    <p:sldId id="268" r:id="rId15"/>
    <p:sldId id="270" r:id="rId16"/>
    <p:sldId id="271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18.wmf"/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22.wmf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5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5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FEFB2-DA98-423D-A4CF-6902A760A6B2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D624D-F0CB-4CB0-B940-67D2E545FF60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2EA9D3-2E8C-4F74-B2F2-744D53D99EA2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99BC6B-D6D5-449D-A08B-419EE1E68166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869453-5255-41C3-B54E-86E1570D24A5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3C4DC-41B1-43D8-8FDF-551962BDD9A6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A7FDEF-5471-4771-9ED3-C52452A8D820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A9C45A-C0F5-49D0-A760-410010C2AEF3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A8B58-FDDC-4222-8B9A-04A549B1F7B5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F8FA2-960D-4EA9-BCC1-54E45C613324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3C1164-308E-4C5A-B700-37D52D142A89}" type="slidenum">
              <a:rPr lang="es-ES"/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s-ES" smtClean="0"/>
              <a:t>Haga clic para cambiar el estilo de título	</a:t>
            </a:r>
            <a:endParaRPr lang="es-ES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s-ES" smtClean="0"/>
              <a:t>Haga clic para modificar el estilo de texto del patrón</a:t>
            </a:r>
            <a:endParaRPr lang="es-ES" smtClean="0"/>
          </a:p>
          <a:p>
            <a:pPr lvl="1"/>
            <a:r>
              <a:rPr lang="es-ES" smtClean="0"/>
              <a:t>Segundo nivel</a:t>
            </a:r>
            <a:endParaRPr lang="es-ES" smtClean="0"/>
          </a:p>
          <a:p>
            <a:pPr lvl="2"/>
            <a:r>
              <a:rPr lang="es-ES" smtClean="0"/>
              <a:t>Tercer nivel</a:t>
            </a:r>
            <a:endParaRPr lang="es-ES" smtClean="0"/>
          </a:p>
          <a:p>
            <a:pPr lvl="3"/>
            <a:r>
              <a:rPr lang="es-ES" smtClean="0"/>
              <a:t>Cuarto nivel</a:t>
            </a:r>
            <a:endParaRPr lang="es-ES" smtClean="0"/>
          </a:p>
          <a:p>
            <a:pPr lvl="4"/>
            <a:r>
              <a:rPr lang="es-ES" smtClean="0"/>
              <a:t>Quinto nivel</a:t>
            </a:r>
            <a:endParaRPr lang="es-E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4F5FA4D-7DBE-4993-8097-4726E2F8C50B}" type="slidenum">
              <a:rPr lang="es-ES"/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6.bin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10.wmf"/><Relationship Id="rId3" Type="http://schemas.openxmlformats.org/officeDocument/2006/relationships/oleObject" Target="../embeddings/oleObject8.bin"/><Relationship Id="rId2" Type="http://schemas.openxmlformats.org/officeDocument/2006/relationships/image" Target="../media/image9.wmf"/><Relationship Id="rId1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1.bin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3.wmf"/><Relationship Id="rId1" Type="http://schemas.openxmlformats.org/officeDocument/2006/relationships/oleObject" Target="../embeddings/oleObject12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8.w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5.wmf"/><Relationship Id="rId10" Type="http://schemas.openxmlformats.org/officeDocument/2006/relationships/vmlDrawing" Target="../drawings/vmlDrawing9.vml"/><Relationship Id="rId1" Type="http://schemas.openxmlformats.org/officeDocument/2006/relationships/oleObject" Target="../embeddings/oleObject14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22.wmf"/><Relationship Id="rId7" Type="http://schemas.openxmlformats.org/officeDocument/2006/relationships/oleObject" Target="../embeddings/oleObject21.bin"/><Relationship Id="rId6" Type="http://schemas.openxmlformats.org/officeDocument/2006/relationships/image" Target="../media/image21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0.wmf"/><Relationship Id="rId3" Type="http://schemas.openxmlformats.org/officeDocument/2006/relationships/oleObject" Target="../embeddings/oleObject19.bin"/><Relationship Id="rId2" Type="http://schemas.openxmlformats.org/officeDocument/2006/relationships/image" Target="../media/image19.wmf"/><Relationship Id="rId10" Type="http://schemas.openxmlformats.org/officeDocument/2006/relationships/vmlDrawing" Target="../drawings/vmlDrawing10.vml"/><Relationship Id="rId1" Type="http://schemas.openxmlformats.org/officeDocument/2006/relationships/oleObject" Target="../embeddings/oleObject18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wmf"/><Relationship Id="rId3" Type="http://schemas.openxmlformats.org/officeDocument/2006/relationships/oleObject" Target="../embeddings/oleObject23.bin"/><Relationship Id="rId2" Type="http://schemas.openxmlformats.org/officeDocument/2006/relationships/image" Target="../media/image23.wmf"/><Relationship Id="rId1" Type="http://schemas.openxmlformats.org/officeDocument/2006/relationships/oleObject" Target="../embeddings/oleObject22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5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24.bin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.wmf"/><Relationship Id="rId3" Type="http://schemas.openxmlformats.org/officeDocument/2006/relationships/oleObject" Target="../embeddings/oleObject27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26.bin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28.bin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5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0.wmf"/><Relationship Id="rId3" Type="http://schemas.openxmlformats.org/officeDocument/2006/relationships/oleObject" Target="../embeddings/oleObject31.bin"/><Relationship Id="rId2" Type="http://schemas.openxmlformats.org/officeDocument/2006/relationships/image" Target="../media/image29.wmf"/><Relationship Id="rId1" Type="http://schemas.openxmlformats.org/officeDocument/2006/relationships/oleObject" Target="../embeddings/oleObject3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10"/>
          <p:cNvSpPr>
            <a:spLocks noGrp="1" noChangeArrowheads="1"/>
          </p:cNvSpPr>
          <p:nvPr>
            <p:ph type="ctrTitle"/>
          </p:nvPr>
        </p:nvSpPr>
        <p:spPr>
          <a:xfrm>
            <a:off x="180975" y="4684713"/>
            <a:ext cx="6248400" cy="544512"/>
          </a:xfrm>
          <a:noFill/>
        </p:spPr>
        <p:txBody>
          <a:bodyPr/>
          <a:lstStyle/>
          <a:p>
            <a:pPr algn="l" eaLnBrk="1" hangingPunct="1"/>
            <a:r>
              <a:rPr lang="es-UY" sz="3200" b="1" dirty="0" smtClean="0">
                <a:solidFill>
                  <a:schemeClr val="bg1"/>
                </a:solidFill>
              </a:rPr>
              <a:t>MATRIKS		</a:t>
            </a:r>
            <a:endParaRPr lang="es-ES" sz="3200" b="1" dirty="0" smtClean="0">
              <a:solidFill>
                <a:schemeClr val="tx1"/>
              </a:solidFill>
            </a:endParaRPr>
          </a:p>
        </p:txBody>
      </p:sp>
      <p:sp>
        <p:nvSpPr>
          <p:cNvPr id="6147" name="Rectangle 115"/>
          <p:cNvSpPr>
            <a:spLocks noGrp="1" noChangeArrowheads="1"/>
          </p:cNvSpPr>
          <p:nvPr>
            <p:ph type="subTitle" idx="1"/>
          </p:nvPr>
        </p:nvSpPr>
        <p:spPr>
          <a:xfrm>
            <a:off x="180975" y="5516563"/>
            <a:ext cx="6981825" cy="479425"/>
          </a:xfrm>
        </p:spPr>
        <p:txBody>
          <a:bodyPr/>
          <a:lstStyle/>
          <a:p>
            <a:pPr algn="l" eaLnBrk="1" hangingPunct="1"/>
            <a:r>
              <a:rPr lang="en-US" sz="1800" dirty="0" smtClean="0">
                <a:solidFill>
                  <a:schemeClr val="bg1"/>
                </a:solidFill>
              </a:rPr>
              <a:t>INVERS MATRIKS (</a:t>
            </a:r>
            <a:r>
              <a:rPr lang="en-US" sz="1800" dirty="0" err="1" smtClean="0">
                <a:solidFill>
                  <a:schemeClr val="bg1"/>
                </a:solidFill>
              </a:rPr>
              <a:t>dengan</a:t>
            </a:r>
            <a:r>
              <a:rPr lang="en-US" sz="1800" dirty="0" smtClean="0">
                <a:solidFill>
                  <a:schemeClr val="bg1"/>
                </a:solidFill>
              </a:rPr>
              <a:t> </a:t>
            </a:r>
            <a:r>
              <a:rPr lang="en-US" sz="1800" dirty="0" err="1" smtClean="0">
                <a:solidFill>
                  <a:schemeClr val="bg1"/>
                </a:solidFill>
              </a:rPr>
              <a:t>adjoint</a:t>
            </a:r>
            <a:r>
              <a:rPr lang="en-US" sz="1800" dirty="0" smtClean="0">
                <a:solidFill>
                  <a:schemeClr val="bg1"/>
                </a:solidFill>
              </a:rPr>
              <a:t>)</a:t>
            </a:r>
            <a:endParaRPr lang="en-US" sz="18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Adjoint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 smtClean="0"/>
              <a:t>Definisi</a:t>
            </a:r>
            <a:r>
              <a:rPr lang="en-US" sz="2800" dirty="0" smtClean="0"/>
              <a:t>:</a:t>
            </a:r>
            <a:endParaRPr lang="en-US" sz="2800" dirty="0" smtClean="0"/>
          </a:p>
          <a:p>
            <a:pPr lvl="1"/>
            <a:r>
              <a:rPr lang="en-US" sz="2400" dirty="0" err="1" smtClean="0"/>
              <a:t>Jika</a:t>
            </a:r>
            <a:r>
              <a:rPr lang="en-US" sz="2400" dirty="0" smtClean="0"/>
              <a:t> A </a:t>
            </a:r>
            <a:r>
              <a:rPr lang="en-US" sz="2400" dirty="0" err="1" smtClean="0"/>
              <a:t>sebarang</a:t>
            </a:r>
            <a:r>
              <a:rPr lang="en-US" sz="2400" dirty="0" smtClean="0"/>
              <a:t> </a:t>
            </a:r>
            <a:r>
              <a:rPr lang="en-US" sz="2400" dirty="0" err="1" smtClean="0"/>
              <a:t>matriks</a:t>
            </a:r>
            <a:r>
              <a:rPr lang="en-US" sz="2400" dirty="0" smtClean="0"/>
              <a:t> n x n </a:t>
            </a:r>
            <a:r>
              <a:rPr lang="en-US" sz="2400" dirty="0" err="1" smtClean="0"/>
              <a:t>dan</a:t>
            </a:r>
            <a:r>
              <a:rPr lang="en-US" sz="2400" dirty="0" smtClean="0"/>
              <a:t> </a:t>
            </a:r>
            <a:r>
              <a:rPr lang="en-US" sz="2400" dirty="0" err="1" smtClean="0"/>
              <a:t>C</a:t>
            </a:r>
            <a:r>
              <a:rPr lang="en-US" sz="2400" baseline="-25000" dirty="0" err="1" smtClean="0"/>
              <a:t>ij</a:t>
            </a:r>
            <a:r>
              <a:rPr lang="en-US" sz="2400" dirty="0" smtClean="0"/>
              <a:t> </a:t>
            </a:r>
            <a:r>
              <a:rPr lang="en-US" sz="2400" dirty="0" err="1" smtClean="0"/>
              <a:t>adalah</a:t>
            </a:r>
            <a:r>
              <a:rPr lang="en-US" sz="2400" dirty="0" smtClean="0"/>
              <a:t> </a:t>
            </a:r>
            <a:r>
              <a:rPr lang="en-US" sz="2400" dirty="0" err="1" smtClean="0"/>
              <a:t>kofaktor</a:t>
            </a:r>
            <a:r>
              <a:rPr lang="en-US" sz="2400" dirty="0" smtClean="0"/>
              <a:t> </a:t>
            </a:r>
            <a:r>
              <a:rPr lang="en-US" sz="2400" dirty="0" err="1" smtClean="0"/>
              <a:t>a</a:t>
            </a:r>
            <a:r>
              <a:rPr lang="en-US" sz="2400" baseline="-25000" dirty="0" err="1" smtClean="0"/>
              <a:t>ij</a:t>
            </a:r>
            <a:r>
              <a:rPr lang="en-US" sz="2400" dirty="0" smtClean="0"/>
              <a:t>, </a:t>
            </a:r>
            <a:r>
              <a:rPr lang="en-US" sz="2400" dirty="0" err="1" smtClean="0"/>
              <a:t>maka</a:t>
            </a:r>
            <a:r>
              <a:rPr lang="en-US" sz="2400" dirty="0" smtClean="0"/>
              <a:t> </a:t>
            </a:r>
            <a:r>
              <a:rPr lang="en-US" sz="2400" dirty="0" err="1" smtClean="0"/>
              <a:t>matriks</a:t>
            </a:r>
            <a:endParaRPr lang="en-US" sz="2400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pPr lvl="1">
              <a:buNone/>
            </a:pPr>
            <a:endParaRPr lang="en-US" sz="2400" dirty="0" smtClean="0"/>
          </a:p>
          <a:p>
            <a:pPr lvl="1">
              <a:buNone/>
            </a:pPr>
            <a:r>
              <a:rPr lang="en-US" sz="2400" dirty="0" smtClean="0"/>
              <a:t>	</a:t>
            </a:r>
            <a:r>
              <a:rPr lang="en-US" sz="2400" dirty="0" err="1" smtClean="0"/>
              <a:t>dinamakan</a:t>
            </a:r>
            <a:r>
              <a:rPr lang="en-US" sz="2400" dirty="0" smtClean="0"/>
              <a:t> </a:t>
            </a:r>
            <a:r>
              <a:rPr lang="en-US" sz="2400" b="1" i="1" dirty="0" err="1" smtClean="0"/>
              <a:t>matriks</a:t>
            </a:r>
            <a:r>
              <a:rPr lang="en-US" sz="2400" b="1" i="1" dirty="0" smtClean="0"/>
              <a:t> </a:t>
            </a:r>
            <a:r>
              <a:rPr lang="en-US" sz="2400" b="1" i="1" dirty="0" err="1" smtClean="0"/>
              <a:t>kofaktor</a:t>
            </a:r>
            <a:r>
              <a:rPr lang="en-US" sz="2400" b="1" i="1" dirty="0" smtClean="0"/>
              <a:t> A</a:t>
            </a:r>
            <a:endParaRPr lang="en-US" sz="2400" dirty="0" smtClean="0"/>
          </a:p>
          <a:p>
            <a:pPr lvl="1"/>
            <a:r>
              <a:rPr lang="en-US" sz="2400" dirty="0" smtClean="0"/>
              <a:t>Transpose </a:t>
            </a:r>
            <a:r>
              <a:rPr lang="en-US" sz="2400" dirty="0" err="1" smtClean="0"/>
              <a:t>dari</a:t>
            </a:r>
            <a:r>
              <a:rPr lang="en-US" sz="2400" dirty="0" smtClean="0"/>
              <a:t> </a:t>
            </a:r>
            <a:r>
              <a:rPr lang="en-US" sz="2400" dirty="0" err="1" smtClean="0"/>
              <a:t>matriks</a:t>
            </a:r>
            <a:r>
              <a:rPr lang="en-US" sz="2400" dirty="0" smtClean="0"/>
              <a:t> </a:t>
            </a:r>
            <a:r>
              <a:rPr lang="en-US" sz="2400" dirty="0" err="1" smtClean="0"/>
              <a:t>kofaktor</a:t>
            </a:r>
            <a:r>
              <a:rPr lang="en-US" sz="2400" dirty="0" smtClean="0"/>
              <a:t> </a:t>
            </a:r>
            <a:r>
              <a:rPr lang="en-US" sz="2400" dirty="0" err="1" smtClean="0"/>
              <a:t>adalah</a:t>
            </a:r>
            <a:r>
              <a:rPr lang="en-US" sz="2400" dirty="0" smtClean="0"/>
              <a:t> </a:t>
            </a:r>
            <a:r>
              <a:rPr lang="en-US" sz="2400" b="1" i="1" dirty="0" err="1" smtClean="0"/>
              <a:t>adjoint</a:t>
            </a:r>
            <a:r>
              <a:rPr lang="en-US" sz="2400" dirty="0" smtClean="0"/>
              <a:t> (</a:t>
            </a:r>
            <a:r>
              <a:rPr lang="en-US" sz="2400" dirty="0" err="1" smtClean="0"/>
              <a:t>sering</a:t>
            </a:r>
            <a:r>
              <a:rPr lang="en-US" sz="2400" dirty="0" smtClean="0"/>
              <a:t> </a:t>
            </a:r>
            <a:r>
              <a:rPr lang="en-US" sz="2400" dirty="0" err="1" smtClean="0"/>
              <a:t>ditulis</a:t>
            </a:r>
            <a:r>
              <a:rPr lang="en-US" sz="2400" dirty="0" smtClean="0"/>
              <a:t> </a:t>
            </a:r>
            <a:r>
              <a:rPr lang="en-US" sz="2400" dirty="0" err="1" smtClean="0"/>
              <a:t>adj</a:t>
            </a:r>
            <a:r>
              <a:rPr lang="en-US" sz="2400" dirty="0" smtClean="0"/>
              <a:t>(</a:t>
            </a:r>
            <a:r>
              <a:rPr lang="en-US" sz="2400" dirty="0" err="1" smtClean="0"/>
              <a:t>nama_matriks</a:t>
            </a:r>
            <a:r>
              <a:rPr lang="en-US" sz="2400" dirty="0" smtClean="0"/>
              <a:t>)</a:t>
            </a:r>
            <a:endParaRPr lang="en-US" sz="2400" dirty="0" smtClean="0"/>
          </a:p>
          <a:p>
            <a:pPr lvl="1"/>
            <a:r>
              <a:rPr lang="en-US" sz="2400" dirty="0" smtClean="0"/>
              <a:t>Transpose </a:t>
            </a:r>
            <a:r>
              <a:rPr lang="en-US" sz="2400" dirty="0" err="1" smtClean="0"/>
              <a:t>matriks</a:t>
            </a:r>
            <a:r>
              <a:rPr lang="en-US" sz="2400" dirty="0" smtClean="0"/>
              <a:t> </a:t>
            </a:r>
            <a:r>
              <a:rPr lang="en-US" sz="2400" dirty="0" err="1" smtClean="0"/>
              <a:t>kofaktor</a:t>
            </a:r>
            <a:r>
              <a:rPr lang="en-US" sz="2400" dirty="0" smtClean="0"/>
              <a:t> A </a:t>
            </a:r>
            <a:r>
              <a:rPr lang="en-US" sz="2400" dirty="0" err="1" smtClean="0"/>
              <a:t>adalah</a:t>
            </a:r>
            <a:r>
              <a:rPr lang="en-US" sz="2400" dirty="0" smtClean="0"/>
              <a:t> </a:t>
            </a:r>
            <a:r>
              <a:rPr lang="en-US" sz="2400" dirty="0" err="1" smtClean="0"/>
              <a:t>Adjoint</a:t>
            </a:r>
            <a:r>
              <a:rPr lang="en-US" sz="2400" dirty="0" smtClean="0"/>
              <a:t> A (</a:t>
            </a:r>
            <a:r>
              <a:rPr lang="en-US" sz="2400" dirty="0" err="1" smtClean="0"/>
              <a:t>adj</a:t>
            </a:r>
            <a:r>
              <a:rPr lang="en-US" sz="2400" dirty="0" smtClean="0"/>
              <a:t>(A))</a:t>
            </a:r>
            <a:endParaRPr lang="en-US" sz="24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3733800" y="2590800"/>
          <a:ext cx="2401330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32308800" imgH="22555200" progId="Equation.3">
                  <p:embed/>
                </p:oleObj>
              </mc:Choice>
              <mc:Fallback>
                <p:oleObj name="Equation" r:id="rId1" imgW="32308800" imgH="22555200" progId="Equation.3">
                  <p:embed/>
                  <p:pic>
                    <p:nvPicPr>
                      <p:cNvPr id="0" name="Picture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33800" y="2590800"/>
                        <a:ext cx="2401330" cy="167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Adjoint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0"/>
            <a:ext cx="4495800" cy="4525963"/>
          </a:xfrm>
        </p:spPr>
        <p:txBody>
          <a:bodyPr/>
          <a:lstStyle/>
          <a:p>
            <a:r>
              <a:rPr lang="en-US" sz="2800" dirty="0" err="1" smtClean="0"/>
              <a:t>Contoh</a:t>
            </a:r>
            <a:r>
              <a:rPr lang="en-US" sz="2800" dirty="0" smtClean="0"/>
              <a:t>:</a:t>
            </a:r>
            <a:endParaRPr lang="en-US" sz="2800" dirty="0" smtClean="0"/>
          </a:p>
          <a:p>
            <a:pPr lvl="1"/>
            <a:endParaRPr lang="en-US" sz="2400" dirty="0" smtClean="0"/>
          </a:p>
          <a:p>
            <a:pPr lvl="1"/>
            <a:endParaRPr lang="en-US" sz="2400" dirty="0" smtClean="0"/>
          </a:p>
          <a:p>
            <a:pPr marL="619125" lvl="1"/>
            <a:r>
              <a:rPr lang="en-US" sz="2400" dirty="0" err="1" smtClean="0"/>
              <a:t>Cari</a:t>
            </a:r>
            <a:r>
              <a:rPr lang="en-US" sz="2400" dirty="0" smtClean="0"/>
              <a:t> </a:t>
            </a:r>
            <a:r>
              <a:rPr lang="en-US" sz="2400" dirty="0" err="1" smtClean="0"/>
              <a:t>nilai</a:t>
            </a:r>
            <a:r>
              <a:rPr lang="en-US" sz="2400" dirty="0" smtClean="0"/>
              <a:t> </a:t>
            </a:r>
            <a:r>
              <a:rPr lang="en-US" sz="2400" dirty="0" err="1" smtClean="0"/>
              <a:t>kofaktor</a:t>
            </a:r>
            <a:r>
              <a:rPr lang="en-US" sz="2400" dirty="0" smtClean="0"/>
              <a:t> </a:t>
            </a:r>
            <a:endParaRPr lang="en-US" sz="2400" dirty="0" smtClean="0"/>
          </a:p>
          <a:p>
            <a:pPr marL="1019175" lvl="2"/>
            <a:r>
              <a:rPr lang="en-US" sz="1600" dirty="0" smtClean="0"/>
              <a:t>C</a:t>
            </a:r>
            <a:r>
              <a:rPr lang="en-US" sz="1600" baseline="-25000" dirty="0" smtClean="0"/>
              <a:t>11</a:t>
            </a:r>
            <a:r>
              <a:rPr lang="en-US" sz="1600" dirty="0" smtClean="0"/>
              <a:t> = (-1)</a:t>
            </a:r>
            <a:r>
              <a:rPr lang="en-US" sz="1600" baseline="30000" dirty="0" smtClean="0"/>
              <a:t>1+1</a:t>
            </a:r>
            <a:r>
              <a:rPr lang="en-US" sz="1600" dirty="0" smtClean="0"/>
              <a:t> (6*0 – 3*(-4)) = 12</a:t>
            </a:r>
            <a:endParaRPr lang="en-US" sz="1600" dirty="0" smtClean="0"/>
          </a:p>
          <a:p>
            <a:pPr marL="1019175" lvl="2"/>
            <a:r>
              <a:rPr lang="en-US" sz="1600" dirty="0" smtClean="0"/>
              <a:t>C</a:t>
            </a:r>
            <a:r>
              <a:rPr lang="en-US" sz="1600" baseline="-25000" dirty="0" smtClean="0"/>
              <a:t>12</a:t>
            </a:r>
            <a:r>
              <a:rPr lang="en-US" sz="1600" dirty="0" smtClean="0"/>
              <a:t> = (-1)</a:t>
            </a:r>
            <a:r>
              <a:rPr lang="en-US" sz="1600" baseline="30000" dirty="0" smtClean="0"/>
              <a:t>1+2</a:t>
            </a:r>
            <a:r>
              <a:rPr lang="en-US" sz="1600" dirty="0" smtClean="0"/>
              <a:t> (1*0 – 3*2)     =  6</a:t>
            </a:r>
            <a:endParaRPr lang="en-US" sz="1600" dirty="0" smtClean="0"/>
          </a:p>
          <a:p>
            <a:pPr marL="1019175" lvl="2"/>
            <a:r>
              <a:rPr lang="en-US" sz="1600" dirty="0" smtClean="0"/>
              <a:t>C</a:t>
            </a:r>
            <a:r>
              <a:rPr lang="en-US" sz="1600" baseline="-25000" dirty="0" smtClean="0"/>
              <a:t>13</a:t>
            </a:r>
            <a:r>
              <a:rPr lang="en-US" sz="1600" dirty="0" smtClean="0"/>
              <a:t> = (-1)</a:t>
            </a:r>
            <a:r>
              <a:rPr lang="en-US" sz="1600" baseline="30000" dirty="0" smtClean="0"/>
              <a:t>1+3</a:t>
            </a:r>
            <a:r>
              <a:rPr lang="en-US" sz="1600" dirty="0" smtClean="0"/>
              <a:t> (1*(-4) – 6*2) = -16</a:t>
            </a:r>
            <a:endParaRPr lang="en-US" sz="1600" dirty="0" smtClean="0"/>
          </a:p>
          <a:p>
            <a:pPr marL="1019175" lvl="2"/>
            <a:r>
              <a:rPr lang="en-US" sz="1600" dirty="0" smtClean="0"/>
              <a:t>C</a:t>
            </a:r>
            <a:r>
              <a:rPr lang="en-US" sz="1600" baseline="-25000" dirty="0" smtClean="0"/>
              <a:t>21</a:t>
            </a:r>
            <a:r>
              <a:rPr lang="en-US" sz="1600" dirty="0" smtClean="0"/>
              <a:t> = (-1)</a:t>
            </a:r>
            <a:r>
              <a:rPr lang="en-US" sz="1600" baseline="30000" dirty="0" smtClean="0"/>
              <a:t>2+1</a:t>
            </a:r>
            <a:r>
              <a:rPr lang="en-US" sz="1600" dirty="0" smtClean="0"/>
              <a:t> (2*0 – (-1)*(-4)) = 4</a:t>
            </a:r>
            <a:endParaRPr lang="en-US" sz="1600" dirty="0" smtClean="0"/>
          </a:p>
          <a:p>
            <a:pPr marL="1019175" lvl="2"/>
            <a:r>
              <a:rPr lang="en-US" sz="1600" dirty="0" smtClean="0"/>
              <a:t>C</a:t>
            </a:r>
            <a:r>
              <a:rPr lang="en-US" sz="1600" baseline="-25000" dirty="0" smtClean="0"/>
              <a:t>22</a:t>
            </a:r>
            <a:r>
              <a:rPr lang="en-US" sz="1600" dirty="0" smtClean="0"/>
              <a:t> = (-1)</a:t>
            </a:r>
            <a:r>
              <a:rPr lang="en-US" sz="1600" baseline="30000" dirty="0" smtClean="0"/>
              <a:t>2+2</a:t>
            </a:r>
            <a:r>
              <a:rPr lang="en-US" sz="1600" dirty="0" smtClean="0"/>
              <a:t> (3*0 – (-1)*2) = 2</a:t>
            </a:r>
            <a:endParaRPr lang="en-US" sz="1600" dirty="0" smtClean="0"/>
          </a:p>
          <a:p>
            <a:pPr marL="1019175" lvl="2"/>
            <a:r>
              <a:rPr lang="en-US" sz="1600" dirty="0" smtClean="0"/>
              <a:t>C</a:t>
            </a:r>
            <a:r>
              <a:rPr lang="en-US" sz="1600" baseline="-25000" dirty="0" smtClean="0"/>
              <a:t>23</a:t>
            </a:r>
            <a:r>
              <a:rPr lang="en-US" sz="1600" dirty="0" smtClean="0"/>
              <a:t> = (-1)</a:t>
            </a:r>
            <a:r>
              <a:rPr lang="en-US" sz="1600" baseline="30000" dirty="0" smtClean="0"/>
              <a:t>2+3</a:t>
            </a:r>
            <a:r>
              <a:rPr lang="en-US" sz="1600" dirty="0" smtClean="0"/>
              <a:t> (3*(-4)– 2*2) = 16</a:t>
            </a:r>
            <a:endParaRPr lang="en-US" sz="1600" dirty="0" smtClean="0"/>
          </a:p>
          <a:p>
            <a:pPr marL="1019175" lvl="2"/>
            <a:r>
              <a:rPr lang="en-US" sz="1600" dirty="0" smtClean="0"/>
              <a:t>C</a:t>
            </a:r>
            <a:r>
              <a:rPr lang="en-US" sz="1600" baseline="-25000" dirty="0" smtClean="0"/>
              <a:t>31</a:t>
            </a:r>
            <a:r>
              <a:rPr lang="en-US" sz="1600" dirty="0" smtClean="0"/>
              <a:t> = (-1)</a:t>
            </a:r>
            <a:r>
              <a:rPr lang="en-US" sz="1600" baseline="30000" dirty="0" smtClean="0"/>
              <a:t>3+1</a:t>
            </a:r>
            <a:r>
              <a:rPr lang="en-US" sz="1600" dirty="0" smtClean="0"/>
              <a:t> (2*3 – (-1)*6) = 12</a:t>
            </a:r>
            <a:endParaRPr lang="en-US" sz="1600" dirty="0" smtClean="0"/>
          </a:p>
          <a:p>
            <a:pPr marL="1019175" lvl="2"/>
            <a:r>
              <a:rPr lang="en-US" sz="1600" dirty="0" smtClean="0"/>
              <a:t>C</a:t>
            </a:r>
            <a:r>
              <a:rPr lang="en-US" sz="1600" baseline="-25000" dirty="0" smtClean="0"/>
              <a:t>32</a:t>
            </a:r>
            <a:r>
              <a:rPr lang="en-US" sz="1600" dirty="0" smtClean="0"/>
              <a:t> = (-1)</a:t>
            </a:r>
            <a:r>
              <a:rPr lang="en-US" sz="1600" baseline="30000" dirty="0" smtClean="0"/>
              <a:t>3+2</a:t>
            </a:r>
            <a:r>
              <a:rPr lang="en-US" sz="1600" dirty="0" smtClean="0"/>
              <a:t> (3*3 – (-1)*1) = -10</a:t>
            </a:r>
            <a:endParaRPr lang="en-US" sz="1600" dirty="0" smtClean="0"/>
          </a:p>
          <a:p>
            <a:pPr marL="1019175" lvl="2"/>
            <a:r>
              <a:rPr lang="en-US" sz="1600" dirty="0" smtClean="0"/>
              <a:t>C</a:t>
            </a:r>
            <a:r>
              <a:rPr lang="en-US" sz="1600" baseline="-25000" dirty="0" smtClean="0"/>
              <a:t>33</a:t>
            </a:r>
            <a:r>
              <a:rPr lang="en-US" sz="1600" dirty="0" smtClean="0"/>
              <a:t> = (-1)</a:t>
            </a:r>
            <a:r>
              <a:rPr lang="en-US" sz="1600" baseline="30000" dirty="0" smtClean="0"/>
              <a:t>3+3</a:t>
            </a:r>
            <a:r>
              <a:rPr lang="en-US" sz="1600" dirty="0" smtClean="0"/>
              <a:t> (3*6 – 2*1) = 16</a:t>
            </a:r>
            <a:endParaRPr lang="en-US" sz="1600" dirty="0" smtClean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lvl="1" indent="-342900">
              <a:buFontTx/>
              <a:buChar char="•"/>
            </a:pPr>
            <a:r>
              <a:rPr lang="en-US" dirty="0" err="1" smtClean="0"/>
              <a:t>Matriks</a:t>
            </a:r>
            <a:r>
              <a:rPr lang="en-US" dirty="0" smtClean="0"/>
              <a:t> </a:t>
            </a:r>
            <a:r>
              <a:rPr lang="en-US" dirty="0" err="1" smtClean="0"/>
              <a:t>Kofaktor</a:t>
            </a:r>
            <a:r>
              <a:rPr lang="en-US" dirty="0" smtClean="0"/>
              <a:t> A</a:t>
            </a:r>
            <a:endParaRPr lang="en-US" dirty="0" smtClean="0"/>
          </a:p>
          <a:p>
            <a:pPr marL="342900" lvl="1" indent="-342900">
              <a:buNone/>
            </a:pPr>
            <a:endParaRPr lang="en-US" dirty="0" smtClean="0"/>
          </a:p>
          <a:p>
            <a:pPr marL="342900" lvl="1" indent="-342900">
              <a:buNone/>
            </a:pPr>
            <a:endParaRPr lang="en-US" dirty="0" smtClean="0"/>
          </a:p>
          <a:p>
            <a:pPr marL="342900" lvl="1" indent="-342900">
              <a:buNone/>
            </a:pPr>
            <a:endParaRPr lang="en-US" dirty="0" smtClean="0"/>
          </a:p>
          <a:p>
            <a:pPr marL="342900" lvl="1" indent="-342900">
              <a:buFontTx/>
              <a:buChar char="•"/>
            </a:pPr>
            <a:r>
              <a:rPr lang="en-US" dirty="0" smtClean="0"/>
              <a:t>Transpose </a:t>
            </a:r>
            <a:r>
              <a:rPr lang="en-US" dirty="0" err="1" smtClean="0"/>
              <a:t>matriks</a:t>
            </a:r>
            <a:r>
              <a:rPr lang="en-US" dirty="0" smtClean="0"/>
              <a:t> </a:t>
            </a:r>
            <a:r>
              <a:rPr lang="en-US" dirty="0" err="1" smtClean="0"/>
              <a:t>kofaktor</a:t>
            </a:r>
            <a:r>
              <a:rPr lang="en-US" dirty="0" smtClean="0"/>
              <a:t> A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Adjoint</a:t>
            </a:r>
            <a:r>
              <a:rPr lang="en-US" dirty="0" smtClean="0"/>
              <a:t> A (</a:t>
            </a:r>
            <a:r>
              <a:rPr lang="en-US" dirty="0" err="1" smtClean="0"/>
              <a:t>adj</a:t>
            </a:r>
            <a:r>
              <a:rPr lang="en-US" dirty="0" smtClean="0"/>
              <a:t>(A))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286000" y="1676400"/>
          <a:ext cx="2353806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27736800" imgH="17068800" progId="Equation.3">
                  <p:embed/>
                </p:oleObj>
              </mc:Choice>
              <mc:Fallback>
                <p:oleObj name="Equation" r:id="rId1" imgW="27736800" imgH="17068800" progId="Equation.3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0" y="1676400"/>
                        <a:ext cx="2353806" cy="1447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1" name="Object 2"/>
          <p:cNvGraphicFramePr>
            <a:graphicFrameLocks noChangeAspect="1"/>
          </p:cNvGraphicFramePr>
          <p:nvPr/>
        </p:nvGraphicFramePr>
        <p:xfrm>
          <a:off x="5157788" y="1981200"/>
          <a:ext cx="2251075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3" imgW="26517600" imgH="17068800" progId="Equation.3">
                  <p:embed/>
                </p:oleObj>
              </mc:Choice>
              <mc:Fallback>
                <p:oleObj name="Equation" r:id="rId3" imgW="26517600" imgH="17068800" progId="Equation.3">
                  <p:embed/>
                  <p:pic>
                    <p:nvPicPr>
                      <p:cNvPr id="0" name="Picture 2049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57788" y="1981200"/>
                        <a:ext cx="2251075" cy="1447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4510088" y="4572000"/>
          <a:ext cx="3441700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5" imgW="40538400" imgH="17068800" progId="Equation.3">
                  <p:embed/>
                </p:oleObj>
              </mc:Choice>
              <mc:Fallback>
                <p:oleObj name="Equation" r:id="rId5" imgW="40538400" imgH="17068800" progId="Equation.3">
                  <p:embed/>
                  <p:pic>
                    <p:nvPicPr>
                      <p:cNvPr id="0" name="Picture 2050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10088" y="4572000"/>
                        <a:ext cx="3441700" cy="1447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Invers</a:t>
            </a:r>
            <a:r>
              <a:rPr lang="en-US" dirty="0" smtClean="0"/>
              <a:t> </a:t>
            </a:r>
            <a:r>
              <a:rPr lang="en-US" dirty="0" err="1" smtClean="0"/>
              <a:t>Matrik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Adjoint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Rumus</a:t>
            </a:r>
            <a:r>
              <a:rPr lang="en-US" dirty="0" smtClean="0"/>
              <a:t>:</a:t>
            </a:r>
            <a:endParaRPr lang="en-US" dirty="0" smtClean="0"/>
          </a:p>
          <a:p>
            <a:pPr>
              <a:buNone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514600" y="1828800"/>
          <a:ext cx="41148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30175200" imgH="10058400" progId="Equation.3">
                  <p:embed/>
                </p:oleObj>
              </mc:Choice>
              <mc:Fallback>
                <p:oleObj name="Equation" r:id="rId1" imgW="30175200" imgH="10058400" progId="Equation.3">
                  <p:embed/>
                  <p:pic>
                    <p:nvPicPr>
                      <p:cNvPr id="0" name="Picture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14600" y="1828800"/>
                        <a:ext cx="4114800" cy="1371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Contoh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adjoint</a:t>
            </a:r>
            <a:r>
              <a:rPr lang="en-US" dirty="0" smtClean="0"/>
              <a:t>, </a:t>
            </a:r>
            <a:r>
              <a:rPr lang="en-US" dirty="0" err="1" smtClean="0"/>
              <a:t>carilah</a:t>
            </a:r>
            <a:r>
              <a:rPr lang="en-US" dirty="0" smtClean="0"/>
              <a:t> </a:t>
            </a:r>
            <a:r>
              <a:rPr lang="en-US" dirty="0" err="1" smtClean="0"/>
              <a:t>Invers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838200" y="2286000"/>
          <a:ext cx="2209800" cy="140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26822400" imgH="17068800" progId="Equation.3">
                  <p:embed/>
                </p:oleObj>
              </mc:Choice>
              <mc:Fallback>
                <p:oleObj name="Equation" r:id="rId1" imgW="26822400" imgH="17068800" progId="Equation.3">
                  <p:embed/>
                  <p:pic>
                    <p:nvPicPr>
                      <p:cNvPr id="0" name="Picture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2286000"/>
                        <a:ext cx="2209800" cy="1406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Contoh-penyelesaian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600200"/>
            <a:ext cx="4495800" cy="4525963"/>
          </a:xfrm>
        </p:spPr>
        <p:txBody>
          <a:bodyPr/>
          <a:lstStyle/>
          <a:p>
            <a:pPr marL="219075"/>
            <a:r>
              <a:rPr lang="en-US" dirty="0" err="1" smtClean="0"/>
              <a:t>Cari</a:t>
            </a:r>
            <a:r>
              <a:rPr lang="en-US" dirty="0" smtClean="0"/>
              <a:t> </a:t>
            </a:r>
            <a:r>
              <a:rPr lang="en-US" dirty="0" err="1" smtClean="0"/>
              <a:t>nilai</a:t>
            </a:r>
            <a:r>
              <a:rPr lang="en-US" dirty="0" smtClean="0"/>
              <a:t> </a:t>
            </a:r>
            <a:r>
              <a:rPr lang="en-US" dirty="0" err="1" smtClean="0"/>
              <a:t>kofaktor</a:t>
            </a:r>
            <a:r>
              <a:rPr lang="en-US" dirty="0" smtClean="0"/>
              <a:t> </a:t>
            </a:r>
            <a:endParaRPr lang="en-US" dirty="0" smtClean="0"/>
          </a:p>
          <a:p>
            <a:pPr marL="619125" lvl="1"/>
            <a:r>
              <a:rPr lang="en-US" sz="2000" dirty="0" smtClean="0"/>
              <a:t>C</a:t>
            </a:r>
            <a:r>
              <a:rPr lang="en-US" sz="2000" baseline="-25000" dirty="0" smtClean="0"/>
              <a:t>11</a:t>
            </a:r>
            <a:r>
              <a:rPr lang="en-US" sz="2000" dirty="0" smtClean="0"/>
              <a:t> = (-1)</a:t>
            </a:r>
            <a:r>
              <a:rPr lang="en-US" sz="2000" baseline="30000" dirty="0" smtClean="0"/>
              <a:t>1+1</a:t>
            </a:r>
            <a:r>
              <a:rPr lang="en-US" sz="2000" dirty="0" smtClean="0"/>
              <a:t> (1*1 – 4*(-2)) = 9</a:t>
            </a:r>
            <a:endParaRPr lang="en-US" sz="2000" dirty="0" smtClean="0"/>
          </a:p>
          <a:p>
            <a:pPr marL="619125" lvl="1"/>
            <a:r>
              <a:rPr lang="en-US" sz="2000" dirty="0" smtClean="0"/>
              <a:t>C</a:t>
            </a:r>
            <a:r>
              <a:rPr lang="en-US" sz="2000" baseline="-25000" dirty="0" smtClean="0"/>
              <a:t>12</a:t>
            </a:r>
            <a:r>
              <a:rPr lang="en-US" sz="2000" dirty="0" smtClean="0"/>
              <a:t> = (-1)</a:t>
            </a:r>
            <a:r>
              <a:rPr lang="en-US" sz="2000" baseline="30000" dirty="0" smtClean="0"/>
              <a:t>1+2</a:t>
            </a:r>
            <a:r>
              <a:rPr lang="en-US" sz="2000" dirty="0" smtClean="0"/>
              <a:t> (0*1 – 4*2)    = 8</a:t>
            </a:r>
            <a:endParaRPr lang="en-US" sz="2000" dirty="0" smtClean="0"/>
          </a:p>
          <a:p>
            <a:pPr marL="619125" lvl="1"/>
            <a:r>
              <a:rPr lang="en-US" sz="2000" dirty="0" smtClean="0"/>
              <a:t>C</a:t>
            </a:r>
            <a:r>
              <a:rPr lang="en-US" sz="2000" baseline="-25000" dirty="0" smtClean="0"/>
              <a:t>13</a:t>
            </a:r>
            <a:r>
              <a:rPr lang="en-US" sz="2000" dirty="0" smtClean="0"/>
              <a:t> = (-1)</a:t>
            </a:r>
            <a:r>
              <a:rPr lang="en-US" sz="2000" baseline="30000" dirty="0" smtClean="0"/>
              <a:t>1+3</a:t>
            </a:r>
            <a:r>
              <a:rPr lang="en-US" sz="2000" dirty="0" smtClean="0"/>
              <a:t> (0*(-2) – 1*2) = -2</a:t>
            </a:r>
            <a:endParaRPr lang="en-US" sz="2000" dirty="0" smtClean="0"/>
          </a:p>
          <a:p>
            <a:pPr marL="619125" lvl="1"/>
            <a:r>
              <a:rPr lang="en-US" sz="2000" dirty="0" smtClean="0"/>
              <a:t>C</a:t>
            </a:r>
            <a:r>
              <a:rPr lang="en-US" sz="2000" baseline="-25000" dirty="0" smtClean="0"/>
              <a:t>21</a:t>
            </a:r>
            <a:r>
              <a:rPr lang="en-US" sz="2000" dirty="0" smtClean="0"/>
              <a:t> = (-1)</a:t>
            </a:r>
            <a:r>
              <a:rPr lang="en-US" sz="2000" baseline="30000" dirty="0" smtClean="0"/>
              <a:t>2+1</a:t>
            </a:r>
            <a:r>
              <a:rPr lang="en-US" sz="2000" dirty="0" smtClean="0"/>
              <a:t> ((-1)*1 – 2*2) = 5</a:t>
            </a:r>
            <a:endParaRPr lang="en-US" sz="2000" dirty="0" smtClean="0"/>
          </a:p>
          <a:p>
            <a:pPr marL="619125" lvl="1"/>
            <a:r>
              <a:rPr lang="en-US" sz="2000" dirty="0" smtClean="0"/>
              <a:t>C</a:t>
            </a:r>
            <a:r>
              <a:rPr lang="en-US" sz="2000" baseline="-25000" dirty="0" smtClean="0"/>
              <a:t>22</a:t>
            </a:r>
            <a:r>
              <a:rPr lang="en-US" sz="2000" dirty="0" smtClean="0"/>
              <a:t> = (-1)</a:t>
            </a:r>
            <a:r>
              <a:rPr lang="en-US" sz="2000" baseline="30000" dirty="0" smtClean="0"/>
              <a:t>2+2</a:t>
            </a:r>
            <a:r>
              <a:rPr lang="en-US" sz="2000" dirty="0" smtClean="0"/>
              <a:t> (3*1 – 2*2)    = -1</a:t>
            </a:r>
            <a:endParaRPr lang="en-US" sz="2000" dirty="0" smtClean="0"/>
          </a:p>
          <a:p>
            <a:pPr marL="619125" lvl="1"/>
            <a:r>
              <a:rPr lang="en-US" sz="2000" dirty="0" smtClean="0"/>
              <a:t>C</a:t>
            </a:r>
            <a:r>
              <a:rPr lang="en-US" sz="2000" baseline="-25000" dirty="0" smtClean="0"/>
              <a:t>23</a:t>
            </a:r>
            <a:r>
              <a:rPr lang="en-US" sz="2000" dirty="0" smtClean="0"/>
              <a:t> = (-1)</a:t>
            </a:r>
            <a:r>
              <a:rPr lang="en-US" sz="2000" baseline="30000" dirty="0" smtClean="0"/>
              <a:t>2+3</a:t>
            </a:r>
            <a:r>
              <a:rPr lang="en-US" sz="2000" dirty="0" smtClean="0"/>
              <a:t> (3*(-2) – (-1)*2) = 4</a:t>
            </a:r>
            <a:endParaRPr lang="en-US" sz="2000" dirty="0" smtClean="0"/>
          </a:p>
          <a:p>
            <a:pPr marL="619125" lvl="1"/>
            <a:r>
              <a:rPr lang="en-US" sz="2000" dirty="0" smtClean="0"/>
              <a:t>C</a:t>
            </a:r>
            <a:r>
              <a:rPr lang="en-US" sz="2000" baseline="-25000" dirty="0" smtClean="0"/>
              <a:t>31</a:t>
            </a:r>
            <a:r>
              <a:rPr lang="en-US" sz="2000" dirty="0" smtClean="0"/>
              <a:t> = (-1)</a:t>
            </a:r>
            <a:r>
              <a:rPr lang="en-US" sz="2000" baseline="30000" dirty="0" smtClean="0"/>
              <a:t>3+1</a:t>
            </a:r>
            <a:r>
              <a:rPr lang="en-US" sz="2000" dirty="0" smtClean="0"/>
              <a:t> ((-1)*4 – 2*1) = -6</a:t>
            </a:r>
            <a:endParaRPr lang="en-US" sz="2000" dirty="0" smtClean="0"/>
          </a:p>
          <a:p>
            <a:pPr marL="619125" lvl="1"/>
            <a:r>
              <a:rPr lang="en-US" sz="2000" dirty="0" smtClean="0"/>
              <a:t>C</a:t>
            </a:r>
            <a:r>
              <a:rPr lang="en-US" sz="2000" baseline="-25000" dirty="0" smtClean="0"/>
              <a:t>32</a:t>
            </a:r>
            <a:r>
              <a:rPr lang="en-US" sz="2000" dirty="0" smtClean="0"/>
              <a:t> = (-1)</a:t>
            </a:r>
            <a:r>
              <a:rPr lang="en-US" sz="2000" baseline="30000" dirty="0" smtClean="0"/>
              <a:t>3+2</a:t>
            </a:r>
            <a:r>
              <a:rPr lang="en-US" sz="2000" dirty="0" smtClean="0"/>
              <a:t> (3*4 – 2*0) = -12</a:t>
            </a:r>
            <a:endParaRPr lang="en-US" sz="2000" dirty="0" smtClean="0"/>
          </a:p>
          <a:p>
            <a:pPr marL="619125" lvl="1"/>
            <a:r>
              <a:rPr lang="en-US" sz="2000" dirty="0" smtClean="0"/>
              <a:t>C</a:t>
            </a:r>
            <a:r>
              <a:rPr lang="en-US" sz="2000" baseline="-25000" dirty="0" smtClean="0"/>
              <a:t>33</a:t>
            </a:r>
            <a:r>
              <a:rPr lang="en-US" sz="2000" dirty="0" smtClean="0"/>
              <a:t> = (-1)</a:t>
            </a:r>
            <a:r>
              <a:rPr lang="en-US" sz="2000" baseline="30000" dirty="0" smtClean="0"/>
              <a:t>3+3</a:t>
            </a:r>
            <a:r>
              <a:rPr lang="en-US" sz="2000" dirty="0" smtClean="0"/>
              <a:t> (3*1 – (-1)*0) = 3</a:t>
            </a:r>
            <a:endParaRPr lang="en-US" sz="2000" dirty="0" smtClean="0"/>
          </a:p>
          <a:p>
            <a:pPr marL="219075"/>
            <a:endParaRPr lang="en-US" sz="2400" dirty="0" smtClean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lvl="1" indent="-342900">
              <a:buFontTx/>
              <a:buChar char="•"/>
            </a:pPr>
            <a:r>
              <a:rPr lang="en-US" dirty="0" err="1" smtClean="0"/>
              <a:t>Matriks</a:t>
            </a:r>
            <a:r>
              <a:rPr lang="en-US" dirty="0" smtClean="0"/>
              <a:t> </a:t>
            </a:r>
            <a:r>
              <a:rPr lang="en-US" dirty="0" err="1" smtClean="0"/>
              <a:t>Kofaktor</a:t>
            </a:r>
            <a:r>
              <a:rPr lang="en-US" dirty="0" smtClean="0"/>
              <a:t> A</a:t>
            </a:r>
            <a:endParaRPr lang="en-US" dirty="0" smtClean="0"/>
          </a:p>
          <a:p>
            <a:pPr marL="342900" lvl="1" indent="-342900">
              <a:buNone/>
            </a:pPr>
            <a:endParaRPr lang="en-US" dirty="0" smtClean="0"/>
          </a:p>
          <a:p>
            <a:pPr marL="342900" lvl="1" indent="-342900">
              <a:buNone/>
            </a:pPr>
            <a:endParaRPr lang="en-US" dirty="0" smtClean="0"/>
          </a:p>
          <a:p>
            <a:pPr marL="342900" lvl="1" indent="-342900">
              <a:buNone/>
            </a:pPr>
            <a:endParaRPr lang="en-US" dirty="0" smtClean="0"/>
          </a:p>
          <a:p>
            <a:pPr marL="342900" lvl="1" indent="-342900">
              <a:buFontTx/>
              <a:buChar char="•"/>
            </a:pPr>
            <a:r>
              <a:rPr lang="en-US" dirty="0" smtClean="0"/>
              <a:t>Transpose </a:t>
            </a:r>
            <a:r>
              <a:rPr lang="en-US" dirty="0" err="1" smtClean="0"/>
              <a:t>matriks</a:t>
            </a:r>
            <a:r>
              <a:rPr lang="en-US" dirty="0" smtClean="0"/>
              <a:t> </a:t>
            </a:r>
            <a:r>
              <a:rPr lang="en-US" dirty="0" err="1" smtClean="0"/>
              <a:t>kofaktor</a:t>
            </a:r>
            <a:r>
              <a:rPr lang="en-US" dirty="0" smtClean="0"/>
              <a:t> A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Adjoint</a:t>
            </a:r>
            <a:r>
              <a:rPr lang="en-US" dirty="0" smtClean="0"/>
              <a:t> A (</a:t>
            </a:r>
            <a:r>
              <a:rPr lang="en-US" dirty="0" err="1" smtClean="0"/>
              <a:t>adj</a:t>
            </a:r>
            <a:r>
              <a:rPr lang="en-US" dirty="0" smtClean="0"/>
              <a:t>(A))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5207000" y="1981200"/>
          <a:ext cx="2159000" cy="140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26212800" imgH="17068800" progId="Equation.3">
                  <p:embed/>
                </p:oleObj>
              </mc:Choice>
              <mc:Fallback>
                <p:oleObj name="Equation" r:id="rId1" imgW="26212800" imgH="17068800" progId="Equation.3">
                  <p:embed/>
                  <p:pic>
                    <p:nvPicPr>
                      <p:cNvPr id="0" name="Picture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07000" y="1981200"/>
                        <a:ext cx="2159000" cy="1406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4729163" y="4648200"/>
          <a:ext cx="3063875" cy="140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37185600" imgH="17068800" progId="Equation.3">
                  <p:embed/>
                </p:oleObj>
              </mc:Choice>
              <mc:Fallback>
                <p:oleObj name="Equation" r:id="rId3" imgW="37185600" imgH="17068800" progId="Equation.3">
                  <p:embed/>
                  <p:pic>
                    <p:nvPicPr>
                      <p:cNvPr id="0" name="Picture 51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29163" y="4648200"/>
                        <a:ext cx="3063875" cy="14065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Contoh-penyelesaian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 smtClean="0"/>
              <a:t>Cari</a:t>
            </a:r>
            <a:r>
              <a:rPr lang="en-US" sz="2800" dirty="0" smtClean="0"/>
              <a:t> </a:t>
            </a:r>
            <a:r>
              <a:rPr lang="en-US" sz="2800" dirty="0" err="1" smtClean="0"/>
              <a:t>Determinannya</a:t>
            </a:r>
            <a:r>
              <a:rPr lang="en-US" sz="2800" dirty="0" smtClean="0"/>
              <a:t> </a:t>
            </a:r>
            <a:r>
              <a:rPr lang="en-US" sz="2800" dirty="0" err="1" smtClean="0"/>
              <a:t>dengan</a:t>
            </a:r>
            <a:r>
              <a:rPr lang="en-US" sz="2800" dirty="0" smtClean="0"/>
              <a:t> </a:t>
            </a:r>
            <a:r>
              <a:rPr lang="en-US" sz="2800" dirty="0" err="1" smtClean="0"/>
              <a:t>ekspansi</a:t>
            </a:r>
            <a:r>
              <a:rPr lang="en-US" sz="2800" dirty="0" smtClean="0"/>
              <a:t> </a:t>
            </a:r>
            <a:r>
              <a:rPr lang="en-US" sz="2800" dirty="0" err="1" smtClean="0"/>
              <a:t>kofaktor</a:t>
            </a:r>
            <a:r>
              <a:rPr lang="en-US" sz="2800" dirty="0" smtClean="0"/>
              <a:t> </a:t>
            </a:r>
            <a:r>
              <a:rPr lang="en-US" sz="2800" dirty="0" err="1" smtClean="0"/>
              <a:t>baris</a:t>
            </a:r>
            <a:r>
              <a:rPr lang="en-US" sz="2800" dirty="0" smtClean="0"/>
              <a:t> </a:t>
            </a:r>
            <a:r>
              <a:rPr lang="en-US" sz="2800" dirty="0" err="1" smtClean="0"/>
              <a:t>pertama</a:t>
            </a:r>
            <a:r>
              <a:rPr lang="en-US" sz="2800" dirty="0" smtClean="0"/>
              <a:t>:</a:t>
            </a:r>
            <a:endParaRPr lang="en-US" sz="2800" dirty="0" smtClean="0"/>
          </a:p>
          <a:p>
            <a:pPr lvl="1"/>
            <a:r>
              <a:rPr lang="en-US" sz="2400" dirty="0" err="1" smtClean="0"/>
              <a:t>det</a:t>
            </a:r>
            <a:r>
              <a:rPr lang="en-US" sz="2400" dirty="0" smtClean="0"/>
              <a:t>(A) = a</a:t>
            </a:r>
            <a:r>
              <a:rPr lang="en-US" sz="2400" baseline="-25000" dirty="0" smtClean="0"/>
              <a:t>11</a:t>
            </a:r>
            <a:r>
              <a:rPr lang="en-US" sz="2400" dirty="0" smtClean="0"/>
              <a:t>*c</a:t>
            </a:r>
            <a:r>
              <a:rPr lang="en-US" sz="2400" baseline="-25000" dirty="0" smtClean="0"/>
              <a:t>11</a:t>
            </a:r>
            <a:r>
              <a:rPr lang="en-US" sz="2400" dirty="0" smtClean="0"/>
              <a:t>+ a</a:t>
            </a:r>
            <a:r>
              <a:rPr lang="en-US" sz="2400" baseline="-25000" dirty="0" smtClean="0"/>
              <a:t>12</a:t>
            </a:r>
            <a:r>
              <a:rPr lang="en-US" sz="2400" dirty="0" smtClean="0"/>
              <a:t>*c</a:t>
            </a:r>
            <a:r>
              <a:rPr lang="en-US" sz="2400" baseline="-25000" dirty="0" smtClean="0"/>
              <a:t>12</a:t>
            </a:r>
            <a:r>
              <a:rPr lang="en-US" sz="2400" dirty="0" smtClean="0"/>
              <a:t> a</a:t>
            </a:r>
            <a:r>
              <a:rPr lang="en-US" sz="2400" baseline="-25000" dirty="0" smtClean="0"/>
              <a:t>13</a:t>
            </a:r>
            <a:r>
              <a:rPr lang="en-US" sz="2400" dirty="0" smtClean="0"/>
              <a:t>*c</a:t>
            </a:r>
            <a:r>
              <a:rPr lang="en-US" sz="2400" baseline="-25000" dirty="0" smtClean="0"/>
              <a:t>13</a:t>
            </a:r>
            <a:endParaRPr lang="en-US" sz="2400" dirty="0" smtClean="0"/>
          </a:p>
          <a:p>
            <a:pPr lvl="1">
              <a:buNone/>
            </a:pPr>
            <a:r>
              <a:rPr lang="en-US" sz="2400" dirty="0" smtClean="0"/>
              <a:t>			= 3*9 + (-1)*8 + 2*(-2) </a:t>
            </a:r>
            <a:r>
              <a:rPr lang="en-US" sz="2400" dirty="0" smtClean="0">
                <a:sym typeface="Wingdings" panose="05000000000000000000" pitchFamily="2" charset="2"/>
              </a:rPr>
              <a:t> 27 – 8 – 4</a:t>
            </a:r>
            <a:endParaRPr lang="en-US" sz="2400" dirty="0" smtClean="0"/>
          </a:p>
          <a:p>
            <a:pPr lvl="1">
              <a:buNone/>
            </a:pPr>
            <a:r>
              <a:rPr lang="en-US" sz="2400" dirty="0" smtClean="0"/>
              <a:t>			= 15</a:t>
            </a:r>
            <a:endParaRPr lang="en-US" sz="2400" dirty="0" smtClean="0"/>
          </a:p>
          <a:p>
            <a:endParaRPr lang="en-US" sz="2800" dirty="0"/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762000" y="3810000"/>
          <a:ext cx="28956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30175200" imgH="10058400" progId="Equation.3">
                  <p:embed/>
                </p:oleObj>
              </mc:Choice>
              <mc:Fallback>
                <p:oleObj name="Equation" r:id="rId1" imgW="30175200" imgH="10058400" progId="Equation.3">
                  <p:embed/>
                  <p:pic>
                    <p:nvPicPr>
                      <p:cNvPr id="0" name="Picture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2000" y="3810000"/>
                        <a:ext cx="2895600" cy="965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4419600" y="3429000"/>
          <a:ext cx="3516313" cy="311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42672000" imgH="37795200" progId="Equation.3">
                  <p:embed/>
                </p:oleObj>
              </mc:Choice>
              <mc:Fallback>
                <p:oleObj name="Equation" r:id="rId3" imgW="42672000" imgH="37795200" progId="Equation.3">
                  <p:embed/>
                  <p:pic>
                    <p:nvPicPr>
                      <p:cNvPr id="0" name="Picture 61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19600" y="3429000"/>
                        <a:ext cx="3516313" cy="31130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10"/>
          <p:cNvSpPr>
            <a:spLocks noGrp="1" noChangeArrowheads="1"/>
          </p:cNvSpPr>
          <p:nvPr>
            <p:ph type="ctrTitle"/>
          </p:nvPr>
        </p:nvSpPr>
        <p:spPr>
          <a:xfrm>
            <a:off x="180975" y="4684713"/>
            <a:ext cx="6248400" cy="544512"/>
          </a:xfrm>
          <a:noFill/>
        </p:spPr>
        <p:txBody>
          <a:bodyPr/>
          <a:lstStyle/>
          <a:p>
            <a:pPr algn="l" eaLnBrk="1" hangingPunct="1"/>
            <a:r>
              <a:rPr lang="es-UY" sz="3200" b="1" dirty="0" smtClean="0">
                <a:solidFill>
                  <a:schemeClr val="bg1"/>
                </a:solidFill>
              </a:rPr>
              <a:t>METODE CRAMER</a:t>
            </a:r>
            <a:endParaRPr lang="es-ES" sz="3200" b="1" dirty="0" smtClean="0">
              <a:solidFill>
                <a:schemeClr val="tx1"/>
              </a:solidFill>
            </a:endParaRPr>
          </a:p>
        </p:txBody>
      </p:sp>
      <p:sp>
        <p:nvSpPr>
          <p:cNvPr id="6147" name="Rectangle 115"/>
          <p:cNvSpPr>
            <a:spLocks noGrp="1" noChangeArrowheads="1"/>
          </p:cNvSpPr>
          <p:nvPr>
            <p:ph type="subTitle" idx="1"/>
          </p:nvPr>
        </p:nvSpPr>
        <p:spPr>
          <a:xfrm>
            <a:off x="180975" y="5516563"/>
            <a:ext cx="6981825" cy="479425"/>
          </a:xfrm>
        </p:spPr>
        <p:txBody>
          <a:bodyPr/>
          <a:lstStyle/>
          <a:p>
            <a:pPr algn="l" eaLnBrk="1" hangingPunct="1"/>
            <a:endParaRPr lang="en-US" sz="1800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Cramer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menyelesaikan</a:t>
            </a:r>
            <a:r>
              <a:rPr lang="en-US" dirty="0" smtClean="0"/>
              <a:t> </a:t>
            </a:r>
            <a:r>
              <a:rPr lang="en-US" dirty="0" err="1" smtClean="0"/>
              <a:t>persamaan</a:t>
            </a:r>
            <a:r>
              <a:rPr lang="en-US" dirty="0" smtClean="0"/>
              <a:t> linier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bantuan</a:t>
            </a:r>
            <a:r>
              <a:rPr lang="en-US" dirty="0" smtClean="0"/>
              <a:t> </a:t>
            </a:r>
            <a:r>
              <a:rPr lang="en-US" dirty="0" err="1" smtClean="0"/>
              <a:t>determinan</a:t>
            </a:r>
            <a:endParaRPr lang="en-US" dirty="0" smtClean="0"/>
          </a:p>
          <a:p>
            <a:r>
              <a:rPr lang="en-US" b="1" dirty="0" smtClean="0"/>
              <a:t>SYARAT: </a:t>
            </a:r>
            <a:r>
              <a:rPr lang="en-US" b="1" dirty="0" err="1" smtClean="0"/>
              <a:t>nilai</a:t>
            </a:r>
            <a:r>
              <a:rPr lang="en-US" b="1" dirty="0" smtClean="0"/>
              <a:t> </a:t>
            </a:r>
            <a:r>
              <a:rPr lang="en-US" b="1" dirty="0" err="1" smtClean="0"/>
              <a:t>determinan</a:t>
            </a:r>
            <a:r>
              <a:rPr lang="en-US" b="1" dirty="0" smtClean="0"/>
              <a:t> </a:t>
            </a:r>
            <a:r>
              <a:rPr lang="en-US" b="1" dirty="0" smtClean="0">
                <a:sym typeface="Symbol" panose="05050102010706020507"/>
              </a:rPr>
              <a:t> 0 (</a:t>
            </a:r>
            <a:r>
              <a:rPr lang="en-US" b="1" dirty="0" err="1" smtClean="0">
                <a:sym typeface="Symbol" panose="05050102010706020507"/>
              </a:rPr>
              <a:t>nol</a:t>
            </a:r>
            <a:r>
              <a:rPr lang="en-US" b="1" dirty="0" smtClean="0">
                <a:sym typeface="Symbol" panose="05050102010706020507"/>
              </a:rPr>
              <a:t>)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Metode</a:t>
            </a:r>
            <a:r>
              <a:rPr lang="en-US" dirty="0" smtClean="0"/>
              <a:t> Cramer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jika</a:t>
            </a:r>
            <a:r>
              <a:rPr lang="en-US" dirty="0" smtClean="0"/>
              <a:t> </a:t>
            </a:r>
            <a:r>
              <a:rPr lang="en-US" b="1" dirty="0" smtClean="0"/>
              <a:t>Ax = b</a:t>
            </a:r>
            <a:r>
              <a:rPr lang="en-US" dirty="0" smtClean="0"/>
              <a:t> 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sebuah</a:t>
            </a:r>
            <a:r>
              <a:rPr lang="en-US" dirty="0" smtClean="0"/>
              <a:t> </a:t>
            </a:r>
            <a:r>
              <a:rPr lang="en-US" dirty="0" err="1" smtClean="0"/>
              <a:t>sistem</a:t>
            </a:r>
            <a:r>
              <a:rPr lang="en-US" dirty="0" smtClean="0"/>
              <a:t> linear </a:t>
            </a:r>
            <a:r>
              <a:rPr lang="en-US" i="1" dirty="0" smtClean="0"/>
              <a:t>n</a:t>
            </a:r>
            <a:r>
              <a:rPr lang="en-US" dirty="0" smtClean="0"/>
              <a:t> yang </a:t>
            </a:r>
            <a:r>
              <a:rPr lang="en-US" dirty="0" err="1" smtClean="0"/>
              <a:t>tidak</a:t>
            </a:r>
            <a:r>
              <a:rPr lang="en-US" dirty="0" smtClean="0"/>
              <a:t> </a:t>
            </a:r>
            <a:r>
              <a:rPr lang="en-US" dirty="0" err="1" smtClean="0"/>
              <a:t>di</a:t>
            </a:r>
            <a:r>
              <a:rPr lang="en-US" dirty="0" smtClean="0"/>
              <a:t> </a:t>
            </a:r>
            <a:r>
              <a:rPr lang="en-US" dirty="0" err="1" smtClean="0"/>
              <a:t>ketahui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b="1" dirty="0" err="1" smtClean="0"/>
              <a:t>det</a:t>
            </a:r>
            <a:r>
              <a:rPr lang="en-US" b="1" dirty="0" smtClean="0"/>
              <a:t>(A)≠ 0 </a:t>
            </a:r>
            <a:r>
              <a:rPr lang="en-US" dirty="0" err="1" smtClean="0"/>
              <a:t>maka</a:t>
            </a:r>
            <a:r>
              <a:rPr lang="en-US" dirty="0" smtClean="0"/>
              <a:t> </a:t>
            </a:r>
            <a:r>
              <a:rPr lang="en-US" dirty="0" err="1" smtClean="0"/>
              <a:t>persamaan</a:t>
            </a:r>
            <a:r>
              <a:rPr lang="en-US" dirty="0" smtClean="0"/>
              <a:t> </a:t>
            </a:r>
            <a:r>
              <a:rPr lang="en-US" dirty="0" err="1" smtClean="0"/>
              <a:t>tersebut</a:t>
            </a:r>
            <a:r>
              <a:rPr lang="en-US" dirty="0" smtClean="0"/>
              <a:t> </a:t>
            </a:r>
            <a:r>
              <a:rPr lang="en-US" dirty="0" err="1" smtClean="0"/>
              <a:t>mempunyai</a:t>
            </a:r>
            <a:r>
              <a:rPr lang="en-US" dirty="0" smtClean="0"/>
              <a:t> </a:t>
            </a:r>
            <a:r>
              <a:rPr lang="en-US" dirty="0" err="1" smtClean="0"/>
              <a:t>penyelesaian</a:t>
            </a:r>
            <a:r>
              <a:rPr lang="en-US" dirty="0" smtClean="0"/>
              <a:t> yang </a:t>
            </a:r>
            <a:r>
              <a:rPr lang="en-US" dirty="0" err="1" smtClean="0"/>
              <a:t>unik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dimana</a:t>
            </a:r>
            <a:r>
              <a:rPr lang="en-US" dirty="0" smtClean="0"/>
              <a:t>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j</a:t>
            </a:r>
            <a:r>
              <a:rPr lang="en-US" dirty="0" smtClean="0"/>
              <a:t> 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 smtClean="0"/>
              <a:t>matrik</a:t>
            </a:r>
            <a:r>
              <a:rPr lang="en-US" dirty="0" smtClean="0"/>
              <a:t> yang </a:t>
            </a:r>
            <a:r>
              <a:rPr lang="en-US" dirty="0" err="1" smtClean="0"/>
              <a:t>didapat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mengganti</a:t>
            </a:r>
            <a:r>
              <a:rPr lang="en-US" dirty="0" smtClean="0"/>
              <a:t> </a:t>
            </a:r>
            <a:r>
              <a:rPr lang="en-US" dirty="0" err="1" smtClean="0"/>
              <a:t>kolom</a:t>
            </a:r>
            <a:r>
              <a:rPr lang="en-US" dirty="0" smtClean="0"/>
              <a:t> </a:t>
            </a:r>
            <a:r>
              <a:rPr lang="en-US" baseline="-25000" dirty="0" smtClean="0"/>
              <a:t>j</a:t>
            </a:r>
            <a:r>
              <a:rPr lang="en-US" dirty="0" smtClean="0"/>
              <a:t> 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matrik</a:t>
            </a:r>
            <a:r>
              <a:rPr lang="en-US" dirty="0" smtClean="0"/>
              <a:t> b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066800" y="3657600"/>
          <a:ext cx="7100455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69" name="Equation" r:id="rId1" imgW="62484000" imgH="10058400" progId="Equation.3">
                  <p:embed/>
                </p:oleObj>
              </mc:Choice>
              <mc:Fallback>
                <p:oleObj name="Equation" r:id="rId1" imgW="62484000" imgH="10058400" progId="Equation.3">
                  <p:embed/>
                  <p:pic>
                    <p:nvPicPr>
                      <p:cNvPr id="0" name="Object 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66800" y="3657600"/>
                        <a:ext cx="7100455" cy="1143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Langkah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Cramer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en-US" sz="2800" dirty="0" err="1" smtClean="0"/>
              <a:t>Diketahui</a:t>
            </a:r>
            <a:r>
              <a:rPr lang="en-US" sz="2800" dirty="0" smtClean="0"/>
              <a:t> SPL:</a:t>
            </a:r>
            <a:endParaRPr lang="en-US" sz="2800" dirty="0" smtClean="0"/>
          </a:p>
          <a:p>
            <a:pPr lvl="1">
              <a:buNone/>
            </a:pPr>
            <a:endParaRPr lang="en-US" sz="24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err="1" smtClean="0"/>
              <a:t>Ubah</a:t>
            </a:r>
            <a:r>
              <a:rPr lang="en-US" sz="2800" dirty="0" smtClean="0"/>
              <a:t> </a:t>
            </a:r>
            <a:r>
              <a:rPr lang="en-US" sz="2800" dirty="0" err="1" smtClean="0"/>
              <a:t>terlebih</a:t>
            </a:r>
            <a:r>
              <a:rPr lang="en-US" sz="2800" dirty="0" smtClean="0"/>
              <a:t> </a:t>
            </a:r>
            <a:r>
              <a:rPr lang="en-US" sz="2800" dirty="0" err="1" smtClean="0"/>
              <a:t>dahulu</a:t>
            </a:r>
            <a:r>
              <a:rPr lang="en-US" sz="2800" dirty="0" smtClean="0"/>
              <a:t> </a:t>
            </a:r>
            <a:r>
              <a:rPr lang="en-US" sz="2800" dirty="0" err="1" smtClean="0"/>
              <a:t>dalam</a:t>
            </a:r>
            <a:r>
              <a:rPr lang="en-US" sz="2800" dirty="0" smtClean="0"/>
              <a:t> </a:t>
            </a:r>
            <a:r>
              <a:rPr lang="en-US" sz="2800" dirty="0" err="1" smtClean="0"/>
              <a:t>bentuk</a:t>
            </a:r>
            <a:r>
              <a:rPr lang="en-US" sz="2800" dirty="0" smtClean="0"/>
              <a:t> </a:t>
            </a:r>
            <a:r>
              <a:rPr lang="en-US" sz="2800" dirty="0" err="1" smtClean="0"/>
              <a:t>matriks</a:t>
            </a:r>
            <a:endParaRPr lang="en-US" sz="2800" dirty="0" smtClean="0"/>
          </a:p>
          <a:p>
            <a:pPr lvl="1"/>
            <a:r>
              <a:rPr lang="en-US" sz="2400" dirty="0" err="1" smtClean="0"/>
              <a:t>pisahkan</a:t>
            </a:r>
            <a:r>
              <a:rPr lang="en-US" sz="2400" dirty="0" smtClean="0"/>
              <a:t> </a:t>
            </a:r>
            <a:r>
              <a:rPr lang="en-US" sz="2400" dirty="0" err="1" smtClean="0"/>
              <a:t>matriks</a:t>
            </a:r>
            <a:r>
              <a:rPr lang="en-US" sz="2400" dirty="0" smtClean="0"/>
              <a:t> </a:t>
            </a:r>
            <a:r>
              <a:rPr lang="en-US" sz="2400" dirty="0" err="1" smtClean="0"/>
              <a:t>untuk</a:t>
            </a:r>
            <a:r>
              <a:rPr lang="en-US" sz="2400" dirty="0" smtClean="0"/>
              <a:t> </a:t>
            </a:r>
            <a:r>
              <a:rPr lang="en-US" sz="2400" dirty="0" err="1" smtClean="0"/>
              <a:t>variabel</a:t>
            </a:r>
            <a:r>
              <a:rPr lang="en-US" sz="2400" dirty="0" smtClean="0"/>
              <a:t> </a:t>
            </a:r>
            <a:r>
              <a:rPr lang="en-US" sz="2400" dirty="0" err="1" smtClean="0"/>
              <a:t>dan</a:t>
            </a:r>
            <a:r>
              <a:rPr lang="en-US" sz="2400" dirty="0" smtClean="0"/>
              <a:t> </a:t>
            </a:r>
            <a:r>
              <a:rPr lang="en-US" sz="2400" dirty="0" err="1" smtClean="0"/>
              <a:t>koefisien</a:t>
            </a:r>
            <a:r>
              <a:rPr lang="en-US" sz="2400" dirty="0" smtClean="0"/>
              <a:t> </a:t>
            </a:r>
            <a:r>
              <a:rPr lang="en-US" sz="2400" dirty="0" err="1" smtClean="0"/>
              <a:t>di</a:t>
            </a:r>
            <a:r>
              <a:rPr lang="en-US" sz="2400" dirty="0" smtClean="0"/>
              <a:t> </a:t>
            </a:r>
            <a:r>
              <a:rPr lang="en-US" sz="2400" dirty="0" err="1" smtClean="0"/>
              <a:t>sebelah</a:t>
            </a:r>
            <a:r>
              <a:rPr lang="en-US" sz="2400" dirty="0" smtClean="0"/>
              <a:t> </a:t>
            </a:r>
            <a:r>
              <a:rPr lang="en-US" sz="2400" dirty="0" err="1" smtClean="0"/>
              <a:t>kanan</a:t>
            </a:r>
            <a:r>
              <a:rPr lang="en-US" sz="2400" dirty="0" smtClean="0"/>
              <a:t> </a:t>
            </a:r>
            <a:r>
              <a:rPr lang="en-US" sz="2400" dirty="0" err="1" smtClean="0"/>
              <a:t>sama</a:t>
            </a:r>
            <a:r>
              <a:rPr lang="en-US" sz="2400" dirty="0" smtClean="0"/>
              <a:t> </a:t>
            </a:r>
            <a:r>
              <a:rPr lang="en-US" sz="2400" dirty="0" err="1" smtClean="0"/>
              <a:t>dengan</a:t>
            </a:r>
            <a:r>
              <a:rPr lang="en-US" sz="2400" dirty="0" smtClean="0"/>
              <a:t> (=b)</a:t>
            </a:r>
            <a:endParaRPr lang="en-US" sz="24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828799" y="4876800"/>
          <a:ext cx="4679497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55168800" imgH="17068800" progId="Equation.3">
                  <p:embed/>
                </p:oleObj>
              </mc:Choice>
              <mc:Fallback>
                <p:oleObj name="Equation" r:id="rId1" imgW="55168800" imgH="17068800" progId="Equation.3">
                  <p:embed/>
                  <p:pic>
                    <p:nvPicPr>
                      <p:cNvPr id="0" name="Picture 819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28799" y="4876800"/>
                        <a:ext cx="4679497" cy="1447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3276600" y="1905000"/>
          <a:ext cx="3330223" cy="15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35966400" imgH="16459200" progId="Equation.3">
                  <p:embed/>
                </p:oleObj>
              </mc:Choice>
              <mc:Fallback>
                <p:oleObj name="Equation" r:id="rId3" imgW="35966400" imgH="16459200" progId="Equation.3">
                  <p:embed/>
                  <p:pic>
                    <p:nvPicPr>
                      <p:cNvPr id="0" name="Picture 8193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76600" y="1905000"/>
                        <a:ext cx="3330223" cy="1524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Langkah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Cramer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en-US" sz="2200" dirty="0" err="1" smtClean="0"/>
              <a:t>Diketahui</a:t>
            </a:r>
            <a:r>
              <a:rPr lang="en-US" sz="2200" dirty="0" smtClean="0"/>
              <a:t> </a:t>
            </a:r>
            <a:r>
              <a:rPr lang="en-US" sz="2200" dirty="0" err="1" smtClean="0"/>
              <a:t>matriks</a:t>
            </a:r>
            <a:r>
              <a:rPr lang="en-US" sz="2200" dirty="0" smtClean="0"/>
              <a:t> A </a:t>
            </a:r>
            <a:r>
              <a:rPr lang="en-US" sz="2200" dirty="0" err="1" smtClean="0"/>
              <a:t>dengan</a:t>
            </a:r>
            <a:r>
              <a:rPr lang="en-US" sz="2200" dirty="0" smtClean="0"/>
              <a:t> </a:t>
            </a:r>
            <a:r>
              <a:rPr lang="en-US" sz="2200" dirty="0" err="1" smtClean="0"/>
              <a:t>ordo</a:t>
            </a:r>
            <a:r>
              <a:rPr lang="en-US" sz="2200" dirty="0" smtClean="0"/>
              <a:t> 3x3, </a:t>
            </a:r>
            <a:r>
              <a:rPr lang="en-US" sz="2200" dirty="0" err="1" smtClean="0"/>
              <a:t>dan</a:t>
            </a:r>
            <a:r>
              <a:rPr lang="en-US" sz="2200" dirty="0" smtClean="0"/>
              <a:t> </a:t>
            </a:r>
            <a:r>
              <a:rPr lang="en-US" sz="2200" dirty="0" err="1" smtClean="0"/>
              <a:t>matrik</a:t>
            </a:r>
            <a:r>
              <a:rPr lang="en-US" sz="2200" dirty="0" smtClean="0"/>
              <a:t>  b (</a:t>
            </a:r>
            <a:r>
              <a:rPr lang="en-US" sz="2200" dirty="0" err="1" smtClean="0"/>
              <a:t>matrik</a:t>
            </a:r>
            <a:r>
              <a:rPr lang="en-US" sz="2200" dirty="0" smtClean="0"/>
              <a:t> </a:t>
            </a:r>
            <a:r>
              <a:rPr lang="en-US" sz="2200" dirty="0" err="1" smtClean="0"/>
              <a:t>kolom</a:t>
            </a:r>
            <a:r>
              <a:rPr lang="en-US" sz="2200" dirty="0" smtClean="0"/>
              <a:t>)</a:t>
            </a:r>
            <a:endParaRPr lang="en-US" sz="2200" dirty="0" smtClean="0"/>
          </a:p>
          <a:p>
            <a:endParaRPr lang="en-US" sz="2800" dirty="0" smtClean="0"/>
          </a:p>
          <a:p>
            <a:r>
              <a:rPr lang="en-US" sz="2200" dirty="0" err="1" smtClean="0"/>
              <a:t>Cari</a:t>
            </a:r>
            <a:r>
              <a:rPr lang="en-US" sz="2200" dirty="0" smtClean="0"/>
              <a:t> </a:t>
            </a:r>
            <a:r>
              <a:rPr lang="en-US" sz="2200" dirty="0" err="1" smtClean="0"/>
              <a:t>determinan</a:t>
            </a:r>
            <a:r>
              <a:rPr lang="en-US" sz="2200" dirty="0" smtClean="0"/>
              <a:t> </a:t>
            </a:r>
            <a:r>
              <a:rPr lang="en-US" sz="2200" dirty="0" err="1" smtClean="0"/>
              <a:t>matriks</a:t>
            </a:r>
            <a:r>
              <a:rPr lang="en-US" sz="2200" dirty="0" smtClean="0"/>
              <a:t> A</a:t>
            </a:r>
            <a:endParaRPr lang="en-US" sz="2200" dirty="0" smtClean="0"/>
          </a:p>
          <a:p>
            <a:r>
              <a:rPr lang="en-US" sz="2200" dirty="0" err="1" smtClean="0"/>
              <a:t>Ganti</a:t>
            </a:r>
            <a:r>
              <a:rPr lang="en-US" sz="2200" dirty="0" smtClean="0"/>
              <a:t> </a:t>
            </a:r>
            <a:r>
              <a:rPr lang="en-US" sz="2200" dirty="0" err="1" smtClean="0"/>
              <a:t>kolom</a:t>
            </a:r>
            <a:r>
              <a:rPr lang="en-US" sz="2200" dirty="0" smtClean="0"/>
              <a:t> </a:t>
            </a:r>
            <a:r>
              <a:rPr lang="en-US" sz="2200" dirty="0" err="1" smtClean="0"/>
              <a:t>dengan</a:t>
            </a:r>
            <a:r>
              <a:rPr lang="en-US" sz="2200" dirty="0" smtClean="0"/>
              <a:t> </a:t>
            </a:r>
            <a:r>
              <a:rPr lang="en-US" sz="2200" dirty="0" err="1" smtClean="0"/>
              <a:t>matriks</a:t>
            </a:r>
            <a:r>
              <a:rPr lang="en-US" sz="2200" dirty="0" smtClean="0"/>
              <a:t> b</a:t>
            </a:r>
            <a:endParaRPr lang="en-US" sz="2200" dirty="0" smtClean="0"/>
          </a:p>
          <a:p>
            <a:pPr lvl="1"/>
            <a:r>
              <a:rPr lang="en-US" sz="2200" dirty="0" err="1" smtClean="0"/>
              <a:t>Ganti</a:t>
            </a:r>
            <a:r>
              <a:rPr lang="en-US" sz="2200" dirty="0" smtClean="0"/>
              <a:t> </a:t>
            </a:r>
            <a:r>
              <a:rPr lang="en-US" sz="2200" dirty="0" err="1" smtClean="0"/>
              <a:t>kolom</a:t>
            </a:r>
            <a:r>
              <a:rPr lang="en-US" sz="2200" dirty="0" smtClean="0"/>
              <a:t> </a:t>
            </a:r>
            <a:r>
              <a:rPr lang="en-US" sz="2200" dirty="0" err="1" smtClean="0"/>
              <a:t>pertama</a:t>
            </a:r>
            <a:r>
              <a:rPr lang="en-US" sz="2200" dirty="0" smtClean="0"/>
              <a:t> </a:t>
            </a:r>
            <a:r>
              <a:rPr lang="en-US" sz="2200" dirty="0" err="1" smtClean="0"/>
              <a:t>dengan</a:t>
            </a:r>
            <a:r>
              <a:rPr lang="en-US" sz="2200" dirty="0" smtClean="0"/>
              <a:t> </a:t>
            </a:r>
            <a:r>
              <a:rPr lang="en-US" sz="2200" dirty="0" err="1" smtClean="0"/>
              <a:t>matriks</a:t>
            </a:r>
            <a:r>
              <a:rPr lang="en-US" sz="2200" dirty="0" smtClean="0"/>
              <a:t> b </a:t>
            </a:r>
            <a:r>
              <a:rPr lang="en-US" sz="2200" dirty="0" smtClean="0">
                <a:sym typeface="Wingdings" panose="05000000000000000000" pitchFamily="2" charset="2"/>
              </a:rPr>
              <a:t></a:t>
            </a:r>
            <a:endParaRPr lang="en-US" sz="2200" dirty="0" smtClean="0">
              <a:sym typeface="Wingdings" panose="05000000000000000000" pitchFamily="2" charset="2"/>
            </a:endParaRPr>
          </a:p>
          <a:p>
            <a:pPr lvl="1">
              <a:buNone/>
            </a:pPr>
            <a:r>
              <a:rPr lang="en-US" sz="2200" dirty="0" smtClean="0">
                <a:sym typeface="Wingdings" panose="05000000000000000000" pitchFamily="2" charset="2"/>
              </a:rPr>
              <a:t> </a:t>
            </a:r>
            <a:endParaRPr lang="en-US" sz="1400" dirty="0" smtClean="0">
              <a:sym typeface="Wingdings" panose="05000000000000000000" pitchFamily="2" charset="2"/>
            </a:endParaRPr>
          </a:p>
          <a:p>
            <a:pPr lvl="1">
              <a:buNone/>
            </a:pPr>
            <a:endParaRPr lang="en-US" sz="1600" dirty="0" smtClean="0">
              <a:sym typeface="Wingdings" panose="05000000000000000000" pitchFamily="2" charset="2"/>
            </a:endParaRPr>
          </a:p>
          <a:p>
            <a:pPr lvl="1"/>
            <a:r>
              <a:rPr lang="en-US" sz="2200" dirty="0" err="1" smtClean="0"/>
              <a:t>Ganti</a:t>
            </a:r>
            <a:r>
              <a:rPr lang="en-US" sz="2200" dirty="0" smtClean="0"/>
              <a:t> </a:t>
            </a:r>
            <a:r>
              <a:rPr lang="en-US" sz="2200" dirty="0" err="1" smtClean="0"/>
              <a:t>kolom</a:t>
            </a:r>
            <a:r>
              <a:rPr lang="en-US" sz="2200" dirty="0" smtClean="0"/>
              <a:t> </a:t>
            </a:r>
            <a:r>
              <a:rPr lang="en-US" sz="2200" dirty="0" err="1" smtClean="0"/>
              <a:t>kedua</a:t>
            </a:r>
            <a:r>
              <a:rPr lang="en-US" sz="2200" dirty="0" smtClean="0"/>
              <a:t> </a:t>
            </a:r>
            <a:r>
              <a:rPr lang="en-US" sz="2200" dirty="0" err="1" smtClean="0"/>
              <a:t>dengan</a:t>
            </a:r>
            <a:r>
              <a:rPr lang="en-US" sz="2200" dirty="0" smtClean="0"/>
              <a:t> </a:t>
            </a:r>
            <a:r>
              <a:rPr lang="en-US" sz="2200" dirty="0" err="1" smtClean="0"/>
              <a:t>matriks</a:t>
            </a:r>
            <a:r>
              <a:rPr lang="en-US" sz="2200" dirty="0" smtClean="0"/>
              <a:t> b </a:t>
            </a:r>
            <a:r>
              <a:rPr lang="en-US" sz="2200" dirty="0" smtClean="0">
                <a:sym typeface="Wingdings" panose="05000000000000000000" pitchFamily="2" charset="2"/>
              </a:rPr>
              <a:t> </a:t>
            </a:r>
            <a:endParaRPr lang="en-US" sz="2200" dirty="0" smtClean="0">
              <a:sym typeface="Wingdings" panose="05000000000000000000" pitchFamily="2" charset="2"/>
            </a:endParaRPr>
          </a:p>
          <a:p>
            <a:pPr lvl="1">
              <a:buNone/>
            </a:pPr>
            <a:endParaRPr lang="en-US" sz="2000" dirty="0" smtClean="0"/>
          </a:p>
          <a:p>
            <a:pPr lvl="1">
              <a:buNone/>
            </a:pPr>
            <a:endParaRPr lang="en-US" sz="2000" dirty="0" smtClean="0"/>
          </a:p>
          <a:p>
            <a:pPr lvl="1"/>
            <a:r>
              <a:rPr lang="en-US" sz="2200" dirty="0" err="1" smtClean="0"/>
              <a:t>Ganti</a:t>
            </a:r>
            <a:r>
              <a:rPr lang="en-US" sz="2200" dirty="0" smtClean="0"/>
              <a:t> </a:t>
            </a:r>
            <a:r>
              <a:rPr lang="en-US" sz="2200" dirty="0" err="1" smtClean="0"/>
              <a:t>kolom</a:t>
            </a:r>
            <a:r>
              <a:rPr lang="en-US" sz="2200" dirty="0" smtClean="0"/>
              <a:t> </a:t>
            </a:r>
            <a:r>
              <a:rPr lang="en-US" sz="2200" dirty="0" err="1" smtClean="0"/>
              <a:t>ketiga</a:t>
            </a:r>
            <a:r>
              <a:rPr lang="en-US" sz="2200" dirty="0" smtClean="0"/>
              <a:t> </a:t>
            </a:r>
            <a:r>
              <a:rPr lang="en-US" sz="2200" dirty="0" err="1" smtClean="0"/>
              <a:t>dengan</a:t>
            </a:r>
            <a:r>
              <a:rPr lang="en-US" sz="2200" dirty="0" smtClean="0"/>
              <a:t> </a:t>
            </a:r>
            <a:r>
              <a:rPr lang="en-US" sz="2200" dirty="0" err="1" smtClean="0"/>
              <a:t>matriks</a:t>
            </a:r>
            <a:r>
              <a:rPr lang="en-US" sz="2200" dirty="0" smtClean="0"/>
              <a:t> b </a:t>
            </a:r>
            <a:r>
              <a:rPr lang="en-US" sz="2200" dirty="0" smtClean="0">
                <a:sym typeface="Wingdings" panose="05000000000000000000" pitchFamily="2" charset="2"/>
              </a:rPr>
              <a:t> </a:t>
            </a:r>
            <a:endParaRPr lang="en-US" sz="2200" dirty="0" smtClean="0"/>
          </a:p>
          <a:p>
            <a:endParaRPr lang="en-US" sz="22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286000" y="1905000"/>
          <a:ext cx="34480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55168800" imgH="17068800" progId="Equation.3">
                  <p:embed/>
                </p:oleObj>
              </mc:Choice>
              <mc:Fallback>
                <p:oleObj name="Equation" r:id="rId1" imgW="55168800" imgH="170688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0" y="1905000"/>
                        <a:ext cx="344805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6477000" y="3276600"/>
          <a:ext cx="18859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30175200" imgH="17068800" progId="Equation.3">
                  <p:embed/>
                </p:oleObj>
              </mc:Choice>
              <mc:Fallback>
                <p:oleObj name="Equation" r:id="rId3" imgW="30175200" imgH="170688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77000" y="3276600"/>
                        <a:ext cx="188595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6467475" y="4419600"/>
          <a:ext cx="1905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30480000" imgH="17068800" progId="Equation.3">
                  <p:embed/>
                </p:oleObj>
              </mc:Choice>
              <mc:Fallback>
                <p:oleObj name="Equation" r:id="rId5" imgW="30480000" imgH="17068800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67475" y="4419600"/>
                        <a:ext cx="190500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6477000" y="5486400"/>
          <a:ext cx="19050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30480000" imgH="17068800" progId="Equation.3">
                  <p:embed/>
                </p:oleObj>
              </mc:Choice>
              <mc:Fallback>
                <p:oleObj name="Equation" r:id="rId7" imgW="30480000" imgH="17068800" progId="Equation.3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77000" y="5486400"/>
                        <a:ext cx="1905000" cy="1066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Langkah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Cramer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r>
              <a:rPr lang="en-US" sz="2800" dirty="0" err="1" smtClean="0"/>
              <a:t>Cari</a:t>
            </a:r>
            <a:r>
              <a:rPr lang="en-US" sz="2800" dirty="0" smtClean="0"/>
              <a:t> </a:t>
            </a:r>
            <a:r>
              <a:rPr lang="en-US" sz="2800" dirty="0" err="1" smtClean="0"/>
              <a:t>nilai</a:t>
            </a:r>
            <a:r>
              <a:rPr lang="en-US" sz="2800" dirty="0" smtClean="0"/>
              <a:t> </a:t>
            </a:r>
            <a:r>
              <a:rPr lang="en-US" sz="2800" dirty="0" err="1" smtClean="0"/>
              <a:t>determinan</a:t>
            </a:r>
            <a:r>
              <a:rPr lang="en-US" sz="2800" dirty="0" smtClean="0"/>
              <a:t> </a:t>
            </a:r>
            <a:r>
              <a:rPr lang="en-US" sz="2800" dirty="0" err="1" smtClean="0"/>
              <a:t>dari</a:t>
            </a:r>
            <a:r>
              <a:rPr lang="en-US" sz="2800" dirty="0" smtClean="0"/>
              <a:t> </a:t>
            </a:r>
            <a:r>
              <a:rPr lang="en-US" sz="2800" dirty="0" err="1" smtClean="0"/>
              <a:t>matriks</a:t>
            </a:r>
            <a:r>
              <a:rPr lang="en-US" sz="2800" dirty="0" smtClean="0"/>
              <a:t> </a:t>
            </a:r>
            <a:r>
              <a:rPr lang="en-US" sz="2800" dirty="0" err="1" smtClean="0"/>
              <a:t>baru</a:t>
            </a:r>
            <a:r>
              <a:rPr lang="en-US" sz="2800" dirty="0" smtClean="0"/>
              <a:t> </a:t>
            </a:r>
            <a:r>
              <a:rPr lang="en-US" sz="2800" dirty="0" err="1" smtClean="0"/>
              <a:t>hasil</a:t>
            </a:r>
            <a:r>
              <a:rPr lang="en-US" sz="2800" dirty="0" smtClean="0"/>
              <a:t> </a:t>
            </a:r>
            <a:r>
              <a:rPr lang="en-US" sz="2800" dirty="0" err="1" smtClean="0"/>
              <a:t>penggantian</a:t>
            </a:r>
            <a:r>
              <a:rPr lang="en-US" sz="2800" dirty="0" smtClean="0"/>
              <a:t> </a:t>
            </a:r>
            <a:r>
              <a:rPr lang="en-US" sz="2800" dirty="0" err="1" smtClean="0"/>
              <a:t>kolom</a:t>
            </a:r>
            <a:r>
              <a:rPr lang="en-US" sz="2800" dirty="0" smtClean="0"/>
              <a:t> </a:t>
            </a:r>
            <a:r>
              <a:rPr lang="en-US" sz="2800" dirty="0" err="1" smtClean="0"/>
              <a:t>dengan</a:t>
            </a:r>
            <a:r>
              <a:rPr lang="en-US" sz="2800" dirty="0" smtClean="0"/>
              <a:t> </a:t>
            </a:r>
            <a:r>
              <a:rPr lang="en-US" sz="2800" dirty="0" err="1" smtClean="0"/>
              <a:t>matriks</a:t>
            </a:r>
            <a:r>
              <a:rPr lang="en-US" sz="2800" dirty="0" smtClean="0"/>
              <a:t> b</a:t>
            </a:r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err="1" smtClean="0"/>
              <a:t>Cari</a:t>
            </a:r>
            <a:r>
              <a:rPr lang="en-US" sz="2800" dirty="0" smtClean="0"/>
              <a:t> </a:t>
            </a:r>
            <a:r>
              <a:rPr lang="en-US" sz="2800" dirty="0" err="1" smtClean="0"/>
              <a:t>nilai</a:t>
            </a:r>
            <a:r>
              <a:rPr lang="en-US" sz="2800" dirty="0" smtClean="0"/>
              <a:t> x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, x</a:t>
            </a:r>
            <a:r>
              <a:rPr lang="en-US" sz="2800" baseline="-25000" dirty="0" smtClean="0"/>
              <a:t>2</a:t>
            </a:r>
            <a:r>
              <a:rPr lang="en-US" sz="2800" dirty="0" smtClean="0"/>
              <a:t> </a:t>
            </a:r>
            <a:r>
              <a:rPr lang="en-US" sz="2800" dirty="0" err="1" smtClean="0"/>
              <a:t>dan</a:t>
            </a:r>
            <a:r>
              <a:rPr lang="en-US" sz="2800" dirty="0" smtClean="0"/>
              <a:t> x</a:t>
            </a:r>
            <a:r>
              <a:rPr lang="en-US" sz="2800" baseline="-25000" dirty="0" smtClean="0"/>
              <a:t>3</a:t>
            </a:r>
            <a:r>
              <a:rPr lang="en-US" sz="2800" dirty="0" smtClean="0"/>
              <a:t> </a:t>
            </a:r>
            <a:r>
              <a:rPr lang="en-US" sz="2800" dirty="0" err="1" smtClean="0"/>
              <a:t>dengan</a:t>
            </a:r>
            <a:r>
              <a:rPr lang="en-US" sz="2800" dirty="0" smtClean="0"/>
              <a:t> </a:t>
            </a:r>
            <a:r>
              <a:rPr lang="en-US" sz="2800" dirty="0" err="1" smtClean="0"/>
              <a:t>rumusan</a:t>
            </a:r>
            <a:r>
              <a:rPr lang="en-US" sz="2800" dirty="0" smtClean="0"/>
              <a:t>:</a:t>
            </a:r>
            <a:endParaRPr lang="en-US" sz="2800" dirty="0" smtClean="0"/>
          </a:p>
          <a:p>
            <a:endParaRPr lang="en-US" sz="2800" dirty="0"/>
          </a:p>
        </p:txBody>
      </p:sp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723503" y="2590800"/>
          <a:ext cx="2864644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35661600" imgH="17068800" progId="Equation.3">
                  <p:embed/>
                </p:oleObj>
              </mc:Choice>
              <mc:Fallback>
                <p:oleObj name="Equation" r:id="rId1" imgW="35661600" imgH="170688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23503" y="2590800"/>
                        <a:ext cx="2864644" cy="1371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3484563" y="2667000"/>
          <a:ext cx="2729335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35966400" imgH="17068800" progId="Equation.3">
                  <p:embed/>
                </p:oleObj>
              </mc:Choice>
              <mc:Fallback>
                <p:oleObj name="Equation" r:id="rId3" imgW="35966400" imgH="17068800" progId="Equation.3">
                  <p:embed/>
                  <p:pic>
                    <p:nvPicPr>
                      <p:cNvPr id="0" name="Object 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84563" y="2667000"/>
                        <a:ext cx="2729335" cy="1295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6105524" y="2667000"/>
          <a:ext cx="2660197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5" imgW="35052000" imgH="17068800" progId="Equation.3">
                  <p:embed/>
                </p:oleObj>
              </mc:Choice>
              <mc:Fallback>
                <p:oleObj name="Equation" r:id="rId5" imgW="35052000" imgH="17068800" progId="Equation.3">
                  <p:embed/>
                  <p:pic>
                    <p:nvPicPr>
                      <p:cNvPr id="0" name="Object 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05524" y="2667000"/>
                        <a:ext cx="2660197" cy="1295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914400" y="4648200"/>
          <a:ext cx="7100888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Equation" r:id="rId7" imgW="62484000" imgH="10058400" progId="Equation.3">
                  <p:embed/>
                </p:oleObj>
              </mc:Choice>
              <mc:Fallback>
                <p:oleObj name="Equation" r:id="rId7" imgW="62484000" imgH="10058400" progId="Equation.3">
                  <p:embed/>
                  <p:pic>
                    <p:nvPicPr>
                      <p:cNvPr id="0" name="Picture 102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14400" y="4648200"/>
                        <a:ext cx="7100888" cy="1143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 err="1" smtClean="0"/>
              <a:t>Soal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Gunakan</a:t>
            </a:r>
            <a:r>
              <a:rPr lang="en-US" dirty="0" smtClean="0"/>
              <a:t> </a:t>
            </a:r>
            <a:r>
              <a:rPr lang="en-US" dirty="0" err="1" smtClean="0"/>
              <a:t>metode</a:t>
            </a:r>
            <a:r>
              <a:rPr lang="en-US" dirty="0" smtClean="0"/>
              <a:t> </a:t>
            </a:r>
            <a:r>
              <a:rPr lang="en-US" dirty="0" err="1" smtClean="0"/>
              <a:t>cramer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menyelesaikan</a:t>
            </a:r>
            <a:r>
              <a:rPr lang="en-US" dirty="0" smtClean="0"/>
              <a:t> </a:t>
            </a:r>
            <a:r>
              <a:rPr lang="en-US" dirty="0" err="1" smtClean="0"/>
              <a:t>persoalan</a:t>
            </a:r>
            <a:r>
              <a:rPr lang="en-US" dirty="0" smtClean="0"/>
              <a:t> </a:t>
            </a:r>
            <a:r>
              <a:rPr lang="en-US" dirty="0" err="1" smtClean="0"/>
              <a:t>di</a:t>
            </a:r>
            <a:r>
              <a:rPr lang="en-US" dirty="0" smtClean="0"/>
              <a:t> </a:t>
            </a:r>
            <a:r>
              <a:rPr lang="en-US" dirty="0" err="1" smtClean="0"/>
              <a:t>bawah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endParaRPr lang="en-US" dirty="0" smtClean="0"/>
          </a:p>
          <a:p>
            <a:pPr lvl="1">
              <a:buNone/>
            </a:pPr>
            <a:r>
              <a:rPr lang="en-US" b="1" dirty="0" smtClean="0"/>
              <a:t>   x</a:t>
            </a:r>
            <a:r>
              <a:rPr lang="en-US" b="1" baseline="-25000" dirty="0" smtClean="0"/>
              <a:t>1</a:t>
            </a:r>
            <a:r>
              <a:rPr lang="en-US" b="1" dirty="0" smtClean="0"/>
              <a:t> + 2x</a:t>
            </a:r>
            <a:r>
              <a:rPr lang="en-US" b="1" baseline="-25000" dirty="0" smtClean="0"/>
              <a:t>3</a:t>
            </a:r>
            <a:r>
              <a:rPr lang="en-US" b="1" dirty="0" smtClean="0"/>
              <a:t>           = 6</a:t>
            </a:r>
            <a:endParaRPr lang="en-US" b="1" dirty="0" smtClean="0"/>
          </a:p>
          <a:p>
            <a:pPr lvl="1">
              <a:buNone/>
            </a:pPr>
            <a:r>
              <a:rPr lang="en-US" b="1" dirty="0" smtClean="0"/>
              <a:t>-3x</a:t>
            </a:r>
            <a:r>
              <a:rPr lang="en-US" b="1" baseline="-25000" dirty="0" smtClean="0"/>
              <a:t>1</a:t>
            </a:r>
            <a:r>
              <a:rPr lang="en-US" b="1" dirty="0" smtClean="0"/>
              <a:t> + 4x</a:t>
            </a:r>
            <a:r>
              <a:rPr lang="en-US" b="1" baseline="-25000" dirty="0" smtClean="0"/>
              <a:t>2</a:t>
            </a:r>
            <a:r>
              <a:rPr lang="en-US" b="1" dirty="0" smtClean="0"/>
              <a:t> + 6x</a:t>
            </a:r>
            <a:r>
              <a:rPr lang="en-US" b="1" baseline="-25000" dirty="0" smtClean="0"/>
              <a:t>3</a:t>
            </a:r>
            <a:r>
              <a:rPr lang="en-US" b="1" dirty="0" smtClean="0"/>
              <a:t> = 30</a:t>
            </a:r>
            <a:endParaRPr lang="en-US" b="1" dirty="0" smtClean="0"/>
          </a:p>
          <a:p>
            <a:pPr lvl="1">
              <a:buNone/>
            </a:pPr>
            <a:r>
              <a:rPr lang="en-US" b="1" dirty="0" smtClean="0"/>
              <a:t>  -x</a:t>
            </a:r>
            <a:r>
              <a:rPr lang="en-US" b="1" baseline="-25000" dirty="0" smtClean="0"/>
              <a:t>1</a:t>
            </a:r>
            <a:r>
              <a:rPr lang="en-US" b="1" dirty="0" smtClean="0"/>
              <a:t> - 2x</a:t>
            </a:r>
            <a:r>
              <a:rPr lang="en-US" b="1" baseline="-25000" dirty="0" smtClean="0"/>
              <a:t>2</a:t>
            </a:r>
            <a:r>
              <a:rPr lang="en-US" b="1" dirty="0" smtClean="0"/>
              <a:t> + 3x</a:t>
            </a:r>
            <a:r>
              <a:rPr lang="en-US" b="1" baseline="-25000" dirty="0" smtClean="0"/>
              <a:t>3</a:t>
            </a:r>
            <a:r>
              <a:rPr lang="en-US" b="1" dirty="0" smtClean="0"/>
              <a:t>  = 8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Penyelesaian</a:t>
            </a:r>
            <a:r>
              <a:rPr lang="en-US" dirty="0" smtClean="0"/>
              <a:t> </a:t>
            </a:r>
            <a:r>
              <a:rPr lang="en-US" dirty="0" err="1" smtClean="0"/>
              <a:t>Soal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Bentuk</a:t>
            </a:r>
            <a:r>
              <a:rPr lang="en-US" dirty="0" smtClean="0"/>
              <a:t> </a:t>
            </a:r>
            <a:r>
              <a:rPr lang="en-US" dirty="0" err="1" smtClean="0"/>
              <a:t>dalam</a:t>
            </a:r>
            <a:r>
              <a:rPr lang="en-US" dirty="0" smtClean="0"/>
              <a:t> </a:t>
            </a:r>
            <a:r>
              <a:rPr lang="en-US" dirty="0" err="1" smtClean="0"/>
              <a:t>matriks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Cari</a:t>
            </a:r>
            <a:r>
              <a:rPr lang="en-US" dirty="0" smtClean="0"/>
              <a:t> </a:t>
            </a:r>
            <a:r>
              <a:rPr lang="en-US" dirty="0" err="1" smtClean="0"/>
              <a:t>det</a:t>
            </a:r>
            <a:r>
              <a:rPr lang="en-US" dirty="0" smtClean="0"/>
              <a:t>(A),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ekspansi</a:t>
            </a:r>
            <a:r>
              <a:rPr lang="en-US" dirty="0" smtClean="0"/>
              <a:t> </a:t>
            </a:r>
            <a:r>
              <a:rPr lang="en-US" dirty="0" err="1" smtClean="0"/>
              <a:t>baris</a:t>
            </a:r>
            <a:r>
              <a:rPr lang="en-US" dirty="0" smtClean="0"/>
              <a:t> </a:t>
            </a:r>
            <a:r>
              <a:rPr lang="en-US" dirty="0" err="1" smtClean="0"/>
              <a:t>pertama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990600" y="2133600"/>
          <a:ext cx="3169104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Equation" r:id="rId1" imgW="41757600" imgH="17068800" progId="Equation.3">
                  <p:embed/>
                </p:oleObj>
              </mc:Choice>
              <mc:Fallback>
                <p:oleObj name="Equation" r:id="rId1" imgW="41757600" imgH="17068800" progId="Equation.3">
                  <p:embed/>
                  <p:pic>
                    <p:nvPicPr>
                      <p:cNvPr id="0" name="Picture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0600" y="2133600"/>
                        <a:ext cx="3169104" cy="1295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2743200" y="3900528"/>
          <a:ext cx="4038600" cy="26526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49682400" imgH="32613600" progId="Equation.3">
                  <p:embed/>
                </p:oleObj>
              </mc:Choice>
              <mc:Fallback>
                <p:oleObj name="Equation" r:id="rId3" imgW="49682400" imgH="32613600" progId="Equation.3">
                  <p:embed/>
                  <p:pic>
                    <p:nvPicPr>
                      <p:cNvPr id="0" name="Picture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43200" y="3900528"/>
                        <a:ext cx="4038600" cy="265267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Penyelesaian</a:t>
            </a:r>
            <a:r>
              <a:rPr lang="en-US" dirty="0" smtClean="0"/>
              <a:t> </a:t>
            </a:r>
            <a:r>
              <a:rPr lang="en-US" dirty="0" err="1" smtClean="0"/>
              <a:t>Soal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 smtClean="0"/>
              <a:t>Ganti</a:t>
            </a:r>
            <a:r>
              <a:rPr lang="en-US" sz="2800" dirty="0" smtClean="0"/>
              <a:t> </a:t>
            </a:r>
            <a:r>
              <a:rPr lang="en-US" sz="2800" dirty="0" err="1" smtClean="0"/>
              <a:t>kolom</a:t>
            </a:r>
            <a:r>
              <a:rPr lang="en-US" sz="2800" dirty="0" smtClean="0"/>
              <a:t> </a:t>
            </a:r>
            <a:r>
              <a:rPr lang="en-US" sz="2800" dirty="0" err="1" smtClean="0"/>
              <a:t>dengan</a:t>
            </a:r>
            <a:r>
              <a:rPr lang="en-US" sz="2800" dirty="0" smtClean="0"/>
              <a:t> </a:t>
            </a:r>
            <a:r>
              <a:rPr lang="en-US" sz="2800" dirty="0" err="1" smtClean="0"/>
              <a:t>matriks</a:t>
            </a:r>
            <a:r>
              <a:rPr lang="en-US" sz="2800" dirty="0" smtClean="0"/>
              <a:t> b</a:t>
            </a:r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pPr lvl="1"/>
            <a:r>
              <a:rPr lang="en-US" sz="2400" dirty="0" err="1" smtClean="0"/>
              <a:t>Cari</a:t>
            </a:r>
            <a:r>
              <a:rPr lang="en-US" sz="2400" dirty="0" smtClean="0"/>
              <a:t> </a:t>
            </a:r>
            <a:r>
              <a:rPr lang="en-US" sz="2400" dirty="0" err="1" smtClean="0"/>
              <a:t>determinan</a:t>
            </a:r>
            <a:r>
              <a:rPr lang="en-US" sz="2400" dirty="0" smtClean="0"/>
              <a:t> </a:t>
            </a:r>
            <a:r>
              <a:rPr lang="en-US" sz="2400" dirty="0" err="1" smtClean="0"/>
              <a:t>masing-masing</a:t>
            </a:r>
            <a:endParaRPr lang="en-US" sz="2400" dirty="0" smtClean="0"/>
          </a:p>
          <a:p>
            <a:pPr lvl="2"/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ekspansi</a:t>
            </a:r>
            <a:r>
              <a:rPr lang="en-US" sz="2000" dirty="0" smtClean="0"/>
              <a:t> </a:t>
            </a:r>
            <a:r>
              <a:rPr lang="en-US" sz="2000" dirty="0" err="1" smtClean="0"/>
              <a:t>baris</a:t>
            </a:r>
            <a:r>
              <a:rPr lang="en-US" sz="2000" dirty="0" smtClean="0"/>
              <a:t> </a:t>
            </a:r>
            <a:r>
              <a:rPr lang="en-US" sz="2000" dirty="0" err="1" smtClean="0"/>
              <a:t>pertama</a:t>
            </a:r>
            <a:endParaRPr lang="en-US" sz="2000" dirty="0" smtClean="0"/>
          </a:p>
          <a:p>
            <a:endParaRPr lang="en-US" sz="2800" dirty="0"/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838200" y="1902647"/>
          <a:ext cx="7481795" cy="1450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Equation" r:id="rId1" imgW="88087200" imgH="17068800" progId="Equation.3">
                  <p:embed/>
                </p:oleObj>
              </mc:Choice>
              <mc:Fallback>
                <p:oleObj name="Equation" r:id="rId1" imgW="88087200" imgH="170688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1902647"/>
                        <a:ext cx="7481795" cy="145015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1598613" y="3824288"/>
          <a:ext cx="3963987" cy="265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3" imgW="48768000" imgH="32613600" progId="Equation.3">
                  <p:embed/>
                </p:oleObj>
              </mc:Choice>
              <mc:Fallback>
                <p:oleObj name="Equation" r:id="rId3" imgW="48768000" imgH="326136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8613" y="3824288"/>
                        <a:ext cx="3963987" cy="26527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Penyelesaian</a:t>
            </a:r>
            <a:r>
              <a:rPr lang="en-US" dirty="0" smtClean="0"/>
              <a:t> </a:t>
            </a:r>
            <a:r>
              <a:rPr lang="en-US" dirty="0" err="1" smtClean="0"/>
              <a:t>Soal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 smtClean="0"/>
              <a:t>Ganti</a:t>
            </a:r>
            <a:r>
              <a:rPr lang="en-US" sz="2800" dirty="0" smtClean="0"/>
              <a:t> </a:t>
            </a:r>
            <a:r>
              <a:rPr lang="en-US" sz="2800" dirty="0" err="1" smtClean="0"/>
              <a:t>kolom</a:t>
            </a:r>
            <a:r>
              <a:rPr lang="en-US" sz="2800" dirty="0" smtClean="0"/>
              <a:t> </a:t>
            </a:r>
            <a:r>
              <a:rPr lang="en-US" sz="2800" dirty="0" err="1" smtClean="0"/>
              <a:t>dengan</a:t>
            </a:r>
            <a:r>
              <a:rPr lang="en-US" sz="2800" dirty="0" smtClean="0"/>
              <a:t> </a:t>
            </a:r>
            <a:r>
              <a:rPr lang="en-US" sz="2800" dirty="0" err="1" smtClean="0"/>
              <a:t>matriks</a:t>
            </a:r>
            <a:r>
              <a:rPr lang="en-US" sz="2800" dirty="0" smtClean="0"/>
              <a:t> b</a:t>
            </a:r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pPr lvl="1"/>
            <a:r>
              <a:rPr lang="en-US" sz="2400" dirty="0" err="1" smtClean="0"/>
              <a:t>Cari</a:t>
            </a:r>
            <a:r>
              <a:rPr lang="en-US" sz="2400" dirty="0" smtClean="0"/>
              <a:t> </a:t>
            </a:r>
            <a:r>
              <a:rPr lang="en-US" sz="2400" dirty="0" err="1" smtClean="0"/>
              <a:t>determinan</a:t>
            </a:r>
            <a:r>
              <a:rPr lang="en-US" sz="2400" dirty="0" smtClean="0"/>
              <a:t> </a:t>
            </a:r>
            <a:r>
              <a:rPr lang="en-US" sz="2400" dirty="0" err="1" smtClean="0"/>
              <a:t>masing-masing</a:t>
            </a:r>
            <a:endParaRPr lang="en-US" sz="2400" dirty="0" smtClean="0"/>
          </a:p>
          <a:p>
            <a:pPr lvl="2"/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ekspansi</a:t>
            </a:r>
            <a:r>
              <a:rPr lang="en-US" sz="2000" dirty="0" smtClean="0"/>
              <a:t> </a:t>
            </a:r>
            <a:r>
              <a:rPr lang="en-US" sz="2000" dirty="0" err="1" smtClean="0"/>
              <a:t>baris</a:t>
            </a:r>
            <a:r>
              <a:rPr lang="en-US" sz="2000" dirty="0" smtClean="0"/>
              <a:t> </a:t>
            </a:r>
            <a:r>
              <a:rPr lang="en-US" sz="2000" dirty="0" err="1" smtClean="0"/>
              <a:t>pertama</a:t>
            </a:r>
            <a:endParaRPr lang="en-US" sz="2000" dirty="0" smtClean="0"/>
          </a:p>
          <a:p>
            <a:endParaRPr lang="en-US" sz="2800" dirty="0"/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838200" y="1902647"/>
          <a:ext cx="7481795" cy="1450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Equation" r:id="rId1" imgW="88087200" imgH="17068800" progId="Equation.3">
                  <p:embed/>
                </p:oleObj>
              </mc:Choice>
              <mc:Fallback>
                <p:oleObj name="Equation" r:id="rId1" imgW="88087200" imgH="170688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1902647"/>
                        <a:ext cx="7481795" cy="145015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1635125" y="3824288"/>
          <a:ext cx="3889375" cy="265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Equation" r:id="rId3" imgW="47853600" imgH="32613600" progId="Equation.3">
                  <p:embed/>
                </p:oleObj>
              </mc:Choice>
              <mc:Fallback>
                <p:oleObj name="Equation" r:id="rId3" imgW="47853600" imgH="326136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35125" y="3824288"/>
                        <a:ext cx="3889375" cy="26527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Penyelesaian</a:t>
            </a:r>
            <a:r>
              <a:rPr lang="en-US" dirty="0" smtClean="0"/>
              <a:t> </a:t>
            </a:r>
            <a:r>
              <a:rPr lang="en-US" dirty="0" err="1" smtClean="0"/>
              <a:t>Soal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 smtClean="0"/>
              <a:t>Ganti</a:t>
            </a:r>
            <a:r>
              <a:rPr lang="en-US" sz="2800" dirty="0" smtClean="0"/>
              <a:t> </a:t>
            </a:r>
            <a:r>
              <a:rPr lang="en-US" sz="2800" dirty="0" err="1" smtClean="0"/>
              <a:t>kolom</a:t>
            </a:r>
            <a:r>
              <a:rPr lang="en-US" sz="2800" dirty="0" smtClean="0"/>
              <a:t> </a:t>
            </a:r>
            <a:r>
              <a:rPr lang="en-US" sz="2800" dirty="0" err="1" smtClean="0"/>
              <a:t>dengan</a:t>
            </a:r>
            <a:r>
              <a:rPr lang="en-US" sz="2800" dirty="0" smtClean="0"/>
              <a:t> </a:t>
            </a:r>
            <a:r>
              <a:rPr lang="en-US" sz="2800" dirty="0" err="1" smtClean="0"/>
              <a:t>matriks</a:t>
            </a:r>
            <a:r>
              <a:rPr lang="en-US" sz="2800" dirty="0" smtClean="0"/>
              <a:t> b</a:t>
            </a:r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pPr lvl="1"/>
            <a:r>
              <a:rPr lang="en-US" sz="2400" dirty="0" err="1" smtClean="0"/>
              <a:t>Cari</a:t>
            </a:r>
            <a:r>
              <a:rPr lang="en-US" sz="2400" dirty="0" smtClean="0"/>
              <a:t> </a:t>
            </a:r>
            <a:r>
              <a:rPr lang="en-US" sz="2400" dirty="0" err="1" smtClean="0"/>
              <a:t>determinan</a:t>
            </a:r>
            <a:r>
              <a:rPr lang="en-US" sz="2400" dirty="0" smtClean="0"/>
              <a:t> </a:t>
            </a:r>
            <a:r>
              <a:rPr lang="en-US" sz="2400" dirty="0" err="1" smtClean="0"/>
              <a:t>masing-masing</a:t>
            </a:r>
            <a:endParaRPr lang="en-US" sz="2400" dirty="0" smtClean="0"/>
          </a:p>
          <a:p>
            <a:pPr lvl="2"/>
            <a:r>
              <a:rPr lang="en-US" sz="2000" dirty="0" err="1" smtClean="0"/>
              <a:t>dengan</a:t>
            </a:r>
            <a:r>
              <a:rPr lang="en-US" sz="2000" dirty="0" smtClean="0"/>
              <a:t> </a:t>
            </a:r>
            <a:r>
              <a:rPr lang="en-US" sz="2000" dirty="0" err="1" smtClean="0"/>
              <a:t>ekspansi</a:t>
            </a:r>
            <a:r>
              <a:rPr lang="en-US" sz="2000" dirty="0" smtClean="0"/>
              <a:t> </a:t>
            </a:r>
            <a:r>
              <a:rPr lang="en-US" sz="2000" dirty="0" err="1" smtClean="0"/>
              <a:t>baris</a:t>
            </a:r>
            <a:r>
              <a:rPr lang="en-US" sz="2000" dirty="0" smtClean="0"/>
              <a:t> </a:t>
            </a:r>
            <a:r>
              <a:rPr lang="en-US" sz="2000" dirty="0" err="1" smtClean="0"/>
              <a:t>pertama</a:t>
            </a:r>
            <a:endParaRPr lang="en-US" sz="2000" dirty="0" smtClean="0"/>
          </a:p>
          <a:p>
            <a:endParaRPr lang="en-US" sz="2800" dirty="0"/>
          </a:p>
        </p:txBody>
      </p:sp>
      <p:graphicFrame>
        <p:nvGraphicFramePr>
          <p:cNvPr id="25603" name="Object 3"/>
          <p:cNvGraphicFramePr>
            <a:graphicFrameLocks noChangeAspect="1"/>
          </p:cNvGraphicFramePr>
          <p:nvPr/>
        </p:nvGraphicFramePr>
        <p:xfrm>
          <a:off x="838200" y="1902647"/>
          <a:ext cx="7481795" cy="1450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7" name="Equation" r:id="rId1" imgW="88087200" imgH="17068800" progId="Equation.3">
                  <p:embed/>
                </p:oleObj>
              </mc:Choice>
              <mc:Fallback>
                <p:oleObj name="Equation" r:id="rId1" imgW="88087200" imgH="17068800" progId="Equation.3">
                  <p:embed/>
                  <p:pic>
                    <p:nvPicPr>
                      <p:cNvPr id="0" name="Object 3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8200" y="1902647"/>
                        <a:ext cx="7481795" cy="145015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1425575" y="3824288"/>
          <a:ext cx="4310063" cy="2652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Equation" r:id="rId3" imgW="53035200" imgH="32613600" progId="Equation.3">
                  <p:embed/>
                </p:oleObj>
              </mc:Choice>
              <mc:Fallback>
                <p:oleObj name="Equation" r:id="rId3" imgW="53035200" imgH="326136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5575" y="3824288"/>
                        <a:ext cx="4310063" cy="26527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Penyelesaian</a:t>
            </a:r>
            <a:r>
              <a:rPr lang="en-US" dirty="0" smtClean="0"/>
              <a:t> </a:t>
            </a:r>
            <a:r>
              <a:rPr lang="en-US" dirty="0" err="1" smtClean="0"/>
              <a:t>Soal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err="1" smtClean="0"/>
              <a:t>Cari</a:t>
            </a:r>
            <a:r>
              <a:rPr lang="en-US" sz="2800" dirty="0" smtClean="0"/>
              <a:t> </a:t>
            </a:r>
            <a:r>
              <a:rPr lang="en-US" sz="2800" dirty="0" err="1" smtClean="0"/>
              <a:t>nilai</a:t>
            </a:r>
            <a:r>
              <a:rPr lang="en-US" sz="2800" dirty="0" smtClean="0"/>
              <a:t> x</a:t>
            </a:r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r>
              <a:rPr lang="en-US" sz="2800" dirty="0" err="1" smtClean="0"/>
              <a:t>Jadi</a:t>
            </a:r>
            <a:r>
              <a:rPr lang="en-US" sz="2800" dirty="0" smtClean="0"/>
              <a:t>, </a:t>
            </a:r>
            <a:r>
              <a:rPr lang="en-US" sz="2800" dirty="0" err="1" smtClean="0"/>
              <a:t>solusinya</a:t>
            </a:r>
            <a:r>
              <a:rPr lang="en-US" sz="2800" dirty="0" smtClean="0"/>
              <a:t> </a:t>
            </a:r>
            <a:endParaRPr lang="en-US" sz="2800" dirty="0" smtClean="0"/>
          </a:p>
          <a:p>
            <a:pPr lvl="1"/>
            <a:endParaRPr lang="en-US" sz="24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/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990600" y="2133600"/>
          <a:ext cx="3317875" cy="255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1" name="Equation" r:id="rId1" imgW="40843200" imgH="31394400" progId="Equation.3">
                  <p:embed/>
                </p:oleObj>
              </mc:Choice>
              <mc:Fallback>
                <p:oleObj name="Equation" r:id="rId1" imgW="40843200" imgH="31394400" progId="Equation.3">
                  <p:embed/>
                  <p:pic>
                    <p:nvPicPr>
                      <p:cNvPr id="0" name="Object 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90600" y="2133600"/>
                        <a:ext cx="3317875" cy="2552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4" name="Object 4"/>
          <p:cNvGraphicFramePr>
            <a:graphicFrameLocks noChangeAspect="1"/>
          </p:cNvGraphicFramePr>
          <p:nvPr/>
        </p:nvGraphicFramePr>
        <p:xfrm>
          <a:off x="3414712" y="4778374"/>
          <a:ext cx="389357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Equation" r:id="rId3" imgW="39319200" imgH="9448800" progId="Equation.3">
                  <p:embed/>
                </p:oleObj>
              </mc:Choice>
              <mc:Fallback>
                <p:oleObj name="Equation" r:id="rId3" imgW="39319200" imgH="9448800" progId="Equation.3">
                  <p:embed/>
                  <p:pic>
                    <p:nvPicPr>
                      <p:cNvPr id="0" name="Picture 1536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14712" y="4778374"/>
                        <a:ext cx="3893573" cy="9366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2799</Words>
  <Application>WPS Presentation</Application>
  <PresentationFormat>On-screen Show (4:3)</PresentationFormat>
  <Paragraphs>183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31</vt:i4>
      </vt:variant>
      <vt:variant>
        <vt:lpstr>幻灯片标题</vt:lpstr>
      </vt:variant>
      <vt:variant>
        <vt:i4>19</vt:i4>
      </vt:variant>
    </vt:vector>
  </HeadingPairs>
  <TitlesOfParts>
    <vt:vector size="58" baseType="lpstr">
      <vt:lpstr>Arial</vt:lpstr>
      <vt:lpstr>SimSun</vt:lpstr>
      <vt:lpstr>Wingdings</vt:lpstr>
      <vt:lpstr>Symbol</vt:lpstr>
      <vt:lpstr>Microsoft YaHei</vt:lpstr>
      <vt:lpstr>Arial Unicode MS</vt:lpstr>
      <vt:lpstr>Calibri</vt:lpstr>
      <vt:lpstr>Diseño predeterminado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MATRIKS		</vt:lpstr>
      <vt:lpstr>Adjoint</vt:lpstr>
      <vt:lpstr>Adjoint</vt:lpstr>
      <vt:lpstr>Invers Matrik dengan Adjoint</vt:lpstr>
      <vt:lpstr>Contoh</vt:lpstr>
      <vt:lpstr>Contoh-penyelesaian</vt:lpstr>
      <vt:lpstr>Contoh-penyelesaian</vt:lpstr>
      <vt:lpstr>METODE CRAMER</vt:lpstr>
      <vt:lpstr>Metode Cramer</vt:lpstr>
      <vt:lpstr>Metode Cramer</vt:lpstr>
      <vt:lpstr>Langkah Metode Cramer</vt:lpstr>
      <vt:lpstr>Langkah Metode Cramer</vt:lpstr>
      <vt:lpstr>Langkah Metode Cramer</vt:lpstr>
      <vt:lpstr>Contoh Soal</vt:lpstr>
      <vt:lpstr>Penyelesaian Soal</vt:lpstr>
      <vt:lpstr>Penyelesaian Soal</vt:lpstr>
      <vt:lpstr>Penyelesaian Soal</vt:lpstr>
      <vt:lpstr>Penyelesaian Soal</vt:lpstr>
      <vt:lpstr>Penyelesaian Soal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MATRIKS</dc:title>
  <dc:creator>dianpraja</dc:creator>
  <cp:lastModifiedBy>ASUS</cp:lastModifiedBy>
  <cp:revision>16</cp:revision>
  <dcterms:created xsi:type="dcterms:W3CDTF">2012-12-10T01:43:00Z</dcterms:created>
  <dcterms:modified xsi:type="dcterms:W3CDTF">2025-10-23T11:50:15Z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EB55B24031CF473DA674F27E537B69B6_13</vt:lpwstr>
  </property>
  <property fmtid="{D5CDD505-2E9C-101B-9397-08002B2CF9AE}" pid="3" name="KSOProductBuildVer">
    <vt:lpwstr>1033-12.2.0.23131</vt:lpwstr>
  </property>
</Properties>
</file>