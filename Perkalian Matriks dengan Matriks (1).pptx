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ustom.xml" ContentType="application/vnd.openxmlformats-officedocument.custom-propertie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257" r:id="rId2"/>
    <p:sldId id="333" r:id="rId3"/>
    <p:sldId id="407" r:id="rId4"/>
    <p:sldId id="414" r:id="rId5"/>
    <p:sldId id="415" r:id="rId6"/>
    <p:sldId id="423" r:id="rId7"/>
    <p:sldId id="425" r:id="rId8"/>
    <p:sldId id="426" r:id="rId9"/>
    <p:sldId id="413" r:id="rId10"/>
    <p:sldId id="408" r:id="rId11"/>
    <p:sldId id="409" r:id="rId12"/>
    <p:sldId id="468" r:id="rId13"/>
    <p:sldId id="453" r:id="rId14"/>
    <p:sldId id="454" r:id="rId15"/>
    <p:sldId id="455" r:id="rId16"/>
    <p:sldId id="456" r:id="rId17"/>
    <p:sldId id="458" r:id="rId18"/>
    <p:sldId id="459" r:id="rId19"/>
    <p:sldId id="460" r:id="rId20"/>
    <p:sldId id="461" r:id="rId21"/>
    <p:sldId id="462" r:id="rId22"/>
    <p:sldId id="463" r:id="rId23"/>
    <p:sldId id="464" r:id="rId24"/>
    <p:sldId id="465" r:id="rId25"/>
    <p:sldId id="466" r:id="rId26"/>
    <p:sldId id="396" r:id="rId27"/>
    <p:sldId id="417" r:id="rId28"/>
    <p:sldId id="422" r:id="rId29"/>
    <p:sldId id="421" r:id="rId30"/>
    <p:sldId id="424" r:id="rId31"/>
    <p:sldId id="448" r:id="rId32"/>
    <p:sldId id="449" r:id="rId33"/>
    <p:sldId id="450" r:id="rId34"/>
    <p:sldId id="451" r:id="rId35"/>
    <p:sldId id="452" r:id="rId36"/>
    <p:sldId id="400" r:id="rId37"/>
    <p:sldId id="467" r:id="rId38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Rockwell Extra Bold" panose="02060903040505020403" pitchFamily="18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Rockwell Extra Bold" panose="02060903040505020403" pitchFamily="18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Rockwell Extra Bold" panose="02060903040505020403" pitchFamily="18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Rockwell Extra Bold" panose="02060903040505020403" pitchFamily="18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Rockwell Extra Bold" panose="02060903040505020403" pitchFamily="18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Rockwell Extra Bold" panose="02060903040505020403" pitchFamily="18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Rockwell Extra Bold" panose="02060903040505020403" pitchFamily="18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Rockwell Extra Bold" panose="02060903040505020403" pitchFamily="18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Rockwell Extra Bold" panose="02060903040505020403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22"/>
    <p:restoredTop sz="99598"/>
  </p:normalViewPr>
  <p:slideViewPr>
    <p:cSldViewPr showGuides="1">
      <p:cViewPr varScale="1">
        <p:scale>
          <a:sx n="77" d="100"/>
          <a:sy n="77" d="100"/>
        </p:scale>
        <p:origin x="-122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6.wmf"/><Relationship Id="rId4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4" Type="http://schemas.openxmlformats.org/officeDocument/2006/relationships/image" Target="../media/image3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28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28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7" Type="http://schemas.openxmlformats.org/officeDocument/2006/relationships/image" Target="../media/image55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2.wmf"/><Relationship Id="rId1" Type="http://schemas.openxmlformats.org/officeDocument/2006/relationships/image" Target="../media/image56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4" Type="http://schemas.openxmlformats.org/officeDocument/2006/relationships/image" Target="../media/image64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5300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>
                <a:buNone/>
              </a:pPr>
              <a:t>‹#›</a:t>
            </a:fld>
            <a:endParaRPr lang="en-US" sz="120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1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5632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2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5734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3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7373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4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7475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5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7577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6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7680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7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7782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8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7885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9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7987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10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8089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r>
              <a:rPr lang="id-ID" altLang="x-none" dirty="0"/>
              <a:t>Onal 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11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8192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13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8294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14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8397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15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8499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16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8601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17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8704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18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8806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19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8909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20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9011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21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9113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22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9216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23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24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9421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25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9523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26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9625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Jawaban :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a. D = {x | -5 &lt; x &lt; 5, x E N} D= {1,2,3,4}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b. B = {x | x | -5 &lt; x &lt; 5, x E Z} D= {-4,-3,-2,-1,0,1,2,3,4}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2.  a. Sama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b. Ekivalen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27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9728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Jawaban :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a. D = {x | -5 &lt; x &lt; 5, x E N} D= {1,2,3,4}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b. B = {x | x | -5 &lt; x &lt; 5, x E Z} D= {-4,-3,-2,-1,0,1,2,3,4}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2.  a. Sama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b. Ekivalen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28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9830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Jawaban :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a. D = {x | -5 &lt; x &lt; 5, x E N} D= {1,2,3,4}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b. B = {x | x | -5 &lt; x &lt; 5, x E Z} D= {-4,-3,-2,-1,0,1,2,3,4}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2.  a. Sama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b. Ekivalen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29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Jawaban :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a. D = {x | -5 &lt; x &lt; 5, x E N} D= {1,2,3,4}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b. B = {x | x | -5 &lt; x &lt; 5, x E Z} D= {-4,-3,-2,-1,0,1,2,3,4}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2.  a. Sama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b. Ekivalen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30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10035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Jawaban :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a. D = {x | -5 &lt; x &lt; 5, x E N} D= {1,2,3,4}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b. B = {x | x | -5 &lt; x &lt; 5, x E Z} D= {-4,-3,-2,-1,0,1,2,3,4}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2.  a. Sama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b. Ekivalen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31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10137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32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10240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33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10342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34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10445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35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10547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>
                <a:latin typeface="Arial" panose="020B0604020202020204" pitchFamily="34" charset="0"/>
              </a:rPr>
              <a:pPr lvl="0" algn="r" eaLnBrk="1" hangingPunct="1"/>
              <a:t>36</a:t>
            </a:fld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10649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id-ID" altLang="x-none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Rockwell Extra Bold" panose="02060903040505020403" pitchFamily="18" charset="0"/>
              </a:rPr>
              <a:pPr lvl="0" eaLnBrk="1" hangingPunct="1">
                <a:buNone/>
              </a:pPr>
              <a:t>‹#›</a:t>
            </a:fld>
            <a:endParaRPr lang="en-US" dirty="0">
              <a:latin typeface="Rockwell Extra Bold" panose="02060903040505020403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Rockwell Extra Bold" panose="02060903040505020403" pitchFamily="18" charset="0"/>
              </a:rPr>
              <a:pPr lvl="0" eaLnBrk="1" hangingPunct="1">
                <a:buNone/>
              </a:pPr>
              <a:t>‹#›</a:t>
            </a:fld>
            <a:endParaRPr lang="en-US" dirty="0">
              <a:latin typeface="Rockwell Extra Bold" panose="02060903040505020403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Rockwell Extra Bold" panose="02060903040505020403" pitchFamily="18" charset="0"/>
              </a:rPr>
              <a:pPr lvl="0" eaLnBrk="1" hangingPunct="1">
                <a:buNone/>
              </a:pPr>
              <a:t>‹#›</a:t>
            </a:fld>
            <a:endParaRPr lang="en-US" dirty="0">
              <a:latin typeface="Rockwell Extra Bold" panose="02060903040505020403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Rockwell Extra Bold" panose="02060903040505020403" pitchFamily="18" charset="0"/>
              </a:rPr>
              <a:pPr lvl="0" eaLnBrk="1" hangingPunct="1">
                <a:buNone/>
              </a:pPr>
              <a:t>‹#›</a:t>
            </a:fld>
            <a:endParaRPr lang="en-US" dirty="0">
              <a:latin typeface="Rockwell Extra Bold" panose="02060903040505020403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Rockwell Extra Bold" panose="02060903040505020403" pitchFamily="18" charset="0"/>
              </a:rPr>
              <a:pPr lvl="0" eaLnBrk="1" hangingPunct="1">
                <a:buNone/>
              </a:pPr>
              <a:t>‹#›</a:t>
            </a:fld>
            <a:endParaRPr lang="en-US" dirty="0">
              <a:latin typeface="Rockwell Extra Bold" panose="02060903040505020403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Rockwell Extra Bold" panose="02060903040505020403" pitchFamily="18" charset="0"/>
              </a:rPr>
              <a:pPr lvl="0" eaLnBrk="1" hangingPunct="1">
                <a:buNone/>
              </a:pPr>
              <a:t>‹#›</a:t>
            </a:fld>
            <a:endParaRPr lang="en-US" dirty="0">
              <a:latin typeface="Rockwell Extra Bold" panose="02060903040505020403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Rockwell Extra Bold" panose="02060903040505020403" pitchFamily="18" charset="0"/>
              </a:rPr>
              <a:pPr lvl="0" eaLnBrk="1" hangingPunct="1">
                <a:buNone/>
              </a:pPr>
              <a:t>‹#›</a:t>
            </a:fld>
            <a:endParaRPr lang="en-US" dirty="0">
              <a:latin typeface="Rockwell Extra Bold" panose="02060903040505020403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Rockwell Extra Bold" panose="02060903040505020403" pitchFamily="18" charset="0"/>
              </a:rPr>
              <a:pPr lvl="0" eaLnBrk="1" hangingPunct="1">
                <a:buNone/>
              </a:pPr>
              <a:t>‹#›</a:t>
            </a:fld>
            <a:endParaRPr lang="en-US" dirty="0">
              <a:latin typeface="Rockwell Extra Bold" panose="02060903040505020403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id-ID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Rockwell Extra Bold" panose="02060903040505020403" pitchFamily="18" charset="0"/>
              </a:rPr>
              <a:pPr lvl="0" eaLnBrk="1" hangingPunct="1">
                <a:buNone/>
              </a:pPr>
              <a:t>‹#›</a:t>
            </a:fld>
            <a:endParaRPr lang="en-US" dirty="0">
              <a:latin typeface="Rockwell Extra Bold" panose="02060903040505020403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Rockwell Extra Bold" panose="02060903040505020403" pitchFamily="18" charset="0"/>
              </a:rPr>
              <a:pPr lvl="0" eaLnBrk="1" hangingPunct="1">
                <a:buNone/>
              </a:pPr>
              <a:t>‹#›</a:t>
            </a:fld>
            <a:endParaRPr lang="en-US" dirty="0">
              <a:latin typeface="Rockwell Extra Bold" panose="02060903040505020403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Rockwell Extra Bold" panose="02060903040505020403" pitchFamily="18" charset="0"/>
              </a:rPr>
              <a:pPr lvl="0" eaLnBrk="1" hangingPunct="1">
                <a:buNone/>
              </a:pPr>
              <a:t>‹#›</a:t>
            </a:fld>
            <a:endParaRPr lang="en-US" dirty="0">
              <a:latin typeface="Rockwell Extra Bold" panose="02060903040505020403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dirty="0"/>
              <a:t>Click to edit Master title style</a:t>
            </a:r>
            <a:endParaRPr lang="id-ID" altLang="x-none" dirty="0"/>
          </a:p>
        </p:txBody>
      </p:sp>
      <p:sp>
        <p:nvSpPr>
          <p:cNvPr id="3993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id-ID" altLang="x-non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Rockwell Extra Bold" panose="02060903040505020403" pitchFamily="18" charset="0"/>
              </a:rPr>
              <a:pPr lvl="0" eaLnBrk="1" hangingPunct="1">
                <a:buNone/>
              </a:pPr>
              <a:t>‹#›</a:t>
            </a:fld>
            <a:endParaRPr lang="en-US" dirty="0">
              <a:latin typeface="Rockwell Extra Bold" panose="02060903040505020403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0.bin"/><Relationship Id="rId5" Type="http://schemas.openxmlformats.org/officeDocument/2006/relationships/oleObject" Target="../embeddings/oleObject9.bin"/><Relationship Id="rId4" Type="http://schemas.openxmlformats.org/officeDocument/2006/relationships/oleObject" Target="../embeddings/oleObject8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5" Type="http://schemas.openxmlformats.org/officeDocument/2006/relationships/oleObject" Target="../embeddings/oleObject13.bin"/><Relationship Id="rId4" Type="http://schemas.openxmlformats.org/officeDocument/2006/relationships/oleObject" Target="../embeddings/oleObject1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15.bin"/><Relationship Id="rId4" Type="http://schemas.openxmlformats.org/officeDocument/2006/relationships/oleObject" Target="../embeddings/oleObject14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8.bin"/><Relationship Id="rId5" Type="http://schemas.openxmlformats.org/officeDocument/2006/relationships/oleObject" Target="../embeddings/oleObject17.bin"/><Relationship Id="rId4" Type="http://schemas.openxmlformats.org/officeDocument/2006/relationships/oleObject" Target="../embeddings/oleObject16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notesSlide" Target="../notesSlides/notesSlide14.xml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1.bin"/><Relationship Id="rId5" Type="http://schemas.openxmlformats.org/officeDocument/2006/relationships/oleObject" Target="../embeddings/oleObject20.bin"/><Relationship Id="rId4" Type="http://schemas.openxmlformats.org/officeDocument/2006/relationships/oleObject" Target="../embeddings/oleObject19.bin"/><Relationship Id="rId9" Type="http://schemas.openxmlformats.org/officeDocument/2006/relationships/oleObject" Target="../embeddings/oleObject2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27.png"/><Relationship Id="rId4" Type="http://schemas.openxmlformats.org/officeDocument/2006/relationships/oleObject" Target="../embeddings/oleObject25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9.bin"/><Relationship Id="rId5" Type="http://schemas.openxmlformats.org/officeDocument/2006/relationships/oleObject" Target="../embeddings/oleObject28.bin"/><Relationship Id="rId4" Type="http://schemas.openxmlformats.org/officeDocument/2006/relationships/oleObject" Target="../embeddings/oleObject27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5.png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5" Type="http://schemas.openxmlformats.org/officeDocument/2006/relationships/oleObject" Target="../embeddings/oleObject33.bin"/><Relationship Id="rId4" Type="http://schemas.openxmlformats.org/officeDocument/2006/relationships/oleObject" Target="../embeddings/oleObject32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5" Type="http://schemas.openxmlformats.org/officeDocument/2006/relationships/oleObject" Target="../embeddings/oleObject35.bin"/><Relationship Id="rId4" Type="http://schemas.openxmlformats.org/officeDocument/2006/relationships/oleObject" Target="../embeddings/oleObject34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5" Type="http://schemas.openxmlformats.org/officeDocument/2006/relationships/oleObject" Target="../embeddings/oleObject37.bin"/><Relationship Id="rId4" Type="http://schemas.openxmlformats.org/officeDocument/2006/relationships/oleObject" Target="../embeddings/oleObject36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5" Type="http://schemas.openxmlformats.org/officeDocument/2006/relationships/oleObject" Target="../embeddings/oleObject39.bin"/><Relationship Id="rId4" Type="http://schemas.openxmlformats.org/officeDocument/2006/relationships/oleObject" Target="../embeddings/oleObject38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45.png"/><Relationship Id="rId4" Type="http://schemas.openxmlformats.org/officeDocument/2006/relationships/oleObject" Target="../embeddings/oleObject40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6.vml"/><Relationship Id="rId5" Type="http://schemas.openxmlformats.org/officeDocument/2006/relationships/oleObject" Target="../embeddings/oleObject43.bin"/><Relationship Id="rId4" Type="http://schemas.openxmlformats.org/officeDocument/2006/relationships/oleObject" Target="../embeddings/oleObject42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4" Type="http://schemas.openxmlformats.org/officeDocument/2006/relationships/oleObject" Target="../embeddings/oleObject44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notesSlide" Target="../notesSlides/notesSlide27.xml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47.bin"/><Relationship Id="rId5" Type="http://schemas.openxmlformats.org/officeDocument/2006/relationships/oleObject" Target="../embeddings/oleObject46.bin"/><Relationship Id="rId10" Type="http://schemas.openxmlformats.org/officeDocument/2006/relationships/oleObject" Target="../embeddings/oleObject51.bin"/><Relationship Id="rId4" Type="http://schemas.openxmlformats.org/officeDocument/2006/relationships/oleObject" Target="../embeddings/oleObject45.bin"/><Relationship Id="rId9" Type="http://schemas.openxmlformats.org/officeDocument/2006/relationships/oleObject" Target="../embeddings/oleObject50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54.bin"/><Relationship Id="rId5" Type="http://schemas.openxmlformats.org/officeDocument/2006/relationships/oleObject" Target="../embeddings/oleObject53.bin"/><Relationship Id="rId4" Type="http://schemas.openxmlformats.org/officeDocument/2006/relationships/oleObject" Target="../embeddings/oleObject52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57.bin"/><Relationship Id="rId5" Type="http://schemas.openxmlformats.org/officeDocument/2006/relationships/oleObject" Target="../embeddings/oleObject56.bin"/><Relationship Id="rId4" Type="http://schemas.openxmlformats.org/officeDocument/2006/relationships/oleObject" Target="../embeddings/oleObject55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7" Type="http://schemas.openxmlformats.org/officeDocument/2006/relationships/oleObject" Target="../embeddings/oleObject6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60.bin"/><Relationship Id="rId5" Type="http://schemas.openxmlformats.org/officeDocument/2006/relationships/oleObject" Target="../embeddings/oleObject59.bin"/><Relationship Id="rId4" Type="http://schemas.openxmlformats.org/officeDocument/2006/relationships/oleObject" Target="../embeddings/oleObject58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2.vml"/><Relationship Id="rId5" Type="http://schemas.openxmlformats.org/officeDocument/2006/relationships/oleObject" Target="../embeddings/oleObject63.bin"/><Relationship Id="rId4" Type="http://schemas.openxmlformats.org/officeDocument/2006/relationships/oleObject" Target="../embeddings/oleObject62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3.vml"/><Relationship Id="rId5" Type="http://schemas.openxmlformats.org/officeDocument/2006/relationships/oleObject" Target="../embeddings/oleObject65.bin"/><Relationship Id="rId4" Type="http://schemas.openxmlformats.org/officeDocument/2006/relationships/oleObject" Target="../embeddings/oleObject64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7" Type="http://schemas.openxmlformats.org/officeDocument/2006/relationships/oleObject" Target="../embeddings/oleObject6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67.bin"/><Relationship Id="rId5" Type="http://schemas.openxmlformats.org/officeDocument/2006/relationships/image" Target="../media/image72.png"/><Relationship Id="rId4" Type="http://schemas.openxmlformats.org/officeDocument/2006/relationships/oleObject" Target="../embeddings/oleObject66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71.bin"/><Relationship Id="rId5" Type="http://schemas.openxmlformats.org/officeDocument/2006/relationships/oleObject" Target="../embeddings/oleObject70.bin"/><Relationship Id="rId4" Type="http://schemas.openxmlformats.org/officeDocument/2006/relationships/oleObject" Target="../embeddings/oleObject69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/>
          <p:nvPr/>
        </p:nvSpPr>
        <p:spPr>
          <a:xfrm>
            <a:off x="1219200" y="4420235"/>
            <a:ext cx="6667500" cy="2056765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id-ID" altLang="x-none" sz="2400" b="1" dirty="0">
                <a:solidFill>
                  <a:schemeClr val="bg1"/>
                </a:solidFill>
                <a:latin typeface="Courier New" panose="02070309020205020404" pitchFamily="49" charset="0"/>
              </a:rPr>
              <a:t>PROGRAM STUDI TEKNIK INFORMATIKA</a:t>
            </a:r>
          </a:p>
          <a:p>
            <a:pPr algn="ctr"/>
            <a:endParaRPr lang="id-ID" altLang="x-none" sz="2400" b="1" dirty="0">
              <a:solidFill>
                <a:schemeClr val="bg1"/>
              </a:solidFill>
              <a:latin typeface="Courier New" panose="02070309020205020404" pitchFamily="49" charset="0"/>
            </a:endParaRP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</a:rPr>
              <a:t>UNIVERSITAS SEHATI INDONESIA</a:t>
            </a:r>
          </a:p>
          <a:p>
            <a:pPr algn="ctr"/>
            <a:endParaRPr lang="en-US" sz="2400" b="1" dirty="0">
              <a:solidFill>
                <a:schemeClr val="bg1"/>
              </a:solidFill>
              <a:latin typeface="Courier New" panose="02070309020205020404" pitchFamily="49" charset="0"/>
            </a:endParaRP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</a:rPr>
              <a:t>USINDO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ctrTitle"/>
          </p:nvPr>
        </p:nvSpPr>
        <p:spPr>
          <a:xfrm>
            <a:off x="533400" y="2667000"/>
            <a:ext cx="7848600" cy="1143000"/>
          </a:xfrm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484505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6600" b="0" i="0" u="none" strike="noStrike" kern="1200" cap="none" spc="0" normalizeH="0" baseline="0" noProof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Rockwell Extra Bold" panose="02060903040505020403" pitchFamily="18" charset="0"/>
                <a:ea typeface="+mj-ea"/>
                <a:cs typeface="+mj-cs"/>
              </a:rPr>
              <a:t>MATRIKS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Rockwell Extra Bold" panose="02060903040505020403" pitchFamily="18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7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DAFTAR SLIDE</a:t>
            </a: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1371600" y="1981200"/>
            <a:ext cx="5486400" cy="60960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4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Operasi Matriks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1371600" y="2971800"/>
            <a:ext cx="5486400" cy="609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4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Jenis-Jenis Matriks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371600" y="3962400"/>
            <a:ext cx="5486400" cy="609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Determinan Matriks</a:t>
            </a:r>
          </a:p>
        </p:txBody>
      </p:sp>
      <p:sp>
        <p:nvSpPr>
          <p:cNvPr id="16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2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7" name="Rounded Rectangle 16">
            <a:hlinkClick r:id="rId3" action="ppaction://hlinksldjump"/>
          </p:cNvPr>
          <p:cNvSpPr/>
          <p:nvPr/>
        </p:nvSpPr>
        <p:spPr>
          <a:xfrm>
            <a:off x="1371600" y="4876800"/>
            <a:ext cx="5486400" cy="609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4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Inverse Matriks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5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2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6" grpId="0" animBg="1"/>
      <p:bldP spid="12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81280" y="533400"/>
            <a:ext cx="8793480" cy="1028065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2. </a:t>
            </a:r>
            <a:r>
              <a:rPr kumimoji="0" 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PERKALIAN MATRIKS</a:t>
            </a:r>
            <a:r>
              <a:rPr kumimoji="0" lang="en-US" alt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 </a:t>
            </a: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DENGAN MATRIKS</a:t>
            </a:r>
            <a:endParaRPr kumimoji="0" lang="en-US" altLang="id-ID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Bodoni MT Black" panose="02070A03080606020203" pitchFamily="18" charset="0"/>
              <a:ea typeface="+mn-ea"/>
              <a:cs typeface="+mn-cs"/>
            </a:endParaRP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3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1600200"/>
            <a:ext cx="7620000" cy="34782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0680" indent="-360680">
              <a:buFont typeface="Wingdings" panose="05000000000000000000" pitchFamily="2" charset="2"/>
              <a:buChar char="q"/>
            </a:pPr>
            <a:r>
              <a:rPr lang="da-DK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Perkalian matriks dengan matriks </a:t>
            </a:r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pada </a:t>
            </a:r>
            <a:r>
              <a:rPr lang="da-DK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umumnya tidak</a:t>
            </a:r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 bersifat</a:t>
            </a:r>
            <a:r>
              <a:rPr lang="da-DK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 komutatif.</a:t>
            </a:r>
            <a:endParaRPr lang="id-ID" altLang="x-non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680" indent="-360680">
              <a:buFont typeface="Wingdings" panose="05000000000000000000" pitchFamily="2" charset="2"/>
              <a:buChar char="q"/>
            </a:pPr>
            <a:r>
              <a:rPr lang="da-DK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Syarat perkalian adalah jumlah banyaknya kolom pertama matriks sama dengan jumlah banyaknya baris matriks kedua.</a:t>
            </a:r>
            <a:endParaRPr lang="id-ID" altLang="x-non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680" indent="-360680">
              <a:buFont typeface="Wingdings" panose="05000000000000000000" pitchFamily="2" charset="2"/>
              <a:buChar char="q"/>
            </a:pPr>
            <a:r>
              <a:rPr lang="da-DK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Jika matriks A berukuran mx</a:t>
            </a:r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da-DK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 dan matriks</a:t>
            </a:r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 B berukuran</a:t>
            </a:r>
            <a:r>
              <a:rPr lang="da-DK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nxp</a:t>
            </a:r>
            <a:r>
              <a:rPr lang="da-DK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 maka </a:t>
            </a:r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hasil dari </a:t>
            </a:r>
            <a:r>
              <a:rPr lang="da-DK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perkalian A*B adalah suatu matriks C=(c</a:t>
            </a:r>
            <a:r>
              <a:rPr lang="da-DK" altLang="x-none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ij </a:t>
            </a:r>
            <a:r>
              <a:rPr lang="da-DK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) berukuran mx</a:t>
            </a:r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da-DK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 dimana</a:t>
            </a:r>
            <a:endParaRPr lang="id-ID" altLang="x-non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680" indent="-360680">
              <a:buFont typeface="Wingdings" panose="05000000000000000000" pitchFamily="2" charset="2"/>
              <a:buChar char="q"/>
            </a:pPr>
            <a:endParaRPr lang="id-ID" altLang="x-non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680" indent="-360680">
              <a:buFont typeface="Wingdings" panose="05000000000000000000" pitchFamily="2" charset="2"/>
              <a:buChar char="q"/>
            </a:pPr>
            <a:endParaRPr lang="id-ID" altLang="x-non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680" indent="-360680">
              <a:buFont typeface="Wingdings" panose="05000000000000000000" pitchFamily="2" charset="2"/>
              <a:buChar char="q"/>
            </a:pPr>
            <a:endParaRPr lang="id-ID" altLang="x-non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680" indent="-360680">
              <a:buFont typeface="Wingdings" panose="05000000000000000000" pitchFamily="2" charset="2"/>
              <a:buChar char="q"/>
            </a:pPr>
            <a:endParaRPr lang="id-ID" altLang="x-none" sz="200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15155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4000500"/>
            <a:ext cx="5743575" cy="11811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151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bldLvl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PERKALIAN MATRIKS</a:t>
            </a:r>
            <a:endParaRPr kumimoji="0" lang="id-ID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Bodoni MT Black" panose="02070A03080606020203" pitchFamily="18" charset="0"/>
              <a:ea typeface="+mn-ea"/>
              <a:cs typeface="+mn-cs"/>
            </a:endParaRP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4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1600200"/>
            <a:ext cx="76200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0680" indent="-360680">
              <a:buFont typeface="Wingdings" panose="05000000000000000000" pitchFamily="2" charset="2"/>
              <a:buChar char="q"/>
            </a:pPr>
            <a:r>
              <a:rPr lang="id-ID" altLang="x-none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Contoh :</a:t>
            </a:r>
            <a:endParaRPr lang="id-ID" altLang="x-none" sz="2000" b="1" dirty="0">
              <a:solidFill>
                <a:schemeClr val="tx2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15" name="Object 4"/>
          <p:cNvGraphicFramePr>
            <a:graphicFrameLocks/>
          </p:cNvGraphicFramePr>
          <p:nvPr/>
        </p:nvGraphicFramePr>
        <p:xfrm>
          <a:off x="3276600" y="1930400"/>
          <a:ext cx="762000" cy="1041400"/>
        </p:xfrm>
        <a:graphic>
          <a:graphicData uri="http://schemas.openxmlformats.org/presentationml/2006/ole">
            <p:oleObj spid="_x0000_s3098" r:id="rId4" imgW="520474" imgH="710891" progId="Equation.3">
              <p:embed/>
            </p:oleObj>
          </a:graphicData>
        </a:graphic>
      </p:graphicFrame>
      <p:graphicFrame>
        <p:nvGraphicFramePr>
          <p:cNvPr id="16" name="Object 3"/>
          <p:cNvGraphicFramePr>
            <a:graphicFrameLocks/>
          </p:cNvGraphicFramePr>
          <p:nvPr/>
        </p:nvGraphicFramePr>
        <p:xfrm>
          <a:off x="1427163" y="3252788"/>
          <a:ext cx="4745037" cy="1014412"/>
        </p:xfrm>
        <a:graphic>
          <a:graphicData uri="http://schemas.openxmlformats.org/presentationml/2006/ole">
            <p:oleObj spid="_x0000_s3095" r:id="rId5" imgW="3325956" imgH="710891" progId="Equation.3">
              <p:embed/>
            </p:oleObj>
          </a:graphicData>
        </a:graphic>
      </p:graphicFrame>
      <p:graphicFrame>
        <p:nvGraphicFramePr>
          <p:cNvPr id="17" name="Object 5"/>
          <p:cNvGraphicFramePr>
            <a:graphicFrameLocks/>
          </p:cNvGraphicFramePr>
          <p:nvPr/>
        </p:nvGraphicFramePr>
        <p:xfrm>
          <a:off x="1371600" y="2303463"/>
          <a:ext cx="1447800" cy="363537"/>
        </p:xfrm>
        <a:graphic>
          <a:graphicData uri="http://schemas.openxmlformats.org/presentationml/2006/ole">
            <p:oleObj spid="_x0000_s3096" r:id="rId6" imgW="862477" imgH="215619" progId="Equation.3">
              <p:embed/>
            </p:oleObj>
          </a:graphicData>
        </a:graphic>
      </p:graphicFrame>
      <p:graphicFrame>
        <p:nvGraphicFramePr>
          <p:cNvPr id="160773" name="Object 5"/>
          <p:cNvGraphicFramePr>
            <a:graphicFrameLocks/>
          </p:cNvGraphicFramePr>
          <p:nvPr/>
        </p:nvGraphicFramePr>
        <p:xfrm>
          <a:off x="1406525" y="4552950"/>
          <a:ext cx="5026025" cy="1009650"/>
        </p:xfrm>
        <a:graphic>
          <a:graphicData uri="http://schemas.openxmlformats.org/presentationml/2006/ole">
            <p:oleObj spid="_x0000_s3097" r:id="rId7" imgW="3541763" imgH="710891" progId="Equation.3">
              <p:embed/>
            </p:oleObj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51" dur="2000"/>
                                        <p:tgtEl>
                                          <p:spTgt spid="160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PERKALIAN MATRIKS</a:t>
            </a:r>
            <a:endParaRPr kumimoji="0" lang="id-ID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Bodoni MT Black" panose="02070A03080606020203" pitchFamily="18" charset="0"/>
              <a:ea typeface="+mn-ea"/>
              <a:cs typeface="+mn-cs"/>
            </a:endParaRP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5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1371600"/>
            <a:ext cx="7620000" cy="47085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60680" marR="0" indent="-360680" defTabSz="914400"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id-ID" sz="2000" kern="1200" cap="none" spc="0" normalizeH="0" baseline="0" noProof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Apabila A merupakan suatu matriks persegi, maka  A² = A.A ; A³=A².A dan seterusnya</a:t>
            </a:r>
          </a:p>
          <a:p>
            <a:pPr marL="360680" marR="0" indent="-360680" defTabSz="914400"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id-ID" sz="2000" kern="1200" cap="none" spc="0" normalizeH="0" baseline="0" noProof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Apabila AB = BC maka tidak dapat disimpulkan bahwa A=C (tidak berlaku sifat penghapusan)</a:t>
            </a:r>
          </a:p>
          <a:p>
            <a:pPr marL="360680" marR="0" indent="-360680" defTabSz="914400"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id-ID" sz="2000" kern="1200" cap="none" spc="0" normalizeH="0" baseline="0" noProof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Apabila AB = AC belum tentu B = C</a:t>
            </a:r>
          </a:p>
          <a:p>
            <a:pPr marL="360680" marR="0" indent="-360680" defTabSz="914400"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id-ID" sz="2000" kern="1200" cap="none" spc="0" normalizeH="0" baseline="0" noProof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Apabila AB = 0 maka tidak dapat disimpulkan bahwa A=0 atau B=0</a:t>
            </a:r>
          </a:p>
          <a:p>
            <a:pPr marL="360680" marR="0" indent="-360680" defTabSz="914400"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id-ID" sz="2000" kern="1200" cap="none" spc="0" normalizeH="0" baseline="0" noProof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Terdapat beberapa hukum perkalian matriks :</a:t>
            </a:r>
          </a:p>
          <a:p>
            <a:pPr marL="1085850" marR="0" indent="-457200" defTabSz="914400">
              <a:buClrTx/>
              <a:buSzTx/>
              <a:buFont typeface="+mj-lt"/>
              <a:buAutoNum type="arabicPeriod"/>
              <a:defRPr/>
            </a:pPr>
            <a:r>
              <a:rPr kumimoji="0" lang="id-ID" sz="2000" kern="1200" cap="none" spc="0" normalizeH="0" baseline="0" noProof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A(BC) = (AB)C</a:t>
            </a:r>
          </a:p>
          <a:p>
            <a:pPr marL="1085850" marR="0" indent="-457200" defTabSz="914400">
              <a:buClrTx/>
              <a:buSzTx/>
              <a:buFont typeface="+mj-lt"/>
              <a:buAutoNum type="arabicPeriod"/>
              <a:defRPr/>
            </a:pPr>
            <a:r>
              <a:rPr kumimoji="0" lang="id-ID" sz="2000" kern="1200" cap="none" spc="0" normalizeH="0" baseline="0" noProof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A(B+C) = AB+AC</a:t>
            </a:r>
          </a:p>
          <a:p>
            <a:pPr marL="1085850" marR="0" indent="-457200" defTabSz="914400">
              <a:buClrTx/>
              <a:buSzTx/>
              <a:buFont typeface="+mj-lt"/>
              <a:buAutoNum type="arabicPeriod"/>
              <a:defRPr/>
            </a:pPr>
            <a:r>
              <a:rPr kumimoji="0" lang="id-ID" sz="2000" kern="1200" cap="none" spc="0" normalizeH="0" baseline="0" noProof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(B+C)A = BA+CA</a:t>
            </a:r>
          </a:p>
          <a:p>
            <a:pPr marL="1085850" marR="0" indent="-457200" defTabSz="914400">
              <a:buClrTx/>
              <a:buSzTx/>
              <a:buFont typeface="+mj-lt"/>
              <a:buAutoNum type="arabicPeriod"/>
              <a:defRPr/>
            </a:pPr>
            <a:r>
              <a:rPr kumimoji="0" lang="id-ID" sz="2000" kern="1200" cap="none" spc="0" normalizeH="0" baseline="0" noProof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A(B-C)=AB-AC</a:t>
            </a:r>
          </a:p>
          <a:p>
            <a:pPr marL="1085850" marR="0" indent="-457200" defTabSz="914400">
              <a:buClrTx/>
              <a:buSzTx/>
              <a:buFont typeface="+mj-lt"/>
              <a:buAutoNum type="arabicPeriod"/>
              <a:defRPr/>
            </a:pPr>
            <a:r>
              <a:rPr kumimoji="0" lang="id-ID" sz="2000" kern="1200" cap="none" spc="0" normalizeH="0" baseline="0" noProof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(B-C)A = BA-CA</a:t>
            </a:r>
          </a:p>
          <a:p>
            <a:pPr marL="1085850" marR="0" indent="-457200" defTabSz="914400">
              <a:buClrTx/>
              <a:buSzTx/>
              <a:buFont typeface="+mj-lt"/>
              <a:buAutoNum type="arabicPeriod"/>
              <a:defRPr/>
            </a:pPr>
            <a:r>
              <a:rPr kumimoji="0" lang="id-ID" sz="2000" kern="1200" cap="none" spc="0" normalizeH="0" baseline="0" noProof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A(BC) = (aB)C= B(aC)</a:t>
            </a:r>
          </a:p>
          <a:p>
            <a:pPr marL="1085850" marR="0" indent="-457200" defTabSz="914400">
              <a:buClrTx/>
              <a:buSzTx/>
              <a:buFont typeface="+mj-lt"/>
              <a:buAutoNum type="arabicPeriod"/>
              <a:defRPr/>
            </a:pPr>
            <a:r>
              <a:rPr kumimoji="0" lang="id-ID" sz="2000" kern="1200" cap="none" spc="0" normalizeH="0" baseline="0" noProof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AI = IA = A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PERPANGKATAN MATRIKS</a:t>
            </a:r>
            <a:endParaRPr kumimoji="0" lang="id-ID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Bodoni MT Black" panose="02070A03080606020203" pitchFamily="18" charset="0"/>
              <a:ea typeface="+mn-ea"/>
              <a:cs typeface="+mn-cs"/>
            </a:endParaRP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6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8200" y="1371600"/>
            <a:ext cx="7620000" cy="2554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id-ID" sz="2000" kern="1200" cap="none" spc="0" normalizeH="0" baseline="0" noProof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Sifat perpangkatan pada matriks sama seperti sifat perpangkatan pada bilangan-bilangan untuk setiap a bilangan riil, dimana berlaku :</a:t>
            </a:r>
          </a:p>
          <a:p>
            <a:pPr marR="0" defTabSz="914400">
              <a:buClrTx/>
              <a:buSzTx/>
              <a:buFontTx/>
              <a:buNone/>
              <a:defRPr/>
            </a:pPr>
            <a:endParaRPr kumimoji="0" lang="id-ID" sz="2000" kern="1200" cap="none" spc="0" normalizeH="0" baseline="0" noProof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id-ID" sz="2000" kern="1200" cap="none" spc="0" normalizeH="0" baseline="0" noProof="0">
                <a:latin typeface="+mn-lt"/>
                <a:ea typeface="+mn-ea"/>
                <a:cs typeface="+mn-cs"/>
              </a:rPr>
              <a:t>	</a:t>
            </a:r>
            <a:r>
              <a:rPr kumimoji="0" lang="en-US" sz="2000" kern="1200" cap="none" spc="0" normalizeH="0" baseline="0" noProof="0">
                <a:latin typeface="+mn-lt"/>
                <a:ea typeface="+mn-ea"/>
                <a:cs typeface="+mn-cs"/>
              </a:rPr>
              <a:t>A</a:t>
            </a:r>
            <a:r>
              <a:rPr kumimoji="0" lang="en-US" sz="2000" kern="1200" cap="none" spc="0" normalizeH="0" baseline="30000" noProof="0">
                <a:latin typeface="+mn-lt"/>
                <a:ea typeface="+mn-ea"/>
                <a:cs typeface="+mn-cs"/>
              </a:rPr>
              <a:t>2</a:t>
            </a:r>
            <a:r>
              <a:rPr kumimoji="0" lang="en-US" sz="2000" kern="1200" cap="none" spc="0" normalizeH="0" baseline="0" noProof="0">
                <a:latin typeface="+mn-lt"/>
                <a:ea typeface="+mn-ea"/>
                <a:cs typeface="+mn-cs"/>
              </a:rPr>
              <a:t> = A A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id-ID" sz="2000" kern="1200" cap="none" spc="0" normalizeH="0" baseline="0" noProof="0">
                <a:latin typeface="+mn-lt"/>
                <a:ea typeface="+mn-ea"/>
                <a:cs typeface="+mn-cs"/>
              </a:rPr>
              <a:t>	</a:t>
            </a:r>
            <a:r>
              <a:rPr kumimoji="0" lang="en-US" sz="2000" kern="1200" cap="none" spc="0" normalizeH="0" baseline="0" noProof="0">
                <a:latin typeface="+mn-lt"/>
                <a:ea typeface="+mn-ea"/>
                <a:cs typeface="+mn-cs"/>
              </a:rPr>
              <a:t>A</a:t>
            </a:r>
            <a:r>
              <a:rPr kumimoji="0" lang="en-US" sz="2000" kern="1200" cap="none" spc="0" normalizeH="0" baseline="30000" noProof="0">
                <a:latin typeface="+mn-lt"/>
                <a:ea typeface="+mn-ea"/>
                <a:cs typeface="+mn-cs"/>
              </a:rPr>
              <a:t>3</a:t>
            </a:r>
            <a:r>
              <a:rPr kumimoji="0" lang="en-US" sz="2000" kern="1200" cap="none" spc="0" normalizeH="0" baseline="0" noProof="0">
                <a:latin typeface="+mn-lt"/>
                <a:ea typeface="+mn-ea"/>
                <a:cs typeface="+mn-cs"/>
              </a:rPr>
              <a:t> = A</a:t>
            </a:r>
            <a:r>
              <a:rPr kumimoji="0" lang="en-US" sz="2000" kern="1200" cap="none" spc="0" normalizeH="0" baseline="30000" noProof="0">
                <a:latin typeface="+mn-lt"/>
                <a:ea typeface="+mn-ea"/>
                <a:cs typeface="+mn-cs"/>
              </a:rPr>
              <a:t>2</a:t>
            </a:r>
            <a:r>
              <a:rPr kumimoji="0" lang="en-US" sz="2000" kern="1200" cap="none" spc="0" normalizeH="0" baseline="0" noProof="0">
                <a:latin typeface="+mn-lt"/>
                <a:ea typeface="+mn-ea"/>
                <a:cs typeface="+mn-cs"/>
              </a:rPr>
              <a:t> A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id-ID" sz="2000" kern="1200" cap="none" spc="0" normalizeH="0" baseline="0" noProof="0">
                <a:latin typeface="+mn-lt"/>
                <a:ea typeface="+mn-ea"/>
                <a:cs typeface="+mn-cs"/>
              </a:rPr>
              <a:t>	</a:t>
            </a:r>
            <a:r>
              <a:rPr kumimoji="0" lang="en-US" sz="2000" kern="1200" cap="none" spc="0" normalizeH="0" baseline="0" noProof="0">
                <a:latin typeface="+mn-lt"/>
                <a:ea typeface="+mn-ea"/>
                <a:cs typeface="+mn-cs"/>
              </a:rPr>
              <a:t>A</a:t>
            </a:r>
            <a:r>
              <a:rPr kumimoji="0" lang="en-US" sz="2000" kern="1200" cap="none" spc="0" normalizeH="0" baseline="30000" noProof="0">
                <a:latin typeface="+mn-lt"/>
                <a:ea typeface="+mn-ea"/>
                <a:cs typeface="+mn-cs"/>
              </a:rPr>
              <a:t>4</a:t>
            </a:r>
            <a:r>
              <a:rPr kumimoji="0" lang="en-US" sz="2000" kern="1200" cap="none" spc="0" normalizeH="0" baseline="0" noProof="0">
                <a:latin typeface="+mn-lt"/>
                <a:ea typeface="+mn-ea"/>
                <a:cs typeface="+mn-cs"/>
              </a:rPr>
              <a:t> = A</a:t>
            </a:r>
            <a:r>
              <a:rPr kumimoji="0" lang="en-US" sz="2000" kern="1200" cap="none" spc="0" normalizeH="0" baseline="30000" noProof="0">
                <a:latin typeface="+mn-lt"/>
                <a:ea typeface="+mn-ea"/>
                <a:cs typeface="+mn-cs"/>
              </a:rPr>
              <a:t>3</a:t>
            </a:r>
            <a:r>
              <a:rPr kumimoji="0" lang="en-US" sz="2000" kern="1200" cap="none" spc="0" normalizeH="0" baseline="0" noProof="0">
                <a:latin typeface="+mn-lt"/>
                <a:ea typeface="+mn-ea"/>
                <a:cs typeface="+mn-cs"/>
              </a:rPr>
              <a:t> A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id-ID" sz="2000" kern="1200" cap="none" spc="0" normalizeH="0" baseline="0" noProof="0">
                <a:latin typeface="+mn-lt"/>
                <a:ea typeface="+mn-ea"/>
                <a:cs typeface="+mn-cs"/>
              </a:rPr>
              <a:t>	</a:t>
            </a:r>
            <a:r>
              <a:rPr kumimoji="0" lang="en-US" sz="2000" kern="1200" cap="none" spc="0" normalizeH="0" baseline="0" noProof="0">
                <a:latin typeface="+mn-lt"/>
                <a:ea typeface="+mn-ea"/>
                <a:cs typeface="+mn-cs"/>
              </a:rPr>
              <a:t>A</a:t>
            </a:r>
            <a:r>
              <a:rPr kumimoji="0" lang="en-US" sz="2000" kern="1200" cap="none" spc="0" normalizeH="0" baseline="30000" noProof="0">
                <a:latin typeface="+mn-lt"/>
                <a:ea typeface="+mn-ea"/>
                <a:cs typeface="+mn-cs"/>
              </a:rPr>
              <a:t>5</a:t>
            </a:r>
            <a:r>
              <a:rPr kumimoji="0" lang="en-US" sz="2000" kern="1200" cap="none" spc="0" normalizeH="0" baseline="0" noProof="0">
                <a:latin typeface="+mn-lt"/>
                <a:ea typeface="+mn-ea"/>
                <a:cs typeface="+mn-cs"/>
              </a:rPr>
              <a:t> = A</a:t>
            </a:r>
            <a:r>
              <a:rPr kumimoji="0" lang="en-US" sz="2000" kern="1200" cap="none" spc="0" normalizeH="0" baseline="30000" noProof="0">
                <a:latin typeface="+mn-lt"/>
                <a:ea typeface="+mn-ea"/>
                <a:cs typeface="+mn-cs"/>
              </a:rPr>
              <a:t>4</a:t>
            </a:r>
            <a:r>
              <a:rPr kumimoji="0" lang="en-US" sz="2000" kern="1200" cap="none" spc="0" normalizeH="0" baseline="0" noProof="0">
                <a:latin typeface="+mn-lt"/>
                <a:ea typeface="+mn-ea"/>
                <a:cs typeface="+mn-cs"/>
              </a:rPr>
              <a:t> A; dan seterusnya</a:t>
            </a:r>
            <a:endParaRPr kumimoji="0" lang="id-ID" sz="2000" kern="1200" cap="none" spc="0" normalizeH="0" baseline="0" noProof="0"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PERPANGKATAN MATRIKS</a:t>
            </a:r>
            <a:endParaRPr kumimoji="0" lang="id-ID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Bodoni MT Black" panose="02070A03080606020203" pitchFamily="18" charset="0"/>
              <a:ea typeface="+mn-ea"/>
              <a:cs typeface="+mn-cs"/>
            </a:endParaRP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7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8200" y="1371600"/>
            <a:ext cx="76200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Tentukan hasil A</a:t>
            </a:r>
            <a:r>
              <a:rPr lang="id-ID" altLang="x-none" sz="2000" dirty="0">
                <a:latin typeface="Arial" panose="020B0604020202020204" pitchFamily="34" charset="0"/>
                <a:ea typeface="Arial" panose="020B0604020202020204" pitchFamily="34" charset="0"/>
              </a:rPr>
              <a:t>²</a:t>
            </a:r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 dan A³</a:t>
            </a:r>
            <a:endParaRPr lang="id-ID" altLang="x-none" sz="200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188425" name="Object 4"/>
          <p:cNvGraphicFramePr>
            <a:graphicFrameLocks/>
          </p:cNvGraphicFramePr>
          <p:nvPr/>
        </p:nvGraphicFramePr>
        <p:xfrm>
          <a:off x="990600" y="1905000"/>
          <a:ext cx="1082675" cy="600075"/>
        </p:xfrm>
        <a:graphic>
          <a:graphicData uri="http://schemas.openxmlformats.org/presentationml/2006/ole">
            <p:oleObj spid="_x0000_s23555" r:id="rId4" imgW="825500" imgH="457200" progId="Equation.3">
              <p:embed/>
            </p:oleObj>
          </a:graphicData>
        </a:graphic>
      </p:graphicFrame>
      <p:graphicFrame>
        <p:nvGraphicFramePr>
          <p:cNvPr id="203780" name="Object 3"/>
          <p:cNvGraphicFramePr>
            <a:graphicFrameLocks/>
          </p:cNvGraphicFramePr>
          <p:nvPr/>
        </p:nvGraphicFramePr>
        <p:xfrm>
          <a:off x="990600" y="2667000"/>
          <a:ext cx="3432175" cy="600075"/>
        </p:xfrm>
        <a:graphic>
          <a:graphicData uri="http://schemas.openxmlformats.org/presentationml/2006/ole">
            <p:oleObj spid="_x0000_s23554" r:id="rId5" imgW="2616200" imgH="457200" progId="Equation.3">
              <p:embed/>
            </p:oleObj>
          </a:graphicData>
        </a:graphic>
      </p:graphicFrame>
      <p:graphicFrame>
        <p:nvGraphicFramePr>
          <p:cNvPr id="203781" name="Object 5"/>
          <p:cNvGraphicFramePr>
            <a:graphicFrameLocks/>
          </p:cNvGraphicFramePr>
          <p:nvPr/>
        </p:nvGraphicFramePr>
        <p:xfrm>
          <a:off x="914400" y="3429000"/>
          <a:ext cx="3713163" cy="600075"/>
        </p:xfrm>
        <a:graphic>
          <a:graphicData uri="http://schemas.openxmlformats.org/presentationml/2006/ole">
            <p:oleObj spid="_x0000_s23553" r:id="rId6" imgW="2832100" imgH="457200" progId="Equation.3">
              <p:embed/>
            </p:oleObj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2" dur="2000"/>
                                        <p:tgtEl>
                                          <p:spTgt spid="188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5" dur="2000"/>
                                        <p:tgtEl>
                                          <p:spTgt spid="203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8" dur="2000"/>
                                        <p:tgtEl>
                                          <p:spTgt spid="203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PERPANGKATAN MATRIKS</a:t>
            </a:r>
            <a:endParaRPr kumimoji="0" lang="id-ID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Bodoni MT Black" panose="02070A03080606020203" pitchFamily="18" charset="0"/>
              <a:ea typeface="+mn-ea"/>
              <a:cs typeface="+mn-cs"/>
            </a:endParaRP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8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8200" y="1371600"/>
            <a:ext cx="76200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Tentukan hasil 2A</a:t>
            </a:r>
            <a:r>
              <a:rPr lang="id-ID" altLang="x-none" sz="2000" dirty="0">
                <a:latin typeface="Arial" panose="020B0604020202020204" pitchFamily="34" charset="0"/>
                <a:ea typeface="Arial" panose="020B0604020202020204" pitchFamily="34" charset="0"/>
              </a:rPr>
              <a:t>²</a:t>
            </a:r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 + 3A³</a:t>
            </a:r>
            <a:endParaRPr lang="id-ID" altLang="x-none" sz="200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188425" name="Object 4"/>
          <p:cNvGraphicFramePr>
            <a:graphicFrameLocks/>
          </p:cNvGraphicFramePr>
          <p:nvPr/>
        </p:nvGraphicFramePr>
        <p:xfrm>
          <a:off x="914400" y="1905000"/>
          <a:ext cx="1082675" cy="600075"/>
        </p:xfrm>
        <a:graphic>
          <a:graphicData uri="http://schemas.openxmlformats.org/presentationml/2006/ole">
            <p:oleObj spid="_x0000_s29700" r:id="rId4" imgW="825500" imgH="457200" progId="Equation.3">
              <p:embed/>
            </p:oleObj>
          </a:graphicData>
        </a:graphic>
      </p:graphicFrame>
      <p:graphicFrame>
        <p:nvGraphicFramePr>
          <p:cNvPr id="203780" name="Object 3"/>
          <p:cNvGraphicFramePr>
            <a:graphicFrameLocks/>
          </p:cNvGraphicFramePr>
          <p:nvPr/>
        </p:nvGraphicFramePr>
        <p:xfrm>
          <a:off x="1019175" y="2743200"/>
          <a:ext cx="2714625" cy="600075"/>
        </p:xfrm>
        <a:graphic>
          <a:graphicData uri="http://schemas.openxmlformats.org/presentationml/2006/ole">
            <p:oleObj spid="_x0000_s29699" r:id="rId5" imgW="2070100" imgH="457200" progId="Equation.3">
              <p:embed/>
            </p:oleObj>
          </a:graphicData>
        </a:graphic>
      </p:graphicFrame>
      <p:graphicFrame>
        <p:nvGraphicFramePr>
          <p:cNvPr id="204805" name="Object 5"/>
          <p:cNvGraphicFramePr>
            <a:graphicFrameLocks/>
          </p:cNvGraphicFramePr>
          <p:nvPr/>
        </p:nvGraphicFramePr>
        <p:xfrm>
          <a:off x="1108075" y="3667125"/>
          <a:ext cx="2413000" cy="600075"/>
        </p:xfrm>
        <a:graphic>
          <a:graphicData uri="http://schemas.openxmlformats.org/presentationml/2006/ole">
            <p:oleObj spid="_x0000_s29698" r:id="rId6" imgW="1841500" imgH="457200" progId="Equation.3">
              <p:embed/>
            </p:oleObj>
          </a:graphicData>
        </a:graphic>
      </p:graphicFrame>
      <p:graphicFrame>
        <p:nvGraphicFramePr>
          <p:cNvPr id="204806" name="Object 6"/>
          <p:cNvGraphicFramePr>
            <a:graphicFrameLocks/>
          </p:cNvGraphicFramePr>
          <p:nvPr/>
        </p:nvGraphicFramePr>
        <p:xfrm>
          <a:off x="776288" y="4648200"/>
          <a:ext cx="3844925" cy="600075"/>
        </p:xfrm>
        <a:graphic>
          <a:graphicData uri="http://schemas.openxmlformats.org/presentationml/2006/ole">
            <p:oleObj spid="_x0000_s29697" r:id="rId7" imgW="2933700" imgH="457200" progId="Equation.3">
              <p:embed/>
            </p:oleObj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2" dur="2000"/>
                                        <p:tgtEl>
                                          <p:spTgt spid="188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5" dur="2000"/>
                                        <p:tgtEl>
                                          <p:spTgt spid="203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8" dur="20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51" dur="2000"/>
                                        <p:tgtEl>
                                          <p:spTgt spid="204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JENIS –JENIS MATRIKS</a:t>
            </a:r>
            <a:endParaRPr kumimoji="0" lang="id-ID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Bodoni MT Black" panose="02070A03080606020203" pitchFamily="18" charset="0"/>
              <a:ea typeface="+mn-ea"/>
              <a:cs typeface="+mn-cs"/>
            </a:endParaRP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9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1600200"/>
            <a:ext cx="7620000" cy="40941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0680" indent="-360680" algn="just">
              <a:buFont typeface="Wingdings" panose="05000000000000000000" pitchFamily="2" charset="2"/>
              <a:buChar char="q"/>
            </a:pPr>
            <a:r>
              <a:rPr lang="id-ID" altLang="x-none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Matriks bujursangkar (persegi)</a:t>
            </a:r>
            <a:r>
              <a:rPr lang="id-ID" altLang="x-none" sz="20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adalah matriks yang berukuran n x n</a:t>
            </a:r>
          </a:p>
          <a:p>
            <a:pPr marL="360680" indent="-360680" algn="just">
              <a:buFont typeface="Wingdings" panose="05000000000000000000" pitchFamily="2" charset="2"/>
              <a:buChar char="q"/>
            </a:pPr>
            <a:endParaRPr lang="id-ID" altLang="x-non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680" indent="-360680" algn="just">
              <a:buFont typeface="Wingdings" panose="05000000000000000000" pitchFamily="2" charset="2"/>
              <a:buChar char="q"/>
            </a:pPr>
            <a:endParaRPr lang="id-ID" altLang="x-non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680" indent="-360680" algn="just">
              <a:buFont typeface="Wingdings" panose="05000000000000000000" pitchFamily="2" charset="2"/>
              <a:buChar char="q"/>
            </a:pPr>
            <a:endParaRPr lang="id-ID" altLang="x-non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680" indent="-360680" algn="just">
              <a:buFont typeface="Wingdings" panose="05000000000000000000" pitchFamily="2" charset="2"/>
              <a:buChar char="q"/>
            </a:pPr>
            <a:r>
              <a:rPr lang="id-ID" altLang="x-none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Matriks nol</a:t>
            </a:r>
            <a:r>
              <a:rPr lang="id-ID" altLang="x-none" sz="20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adalah matriks yang setiap entri atau elemennya adalah bilangan nol</a:t>
            </a:r>
          </a:p>
          <a:p>
            <a:pPr marL="360680" indent="-360680" algn="just">
              <a:buFont typeface="Wingdings" panose="05000000000000000000" pitchFamily="2" charset="2"/>
              <a:buChar char="q"/>
            </a:pPr>
            <a:endParaRPr lang="id-ID" altLang="x-non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680" indent="-360680" algn="just">
              <a:buFont typeface="Wingdings" panose="05000000000000000000" pitchFamily="2" charset="2"/>
              <a:buChar char="q"/>
            </a:pPr>
            <a:endParaRPr lang="id-ID" altLang="x-non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680" indent="-360680" algn="just">
              <a:buFont typeface="Wingdings" panose="05000000000000000000" pitchFamily="2" charset="2"/>
              <a:buChar char="q"/>
            </a:pPr>
            <a:endParaRPr lang="id-ID" altLang="x-non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680" indent="-360680" algn="just"/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	Sifat-sifat dari matriks nol :</a:t>
            </a:r>
          </a:p>
          <a:p>
            <a:pPr marL="360680" indent="-360680" algn="just"/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		-A+0=A, jika ukuran matriks A = ukuran matriks 0</a:t>
            </a:r>
          </a:p>
          <a:p>
            <a:pPr marL="360680" indent="-360680" algn="just"/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		-A*0=0, begitu juga 0*A=0.</a:t>
            </a:r>
            <a:endParaRPr lang="id-ID" altLang="x-none" sz="200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15" name="Object 4"/>
          <p:cNvGraphicFramePr>
            <a:graphicFrameLocks/>
          </p:cNvGraphicFramePr>
          <p:nvPr/>
        </p:nvGraphicFramePr>
        <p:xfrm>
          <a:off x="1524000" y="2286000"/>
          <a:ext cx="949325" cy="600075"/>
        </p:xfrm>
        <a:graphic>
          <a:graphicData uri="http://schemas.openxmlformats.org/presentationml/2006/ole">
            <p:oleObj spid="_x0000_s31746" r:id="rId4" imgW="723586" imgH="457002" progId="Equation.3">
              <p:embed/>
            </p:oleObj>
          </a:graphicData>
        </a:graphic>
      </p:graphicFrame>
      <p:graphicFrame>
        <p:nvGraphicFramePr>
          <p:cNvPr id="16" name="Object 3"/>
          <p:cNvGraphicFramePr>
            <a:graphicFrameLocks/>
          </p:cNvGraphicFramePr>
          <p:nvPr/>
        </p:nvGraphicFramePr>
        <p:xfrm>
          <a:off x="1371600" y="3810000"/>
          <a:ext cx="1182688" cy="933450"/>
        </p:xfrm>
        <a:graphic>
          <a:graphicData uri="http://schemas.openxmlformats.org/presentationml/2006/ole">
            <p:oleObj spid="_x0000_s31745" r:id="rId5" imgW="901309" imgH="710891" progId="Equation.3">
              <p:embed/>
            </p:oleObj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JENIS –JENIS MATRIKS</a:t>
            </a:r>
            <a:endParaRPr kumimoji="0" lang="id-ID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Bodoni MT Black" panose="02070A03080606020203" pitchFamily="18" charset="0"/>
              <a:ea typeface="+mn-ea"/>
              <a:cs typeface="+mn-cs"/>
            </a:endParaRP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10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1371600"/>
            <a:ext cx="7620000" cy="3170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0680" indent="-360680" algn="just">
              <a:buFont typeface="Wingdings" panose="05000000000000000000" pitchFamily="2" charset="2"/>
              <a:buChar char="q"/>
            </a:pPr>
            <a:r>
              <a:rPr lang="id-ID" altLang="x-none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Matriks Diagonal </a:t>
            </a:r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adalah matriks persegi yang semua elemen diatas dan dibawah diagonalnya adalah nol. Dinotasikan sebagai D.</a:t>
            </a:r>
          </a:p>
          <a:p>
            <a:pPr marL="360680" indent="-360680" algn="just"/>
            <a:r>
              <a:rPr lang="id-ID" altLang="x-none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Contoh :</a:t>
            </a:r>
          </a:p>
          <a:p>
            <a:pPr marL="360680" indent="-360680" algn="just"/>
            <a:r>
              <a:rPr lang="id-ID" altLang="x-none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360680" indent="-360680" algn="just">
              <a:buFont typeface="Wingdings" panose="05000000000000000000" pitchFamily="2" charset="2"/>
              <a:buChar char="q"/>
            </a:pPr>
            <a:endParaRPr lang="id-ID" altLang="x-non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680" indent="-360680" algn="just">
              <a:buFont typeface="Wingdings" panose="05000000000000000000" pitchFamily="2" charset="2"/>
              <a:buChar char="q"/>
            </a:pPr>
            <a:endParaRPr lang="id-ID" altLang="x-non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680" indent="-360680" algn="just">
              <a:buFont typeface="Wingdings" panose="05000000000000000000" pitchFamily="2" charset="2"/>
              <a:buChar char="q"/>
            </a:pPr>
            <a:endParaRPr lang="id-ID" altLang="x-non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680" indent="-360680" algn="just">
              <a:buFont typeface="Wingdings" panose="05000000000000000000" pitchFamily="2" charset="2"/>
              <a:buChar char="q"/>
            </a:pPr>
            <a:r>
              <a:rPr lang="id-ID" altLang="x-none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Matriks Skalar</a:t>
            </a:r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 adalah matriks diagonal yang semua elemen pada diagonalnya sama</a:t>
            </a:r>
            <a:endParaRPr lang="id-ID" altLang="x-none" sz="200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21" name="Object 2"/>
          <p:cNvGraphicFramePr>
            <a:graphicFrameLocks/>
          </p:cNvGraphicFramePr>
          <p:nvPr/>
        </p:nvGraphicFramePr>
        <p:xfrm>
          <a:off x="1644650" y="2667000"/>
          <a:ext cx="1482725" cy="933450"/>
        </p:xfrm>
        <a:graphic>
          <a:graphicData uri="http://schemas.openxmlformats.org/presentationml/2006/ole">
            <p:oleObj spid="_x0000_s33794" r:id="rId4" imgW="1129810" imgH="710891" progId="Equation.3">
              <p:embed/>
            </p:oleObj>
          </a:graphicData>
        </a:graphic>
      </p:graphicFrame>
      <p:graphicFrame>
        <p:nvGraphicFramePr>
          <p:cNvPr id="152579" name="Object 3"/>
          <p:cNvGraphicFramePr>
            <a:graphicFrameLocks/>
          </p:cNvGraphicFramePr>
          <p:nvPr/>
        </p:nvGraphicFramePr>
        <p:xfrm>
          <a:off x="1608138" y="4572000"/>
          <a:ext cx="1465262" cy="933450"/>
        </p:xfrm>
        <a:graphic>
          <a:graphicData uri="http://schemas.openxmlformats.org/presentationml/2006/ole">
            <p:oleObj spid="_x0000_s33793" r:id="rId5" imgW="1117115" imgH="710891" progId="Equation.3">
              <p:embed/>
            </p:oleObj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5" dur="2000"/>
                                        <p:tgtEl>
                                          <p:spTgt spid="152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JENIS –JENIS MATRIKS</a:t>
            </a:r>
            <a:endParaRPr kumimoji="0" lang="id-ID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Bodoni MT Black" panose="02070A03080606020203" pitchFamily="18" charset="0"/>
              <a:ea typeface="+mn-ea"/>
              <a:cs typeface="+mn-cs"/>
            </a:endParaRP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11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1371600"/>
            <a:ext cx="7620000" cy="34782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0680" indent="-360680" algn="just">
              <a:buFont typeface="Wingdings" panose="05000000000000000000" pitchFamily="2" charset="2"/>
              <a:buChar char="q"/>
            </a:pPr>
            <a:r>
              <a:rPr lang="id-ID" altLang="x-none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Matriks Identitas </a:t>
            </a:r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adalah matriks skalar yang elemen-elemen pada diagonal utamanya bernilai 1.</a:t>
            </a:r>
          </a:p>
          <a:p>
            <a:pPr marL="360680" indent="-360680" algn="just"/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pt-BR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 Sifat-sifat matriks identitas :</a:t>
            </a:r>
          </a:p>
          <a:p>
            <a:pPr marL="360680" indent="-360680" algn="just"/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  <a:r>
              <a:rPr lang="pt-BR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A*I=A</a:t>
            </a:r>
          </a:p>
          <a:p>
            <a:pPr marL="360680" indent="-360680" algn="just"/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  <a:r>
              <a:rPr lang="pt-BR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I*A=A</a:t>
            </a:r>
          </a:p>
          <a:p>
            <a:pPr marL="360680" indent="-360680" algn="just"/>
            <a:endParaRPr lang="id-ID" altLang="x-non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680" indent="-360680" algn="just">
              <a:buFont typeface="Wingdings" panose="05000000000000000000" pitchFamily="2" charset="2"/>
              <a:buChar char="q"/>
            </a:pPr>
            <a:endParaRPr lang="id-ID" altLang="x-non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680" indent="-360680" algn="just">
              <a:buFont typeface="Wingdings" panose="05000000000000000000" pitchFamily="2" charset="2"/>
              <a:buChar char="q"/>
            </a:pPr>
            <a:r>
              <a:rPr lang="id-ID" altLang="x-none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Matriks Segitiga Atas </a:t>
            </a:r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adalah matriks persegi yang elemen di bawah diagonal utamanya bernilai nol</a:t>
            </a:r>
            <a:endParaRPr lang="id-ID" altLang="x-none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680" indent="-360680" algn="just">
              <a:buFont typeface="Wingdings" panose="05000000000000000000" pitchFamily="2" charset="2"/>
              <a:buChar char="q"/>
            </a:pPr>
            <a:r>
              <a:rPr lang="id-ID" altLang="x-none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Matriks Segitiga Bawah </a:t>
            </a:r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adalah matriks persegi yang elemen di atas diagonal utamanya bernilai nol</a:t>
            </a:r>
            <a:endParaRPr lang="id-ID" altLang="x-none" sz="200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21" name="Object 6"/>
          <p:cNvGraphicFramePr>
            <a:graphicFrameLocks/>
          </p:cNvGraphicFramePr>
          <p:nvPr/>
        </p:nvGraphicFramePr>
        <p:xfrm>
          <a:off x="1447800" y="2133600"/>
          <a:ext cx="1266825" cy="933450"/>
        </p:xfrm>
        <a:graphic>
          <a:graphicData uri="http://schemas.openxmlformats.org/presentationml/2006/ole">
            <p:oleObj spid="_x0000_s35843" r:id="rId4" imgW="964781" imgH="710891" progId="Equation.3">
              <p:embed/>
            </p:oleObj>
          </a:graphicData>
        </a:graphic>
      </p:graphicFrame>
      <p:graphicFrame>
        <p:nvGraphicFramePr>
          <p:cNvPr id="136196" name="Object 3"/>
          <p:cNvGraphicFramePr>
            <a:graphicFrameLocks/>
          </p:cNvGraphicFramePr>
          <p:nvPr/>
        </p:nvGraphicFramePr>
        <p:xfrm>
          <a:off x="1608138" y="4933950"/>
          <a:ext cx="1250950" cy="933450"/>
        </p:xfrm>
        <a:graphic>
          <a:graphicData uri="http://schemas.openxmlformats.org/presentationml/2006/ole">
            <p:oleObj spid="_x0000_s35842" r:id="rId5" imgW="952087" imgH="710891" progId="Equation.3">
              <p:embed/>
            </p:oleObj>
          </a:graphicData>
        </a:graphic>
      </p:graphicFrame>
      <p:graphicFrame>
        <p:nvGraphicFramePr>
          <p:cNvPr id="136197" name="Object 4"/>
          <p:cNvGraphicFramePr>
            <a:graphicFrameLocks/>
          </p:cNvGraphicFramePr>
          <p:nvPr/>
        </p:nvGraphicFramePr>
        <p:xfrm>
          <a:off x="3741738" y="4933950"/>
          <a:ext cx="1249362" cy="933450"/>
        </p:xfrm>
        <a:graphic>
          <a:graphicData uri="http://schemas.openxmlformats.org/presentationml/2006/ole">
            <p:oleObj spid="_x0000_s35841" r:id="rId6" imgW="952087" imgH="710891" progId="Equation.3">
              <p:embed/>
            </p:oleObj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5" dur="2000"/>
                                        <p:tgtEl>
                                          <p:spTgt spid="13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8" dur="2000"/>
                                        <p:tgtEl>
                                          <p:spTgt spid="13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>
              <a:buNone/>
            </a:pPr>
            <a:r>
              <a:rPr dirty="0"/>
              <a:t>Pertemuan ke-3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dirty="0"/>
              <a:t>Determinan Matriks</a:t>
            </a:r>
          </a:p>
          <a:p>
            <a:r>
              <a:rPr dirty="0"/>
              <a:t>Invers matriks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DETERMINAN MATRIKS</a:t>
            </a: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13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3" name="Rectangle 11"/>
          <p:cNvSpPr/>
          <p:nvPr/>
        </p:nvSpPr>
        <p:spPr>
          <a:xfrm>
            <a:off x="762000" y="1447800"/>
            <a:ext cx="7696200" cy="2308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400" dirty="0">
                <a:latin typeface="Palatino Linotype" panose="02040502050505030304" pitchFamily="18" charset="0"/>
              </a:rPr>
              <a:t>Setiap matriks persegi atau bujur sangkar memiliki nilai determinan</a:t>
            </a: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400" dirty="0">
                <a:latin typeface="Palatino Linotype" panose="02040502050505030304" pitchFamily="18" charset="0"/>
              </a:rPr>
              <a:t>Nilai determinan dari suatu matriks merupakan suatu skalar. </a:t>
            </a: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400" dirty="0">
                <a:latin typeface="Palatino Linotype" panose="02040502050505030304" pitchFamily="18" charset="0"/>
              </a:rPr>
              <a:t>Jika nilai determinan suatu matriks sama dengan nol, maka matriks tersebut disebut matriks singular.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NOTASI DETERMINAN</a:t>
            </a: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14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3" name="Rectangle 11"/>
          <p:cNvSpPr/>
          <p:nvPr/>
        </p:nvSpPr>
        <p:spPr>
          <a:xfrm>
            <a:off x="762000" y="1447800"/>
            <a:ext cx="7696200" cy="1938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400" dirty="0">
                <a:latin typeface="Palatino Linotype" panose="02040502050505030304" pitchFamily="18" charset="0"/>
              </a:rPr>
              <a:t>Misalkan matriks A  merupakan sebuah matriks bujur sangkar</a:t>
            </a: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400" dirty="0">
                <a:latin typeface="Palatino Linotype" panose="02040502050505030304" pitchFamily="18" charset="0"/>
              </a:rPr>
              <a:t>Fungsi determinan dinyatakan oleh det (A)</a:t>
            </a: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400" dirty="0">
                <a:latin typeface="Palatino Linotype" panose="02040502050505030304" pitchFamily="18" charset="0"/>
              </a:rPr>
              <a:t>Jumlah det(A) disebut determinan A</a:t>
            </a: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400" dirty="0">
                <a:latin typeface="Palatino Linotype" panose="02040502050505030304" pitchFamily="18" charset="0"/>
              </a:rPr>
              <a:t>det(A) sering dinotasikan |A|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NOTASI DETERMINAN</a:t>
            </a: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15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3" name="Rectangle 11"/>
          <p:cNvSpPr/>
          <p:nvPr/>
        </p:nvSpPr>
        <p:spPr>
          <a:xfrm>
            <a:off x="762000" y="1447800"/>
            <a:ext cx="7696200" cy="2678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400" dirty="0">
                <a:latin typeface="Palatino Linotype" panose="02040502050505030304" pitchFamily="18" charset="0"/>
              </a:rPr>
              <a:t>Pada matriks 2x2 cara menghitung nilai determinannya adalah : </a:t>
            </a: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400" dirty="0">
                <a:latin typeface="Palatino Linotype" panose="02040502050505030304" pitchFamily="18" charset="0"/>
              </a:rPr>
              <a:t>Contoh :</a:t>
            </a:r>
          </a:p>
        </p:txBody>
      </p:sp>
      <p:graphicFrame>
        <p:nvGraphicFramePr>
          <p:cNvPr id="132098" name="Object 4"/>
          <p:cNvGraphicFramePr>
            <a:graphicFrameLocks/>
          </p:cNvGraphicFramePr>
          <p:nvPr/>
        </p:nvGraphicFramePr>
        <p:xfrm>
          <a:off x="838200" y="2362200"/>
          <a:ext cx="1905000" cy="944563"/>
        </p:xfrm>
        <a:graphic>
          <a:graphicData uri="http://schemas.openxmlformats.org/presentationml/2006/ole">
            <p:oleObj spid="_x0000_s37894" r:id="rId4" imgW="952087" imgH="482391" progId="Equation.3">
              <p:embed/>
            </p:oleObj>
          </a:graphicData>
        </a:graphic>
      </p:graphicFrame>
      <p:graphicFrame>
        <p:nvGraphicFramePr>
          <p:cNvPr id="132099" name="Object 3"/>
          <p:cNvGraphicFramePr>
            <a:graphicFrameLocks/>
          </p:cNvGraphicFramePr>
          <p:nvPr/>
        </p:nvGraphicFramePr>
        <p:xfrm>
          <a:off x="5410200" y="2625725"/>
          <a:ext cx="2768600" cy="422275"/>
        </p:xfrm>
        <a:graphic>
          <a:graphicData uri="http://schemas.openxmlformats.org/presentationml/2006/ole">
            <p:oleObj spid="_x0000_s37893" r:id="rId5" imgW="1382500" imgH="215619" progId="Equation.3">
              <p:embed/>
            </p:oleObj>
          </a:graphicData>
        </a:graphic>
      </p:graphicFrame>
      <p:graphicFrame>
        <p:nvGraphicFramePr>
          <p:cNvPr id="14" name="Object 4"/>
          <p:cNvGraphicFramePr>
            <a:graphicFrameLocks/>
          </p:cNvGraphicFramePr>
          <p:nvPr/>
        </p:nvGraphicFramePr>
        <p:xfrm>
          <a:off x="990600" y="4343400"/>
          <a:ext cx="1473200" cy="895350"/>
        </p:xfrm>
        <a:graphic>
          <a:graphicData uri="http://schemas.openxmlformats.org/presentationml/2006/ole">
            <p:oleObj spid="_x0000_s37892" r:id="rId6" imgW="736600" imgH="457200" progId="Equation.3">
              <p:embed/>
            </p:oleObj>
          </a:graphicData>
        </a:graphic>
      </p:graphicFrame>
      <p:graphicFrame>
        <p:nvGraphicFramePr>
          <p:cNvPr id="132101" name="Object 5"/>
          <p:cNvGraphicFramePr>
            <a:graphicFrameLocks/>
          </p:cNvGraphicFramePr>
          <p:nvPr/>
        </p:nvGraphicFramePr>
        <p:xfrm>
          <a:off x="5486400" y="4554538"/>
          <a:ext cx="2133600" cy="398462"/>
        </p:xfrm>
        <a:graphic>
          <a:graphicData uri="http://schemas.openxmlformats.org/presentationml/2006/ole">
            <p:oleObj spid="_x0000_s37891" r:id="rId7" imgW="1065875" imgH="203024" progId="Equation.3">
              <p:embed/>
            </p:oleObj>
          </a:graphicData>
        </a:graphic>
      </p:graphicFrame>
      <p:graphicFrame>
        <p:nvGraphicFramePr>
          <p:cNvPr id="132102" name="Object 6"/>
          <p:cNvGraphicFramePr>
            <a:graphicFrameLocks/>
          </p:cNvGraphicFramePr>
          <p:nvPr/>
        </p:nvGraphicFramePr>
        <p:xfrm>
          <a:off x="2895600" y="2362200"/>
          <a:ext cx="2286000" cy="995363"/>
        </p:xfrm>
        <a:graphic>
          <a:graphicData uri="http://schemas.openxmlformats.org/presentationml/2006/ole">
            <p:oleObj spid="_x0000_s37890" r:id="rId8" imgW="1143000" imgH="508000" progId="Equation.3">
              <p:embed/>
            </p:oleObj>
          </a:graphicData>
        </a:graphic>
      </p:graphicFrame>
      <p:graphicFrame>
        <p:nvGraphicFramePr>
          <p:cNvPr id="132103" name="Object 7"/>
          <p:cNvGraphicFramePr>
            <a:graphicFrameLocks/>
          </p:cNvGraphicFramePr>
          <p:nvPr/>
        </p:nvGraphicFramePr>
        <p:xfrm>
          <a:off x="2959100" y="4292600"/>
          <a:ext cx="1854200" cy="944563"/>
        </p:xfrm>
        <a:graphic>
          <a:graphicData uri="http://schemas.openxmlformats.org/presentationml/2006/ole">
            <p:oleObj spid="_x0000_s37889" r:id="rId9" imgW="926698" imgH="482391" progId="Equation.3">
              <p:embed/>
            </p:oleObj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2" dur="1000"/>
                                        <p:tgtEl>
                                          <p:spTgt spid="132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5" dur="1000"/>
                                        <p:tgtEl>
                                          <p:spTgt spid="13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51" dur="1000"/>
                                        <p:tgtEl>
                                          <p:spTgt spid="13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54" dur="1000"/>
                                        <p:tgtEl>
                                          <p:spTgt spid="13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57" dur="1000"/>
                                        <p:tgtEl>
                                          <p:spTgt spid="13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METODE SARRUS</a:t>
            </a: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16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3" name="Rectangle 11"/>
          <p:cNvSpPr/>
          <p:nvPr/>
        </p:nvSpPr>
        <p:spPr>
          <a:xfrm>
            <a:off x="762000" y="1447800"/>
            <a:ext cx="7696200" cy="1938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400" dirty="0">
                <a:latin typeface="Palatino Linotype" panose="02040502050505030304" pitchFamily="18" charset="0"/>
              </a:rPr>
              <a:t>Pada matriks 3x3 cara menghitung nilai determinannya adalah menggunakan Metode Sarrus</a:t>
            </a: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400" dirty="0">
                <a:latin typeface="Palatino Linotype" panose="02040502050505030304" pitchFamily="18" charset="0"/>
              </a:rPr>
              <a:t>Metode Sarrus hanya untuk matrix berdimensi 3x3</a:t>
            </a: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endParaRPr lang="id-ID" altLang="x-none" sz="2400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132099" name="Object 3"/>
          <p:cNvGraphicFramePr>
            <a:graphicFrameLocks/>
          </p:cNvGraphicFramePr>
          <p:nvPr/>
        </p:nvGraphicFramePr>
        <p:xfrm>
          <a:off x="609600" y="4038600"/>
          <a:ext cx="8305800" cy="447675"/>
        </p:xfrm>
        <a:graphic>
          <a:graphicData uri="http://schemas.openxmlformats.org/presentationml/2006/ole">
            <p:oleObj spid="_x0000_s45058" r:id="rId4" imgW="4305300" imgH="228600" progId="Equation.3">
              <p:embed/>
            </p:oleObj>
          </a:graphicData>
        </a:graphic>
      </p:graphicFrame>
      <p:pic>
        <p:nvPicPr>
          <p:cNvPr id="133128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429000" y="2743200"/>
            <a:ext cx="3695700" cy="12192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33130" name="Object 4"/>
          <p:cNvGraphicFramePr>
            <a:graphicFrameLocks/>
          </p:cNvGraphicFramePr>
          <p:nvPr/>
        </p:nvGraphicFramePr>
        <p:xfrm>
          <a:off x="1295400" y="2819400"/>
          <a:ext cx="1981200" cy="1084263"/>
        </p:xfrm>
        <a:graphic>
          <a:graphicData uri="http://schemas.openxmlformats.org/presentationml/2006/ole">
            <p:oleObj spid="_x0000_s45057" r:id="rId6" imgW="1269449" imgH="710891" progId="Equation.3">
              <p:embed/>
            </p:oleObj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2" dur="1000"/>
                                        <p:tgtEl>
                                          <p:spTgt spid="13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5" dur="1000"/>
                                        <p:tgtEl>
                                          <p:spTgt spid="13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8" dur="1000"/>
                                        <p:tgtEl>
                                          <p:spTgt spid="133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MINOR</a:t>
            </a: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17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3" name="Rectangle 11"/>
          <p:cNvSpPr/>
          <p:nvPr/>
        </p:nvSpPr>
        <p:spPr>
          <a:xfrm>
            <a:off x="762000" y="1447800"/>
            <a:ext cx="7696200" cy="2678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400" dirty="0">
                <a:latin typeface="Palatino Linotype" panose="02040502050505030304" pitchFamily="18" charset="0"/>
              </a:rPr>
              <a:t>Yang dimaksud dengan MINOR unsur a</a:t>
            </a:r>
            <a:r>
              <a:rPr lang="id-ID" altLang="x-none" sz="1600" dirty="0">
                <a:latin typeface="Palatino Linotype" panose="02040502050505030304" pitchFamily="18" charset="0"/>
              </a:rPr>
              <a:t>ij </a:t>
            </a:r>
            <a:r>
              <a:rPr lang="id-ID" altLang="x-none" sz="2400" dirty="0">
                <a:latin typeface="Palatino Linotype" panose="02040502050505030304" pitchFamily="18" charset="0"/>
              </a:rPr>
              <a:t>adalah determinan yang berasal dari determinan orde ke-n tadi dikurangi dengan baris ke-i dan kolom ke-j.</a:t>
            </a: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400" dirty="0">
                <a:latin typeface="Palatino Linotype" panose="02040502050505030304" pitchFamily="18" charset="0"/>
              </a:rPr>
              <a:t>Dinotasikan dengan M</a:t>
            </a:r>
            <a:r>
              <a:rPr lang="id-ID" altLang="x-none" sz="1600" dirty="0">
                <a:solidFill>
                  <a:srgbClr val="000000"/>
                </a:solidFill>
                <a:latin typeface="Palatino Linotype" panose="02040502050505030304" pitchFamily="18" charset="0"/>
              </a:rPr>
              <a:t>ij</a:t>
            </a:r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400" dirty="0">
                <a:latin typeface="Palatino Linotype" panose="02040502050505030304" pitchFamily="18" charset="0"/>
              </a:rPr>
              <a:t>Contoh Minor dari elemen a</a:t>
            </a:r>
            <a:r>
              <a:rPr lang="id-ID" altLang="x-none" sz="2000" dirty="0">
                <a:latin typeface="Palatino Linotype" panose="02040502050505030304" pitchFamily="18" charset="0"/>
              </a:rPr>
              <a:t>₁₁</a:t>
            </a:r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/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endParaRPr lang="id-ID" altLang="x-none" sz="2400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133130" name="Object 4"/>
          <p:cNvGraphicFramePr>
            <a:graphicFrameLocks/>
          </p:cNvGraphicFramePr>
          <p:nvPr/>
        </p:nvGraphicFramePr>
        <p:xfrm>
          <a:off x="1219200" y="3276600"/>
          <a:ext cx="1981200" cy="1084263"/>
        </p:xfrm>
        <a:graphic>
          <a:graphicData uri="http://schemas.openxmlformats.org/presentationml/2006/ole">
            <p:oleObj spid="_x0000_s47108" r:id="rId4" imgW="1269449" imgH="710891" progId="Equation.3">
              <p:embed/>
            </p:oleObj>
          </a:graphicData>
        </a:graphic>
      </p:graphicFrame>
      <p:cxnSp>
        <p:nvCxnSpPr>
          <p:cNvPr id="16" name="Straight Connector 15"/>
          <p:cNvCxnSpPr/>
          <p:nvPr/>
        </p:nvCxnSpPr>
        <p:spPr>
          <a:xfrm>
            <a:off x="1905000" y="3505200"/>
            <a:ext cx="1066800" cy="158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rot="5400000">
            <a:off x="1524000" y="3810000"/>
            <a:ext cx="762000" cy="317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35172" name="Object 3"/>
          <p:cNvGraphicFramePr>
            <a:graphicFrameLocks/>
          </p:cNvGraphicFramePr>
          <p:nvPr/>
        </p:nvGraphicFramePr>
        <p:xfrm>
          <a:off x="4103688" y="3355975"/>
          <a:ext cx="1546225" cy="773113"/>
        </p:xfrm>
        <a:graphic>
          <a:graphicData uri="http://schemas.openxmlformats.org/presentationml/2006/ole">
            <p:oleObj spid="_x0000_s47107" r:id="rId5" imgW="990170" imgH="507780" progId="Equation.3">
              <p:embed/>
            </p:oleObj>
          </a:graphicData>
        </a:graphic>
      </p:graphicFrame>
      <p:graphicFrame>
        <p:nvGraphicFramePr>
          <p:cNvPr id="135173" name="Object 4"/>
          <p:cNvGraphicFramePr>
            <a:graphicFrameLocks/>
          </p:cNvGraphicFramePr>
          <p:nvPr/>
        </p:nvGraphicFramePr>
        <p:xfrm>
          <a:off x="1114425" y="4495800"/>
          <a:ext cx="2495550" cy="1433513"/>
        </p:xfrm>
        <a:graphic>
          <a:graphicData uri="http://schemas.openxmlformats.org/presentationml/2006/ole">
            <p:oleObj spid="_x0000_s47106" r:id="rId6" imgW="1600200" imgH="939800" progId="Equation.3">
              <p:embed/>
            </p:oleObj>
          </a:graphicData>
        </a:graphic>
      </p:graphicFrame>
      <p:cxnSp>
        <p:nvCxnSpPr>
          <p:cNvPr id="22" name="Straight Connector 21"/>
          <p:cNvCxnSpPr/>
          <p:nvPr/>
        </p:nvCxnSpPr>
        <p:spPr>
          <a:xfrm>
            <a:off x="1752600" y="4724400"/>
            <a:ext cx="1600200" cy="15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5400000">
            <a:off x="1181100" y="5295900"/>
            <a:ext cx="1143000" cy="317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35174" name="Object 5"/>
          <p:cNvGraphicFramePr>
            <a:graphicFrameLocks/>
          </p:cNvGraphicFramePr>
          <p:nvPr/>
        </p:nvGraphicFramePr>
        <p:xfrm>
          <a:off x="4110038" y="4551363"/>
          <a:ext cx="2062162" cy="1120775"/>
        </p:xfrm>
        <a:graphic>
          <a:graphicData uri="http://schemas.openxmlformats.org/presentationml/2006/ole">
            <p:oleObj spid="_x0000_s47105" r:id="rId7" imgW="1320227" imgH="736280" progId="Equation.3">
              <p:embed/>
            </p:oleObj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000"/>
                                        <p:tgtEl>
                                          <p:spTgt spid="133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1000"/>
                                        <p:tgtEl>
                                          <p:spTgt spid="13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1000"/>
                                        <p:tgtEl>
                                          <p:spTgt spid="13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1000"/>
                                        <p:tgtEl>
                                          <p:spTgt spid="13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MINOR</a:t>
            </a: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18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3" name="Rectangle 11"/>
          <p:cNvSpPr/>
          <p:nvPr/>
        </p:nvSpPr>
        <p:spPr>
          <a:xfrm>
            <a:off x="762000" y="1447800"/>
            <a:ext cx="7696200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400" dirty="0">
                <a:latin typeface="Palatino Linotype" panose="02040502050505030304" pitchFamily="18" charset="0"/>
              </a:rPr>
              <a:t>Minor-minor dari Matrik A (ordo 3x3)</a:t>
            </a:r>
          </a:p>
          <a:p>
            <a:pPr marL="360680" lvl="1" indent="-360680" algn="just" eaLnBrk="1" hangingPunct="1"/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endParaRPr lang="id-ID" altLang="x-none" sz="2400" dirty="0">
              <a:latin typeface="Palatino Linotype" panose="02040502050505030304" pitchFamily="18" charset="0"/>
            </a:endParaRPr>
          </a:p>
        </p:txBody>
      </p:sp>
      <p:pic>
        <p:nvPicPr>
          <p:cNvPr id="136196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43000" y="1905000"/>
            <a:ext cx="6350000" cy="2819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000"/>
                                        <p:tgtEl>
                                          <p:spTgt spid="13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KOFAKTOR MATRIKS</a:t>
            </a: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19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3" name="Rectangle 11"/>
          <p:cNvSpPr/>
          <p:nvPr/>
        </p:nvSpPr>
        <p:spPr>
          <a:xfrm>
            <a:off x="762000" y="1447800"/>
            <a:ext cx="8077200" cy="2678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sv-SE" altLang="x-none" sz="2400" dirty="0">
                <a:latin typeface="Palatino Linotype" panose="02040502050505030304" pitchFamily="18" charset="0"/>
              </a:rPr>
              <a:t>Kofaktor dari baris ke-i dan kolom ke-j dituliskan dengan</a:t>
            </a:r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400" dirty="0">
                <a:latin typeface="Palatino Linotype" panose="02040502050505030304" pitchFamily="18" charset="0"/>
              </a:rPr>
              <a:t>Contoh :</a:t>
            </a:r>
          </a:p>
          <a:p>
            <a:pPr marL="360680" lvl="1" indent="-360680" algn="just" eaLnBrk="1" hangingPunct="1"/>
            <a:r>
              <a:rPr lang="id-ID" altLang="x-none" sz="2400" dirty="0">
                <a:latin typeface="Palatino Linotype" panose="02040502050505030304" pitchFamily="18" charset="0"/>
              </a:rPr>
              <a:t>	Kofaktor dari elemen a</a:t>
            </a:r>
            <a:r>
              <a:rPr lang="id-ID" altLang="x-none" sz="1200" dirty="0">
                <a:latin typeface="Palatino Linotype" panose="02040502050505030304" pitchFamily="18" charset="0"/>
              </a:rPr>
              <a:t>11</a:t>
            </a:r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/>
            <a:endParaRPr lang="id-ID" altLang="x-none" sz="2400" dirty="0">
              <a:latin typeface="Palatino Linotype" panose="02040502050505030304" pitchFamily="18" charset="0"/>
            </a:endParaRPr>
          </a:p>
        </p:txBody>
      </p:sp>
      <p:pic>
        <p:nvPicPr>
          <p:cNvPr id="107525" name="Picture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352800" y="2133600"/>
            <a:ext cx="2265363" cy="6096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07526" name="Object 2"/>
          <p:cNvGraphicFramePr>
            <a:graphicFrameLocks/>
          </p:cNvGraphicFramePr>
          <p:nvPr/>
        </p:nvGraphicFramePr>
        <p:xfrm>
          <a:off x="1219200" y="3810000"/>
          <a:ext cx="3048000" cy="473075"/>
        </p:xfrm>
        <a:graphic>
          <a:graphicData uri="http://schemas.openxmlformats.org/presentationml/2006/ole">
            <p:oleObj spid="_x0000_s49153" r:id="rId5" imgW="1523339" imgH="241195" progId="Equation.3">
              <p:embed/>
            </p:oleObj>
          </a:graphicData>
        </a:graphic>
      </p:graphicFrame>
      <p:pic>
        <p:nvPicPr>
          <p:cNvPr id="107527" name="Picture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562600" y="3886200"/>
            <a:ext cx="2524125" cy="1600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1000"/>
                                        <p:tgtEl>
                                          <p:spTgt spid="10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1000"/>
                                        <p:tgtEl>
                                          <p:spTgt spid="107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1000"/>
                                        <p:tgtEl>
                                          <p:spTgt spid="107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TEOREMA LAPLACE</a:t>
            </a: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20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3" name="Rectangle 11"/>
          <p:cNvSpPr/>
          <p:nvPr/>
        </p:nvSpPr>
        <p:spPr>
          <a:xfrm>
            <a:off x="762000" y="1447800"/>
            <a:ext cx="8077200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sv-SE" altLang="x-none" sz="2400" dirty="0">
                <a:latin typeface="Palatino Linotype" panose="02040502050505030304" pitchFamily="18" charset="0"/>
              </a:rPr>
              <a:t>Determinan dari suatu matriks sama dengan jumlah</a:t>
            </a:r>
            <a:r>
              <a:rPr lang="id-ID" altLang="x-none" sz="2400" dirty="0">
                <a:latin typeface="Palatino Linotype" panose="02040502050505030304" pitchFamily="18" charset="0"/>
              </a:rPr>
              <a:t> </a:t>
            </a:r>
            <a:r>
              <a:rPr lang="sv-SE" altLang="x-none" sz="2400" dirty="0">
                <a:latin typeface="Palatino Linotype" panose="02040502050505030304" pitchFamily="18" charset="0"/>
              </a:rPr>
              <a:t>perkalian elemen-elemen dari sembarang baris</a:t>
            </a:r>
            <a:r>
              <a:rPr lang="id-ID" altLang="x-none" sz="2400" dirty="0">
                <a:latin typeface="Palatino Linotype" panose="02040502050505030304" pitchFamily="18" charset="0"/>
              </a:rPr>
              <a:t> </a:t>
            </a:r>
            <a:r>
              <a:rPr lang="sv-SE" altLang="x-none" sz="2400" dirty="0">
                <a:latin typeface="Palatino Linotype" panose="02040502050505030304" pitchFamily="18" charset="0"/>
              </a:rPr>
              <a:t>atau kolom dengan kofaktor-kofaktornya</a:t>
            </a:r>
          </a:p>
        </p:txBody>
      </p:sp>
      <p:pic>
        <p:nvPicPr>
          <p:cNvPr id="137219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43000" y="2743200"/>
            <a:ext cx="5181600" cy="2838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2" dur="2000"/>
                                        <p:tgtEl>
                                          <p:spTgt spid="13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TEOREMA LAPLACE</a:t>
            </a: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21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3" name="Rectangle 11"/>
          <p:cNvSpPr/>
          <p:nvPr/>
        </p:nvSpPr>
        <p:spPr>
          <a:xfrm>
            <a:off x="762000" y="1447800"/>
            <a:ext cx="8077200" cy="3416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0680" lvl="1" indent="-360680" algn="just" eaLnBrk="1" hangingPunct="1"/>
            <a:r>
              <a:rPr lang="sv-SE" altLang="x-none" sz="2400" b="1" dirty="0">
                <a:solidFill>
                  <a:schemeClr val="tx2"/>
                </a:solidFill>
                <a:latin typeface="Palatino Linotype" panose="02040502050505030304" pitchFamily="18" charset="0"/>
              </a:rPr>
              <a:t>Determinan dengan Ekspansi Kofaktor Pada Baris</a:t>
            </a:r>
            <a:endParaRPr lang="id-ID" altLang="x-none" sz="2400" b="1" dirty="0">
              <a:solidFill>
                <a:schemeClr val="tx2"/>
              </a:solidFill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400" dirty="0">
                <a:latin typeface="Palatino Linotype" panose="02040502050505030304" pitchFamily="18" charset="0"/>
              </a:rPr>
              <a:t>Misalkan ada sebuah matriks A berordo 3x3</a:t>
            </a: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/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400" dirty="0">
                <a:latin typeface="Palatino Linotype" panose="02040502050505030304" pitchFamily="18" charset="0"/>
              </a:rPr>
              <a:t>D</a:t>
            </a:r>
            <a:r>
              <a:rPr lang="sv-SE" altLang="x-none" sz="2400" dirty="0">
                <a:latin typeface="Palatino Linotype" panose="02040502050505030304" pitchFamily="18" charset="0"/>
              </a:rPr>
              <a:t>eterminan </a:t>
            </a:r>
            <a:r>
              <a:rPr lang="id-ID" altLang="x-none" sz="2400" dirty="0">
                <a:latin typeface="Palatino Linotype" panose="02040502050505030304" pitchFamily="18" charset="0"/>
              </a:rPr>
              <a:t>Matriks </a:t>
            </a:r>
            <a:r>
              <a:rPr lang="sv-SE" altLang="x-none" sz="2400" dirty="0">
                <a:latin typeface="Palatino Linotype" panose="02040502050505030304" pitchFamily="18" charset="0"/>
              </a:rPr>
              <a:t>A dengan metode ekspansi kofaktor baris</a:t>
            </a:r>
            <a:r>
              <a:rPr lang="id-ID" altLang="x-none" sz="2400" dirty="0">
                <a:latin typeface="Palatino Linotype" panose="02040502050505030304" pitchFamily="18" charset="0"/>
              </a:rPr>
              <a:t> pertama</a:t>
            </a:r>
          </a:p>
          <a:p>
            <a:pPr marL="360680" lvl="1" indent="-360680" algn="just" eaLnBrk="1" hangingPunct="1"/>
            <a:r>
              <a:rPr lang="id-ID" altLang="x-none" sz="2400" dirty="0">
                <a:latin typeface="Palatino Linotype" panose="02040502050505030304" pitchFamily="18" charset="0"/>
              </a:rPr>
              <a:t>	|A|</a:t>
            </a:r>
          </a:p>
          <a:p>
            <a:pPr marL="360680" lvl="1" indent="-360680" algn="just" eaLnBrk="1" hangingPunct="1"/>
            <a:r>
              <a:rPr lang="id-ID" altLang="x-none" sz="2400" dirty="0">
                <a:latin typeface="Palatino Linotype" panose="02040502050505030304" pitchFamily="18" charset="0"/>
              </a:rPr>
              <a:t>	</a:t>
            </a:r>
            <a:endParaRPr lang="sv-SE" altLang="x-none" sz="2400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138243" name="Object 4"/>
          <p:cNvGraphicFramePr>
            <a:graphicFrameLocks/>
          </p:cNvGraphicFramePr>
          <p:nvPr/>
        </p:nvGraphicFramePr>
        <p:xfrm>
          <a:off x="1219200" y="2209800"/>
          <a:ext cx="1981200" cy="1084263"/>
        </p:xfrm>
        <a:graphic>
          <a:graphicData uri="http://schemas.openxmlformats.org/presentationml/2006/ole">
            <p:oleObj spid="_x0000_s53250" r:id="rId4" imgW="1269449" imgH="710891" progId="Equation.3">
              <p:embed/>
            </p:oleObj>
          </a:graphicData>
        </a:graphic>
      </p:graphicFrame>
      <p:graphicFrame>
        <p:nvGraphicFramePr>
          <p:cNvPr id="138246" name="Object 3"/>
          <p:cNvGraphicFramePr>
            <a:graphicFrameLocks/>
          </p:cNvGraphicFramePr>
          <p:nvPr/>
        </p:nvGraphicFramePr>
        <p:xfrm>
          <a:off x="1828800" y="4038600"/>
          <a:ext cx="4416425" cy="1600200"/>
        </p:xfrm>
        <a:graphic>
          <a:graphicData uri="http://schemas.openxmlformats.org/presentationml/2006/ole">
            <p:oleObj spid="_x0000_s53249" r:id="rId5" imgW="2603500" imgH="965200" progId="Equation.3">
              <p:embed/>
            </p:oleObj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3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TEOREMA LAPLACE</a:t>
            </a: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22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3" name="Rectangle 11"/>
          <p:cNvSpPr/>
          <p:nvPr/>
        </p:nvSpPr>
        <p:spPr>
          <a:xfrm>
            <a:off x="762000" y="1219200"/>
            <a:ext cx="8077200" cy="3908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000" dirty="0">
                <a:latin typeface="Palatino Linotype" panose="02040502050505030304" pitchFamily="18" charset="0"/>
              </a:rPr>
              <a:t>D</a:t>
            </a:r>
            <a:r>
              <a:rPr lang="sv-SE" altLang="x-none" sz="2000" dirty="0">
                <a:latin typeface="Palatino Linotype" panose="02040502050505030304" pitchFamily="18" charset="0"/>
              </a:rPr>
              <a:t>eterminan </a:t>
            </a:r>
            <a:r>
              <a:rPr lang="id-ID" altLang="x-none" sz="2000" dirty="0">
                <a:latin typeface="Palatino Linotype" panose="02040502050505030304" pitchFamily="18" charset="0"/>
              </a:rPr>
              <a:t>Matriks </a:t>
            </a:r>
            <a:r>
              <a:rPr lang="sv-SE" altLang="x-none" sz="2000" dirty="0">
                <a:latin typeface="Palatino Linotype" panose="02040502050505030304" pitchFamily="18" charset="0"/>
              </a:rPr>
              <a:t>A dengan metode ekspansi kofaktor baris</a:t>
            </a:r>
            <a:r>
              <a:rPr lang="id-ID" altLang="x-none" sz="2000" dirty="0">
                <a:latin typeface="Palatino Linotype" panose="02040502050505030304" pitchFamily="18" charset="0"/>
              </a:rPr>
              <a:t> kedua</a:t>
            </a:r>
          </a:p>
          <a:p>
            <a:pPr marL="360680" lvl="1" indent="-360680" algn="just" eaLnBrk="1" hangingPunct="1"/>
            <a:r>
              <a:rPr lang="id-ID" altLang="x-none" sz="2400" dirty="0">
                <a:latin typeface="Palatino Linotype" panose="02040502050505030304" pitchFamily="18" charset="0"/>
              </a:rPr>
              <a:t>	|A|</a:t>
            </a:r>
          </a:p>
          <a:p>
            <a:pPr marL="360680" lvl="1" indent="-360680" algn="just" eaLnBrk="1" hangingPunct="1"/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/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/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000" dirty="0">
                <a:latin typeface="Palatino Linotype" panose="02040502050505030304" pitchFamily="18" charset="0"/>
              </a:rPr>
              <a:t>D</a:t>
            </a:r>
            <a:r>
              <a:rPr lang="sv-SE" altLang="x-none" sz="2000" dirty="0">
                <a:latin typeface="Palatino Linotype" panose="02040502050505030304" pitchFamily="18" charset="0"/>
              </a:rPr>
              <a:t>eterminan </a:t>
            </a:r>
            <a:r>
              <a:rPr lang="id-ID" altLang="x-none" sz="2000" dirty="0">
                <a:latin typeface="Palatino Linotype" panose="02040502050505030304" pitchFamily="18" charset="0"/>
              </a:rPr>
              <a:t>Matriks </a:t>
            </a:r>
            <a:r>
              <a:rPr lang="sv-SE" altLang="x-none" sz="2000" dirty="0">
                <a:latin typeface="Palatino Linotype" panose="02040502050505030304" pitchFamily="18" charset="0"/>
              </a:rPr>
              <a:t>A dengan metode ekspansi kofaktor baris</a:t>
            </a:r>
            <a:r>
              <a:rPr lang="id-ID" altLang="x-none" sz="2000" dirty="0">
                <a:latin typeface="Palatino Linotype" panose="02040502050505030304" pitchFamily="18" charset="0"/>
              </a:rPr>
              <a:t> ketiga</a:t>
            </a:r>
          </a:p>
          <a:p>
            <a:pPr marL="360680" lvl="1" indent="-360680" algn="just" eaLnBrk="1" hangingPunct="1"/>
            <a:r>
              <a:rPr lang="id-ID" altLang="x-none" sz="2400" dirty="0">
                <a:latin typeface="Palatino Linotype" panose="02040502050505030304" pitchFamily="18" charset="0"/>
              </a:rPr>
              <a:t>	|A| </a:t>
            </a:r>
          </a:p>
          <a:p>
            <a:pPr marL="360680" lvl="1" indent="-360680" algn="just" eaLnBrk="1" hangingPunct="1"/>
            <a:r>
              <a:rPr lang="id-ID" altLang="x-none" sz="2400" dirty="0">
                <a:latin typeface="Palatino Linotype" panose="02040502050505030304" pitchFamily="18" charset="0"/>
              </a:rPr>
              <a:t>	</a:t>
            </a:r>
            <a:endParaRPr lang="sv-SE" altLang="x-none" sz="2400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138246" name="Object 6"/>
          <p:cNvGraphicFramePr>
            <a:graphicFrameLocks/>
          </p:cNvGraphicFramePr>
          <p:nvPr/>
        </p:nvGraphicFramePr>
        <p:xfrm>
          <a:off x="1828800" y="1905000"/>
          <a:ext cx="4610100" cy="1600200"/>
        </p:xfrm>
        <a:graphic>
          <a:graphicData uri="http://schemas.openxmlformats.org/presentationml/2006/ole">
            <p:oleObj spid="_x0000_s57346" r:id="rId4" imgW="2717800" imgH="965200" progId="Equation.3">
              <p:embed/>
            </p:oleObj>
          </a:graphicData>
        </a:graphic>
      </p:graphicFrame>
      <p:graphicFrame>
        <p:nvGraphicFramePr>
          <p:cNvPr id="173060" name="Object 3"/>
          <p:cNvGraphicFramePr>
            <a:graphicFrameLocks/>
          </p:cNvGraphicFramePr>
          <p:nvPr/>
        </p:nvGraphicFramePr>
        <p:xfrm>
          <a:off x="1905000" y="4343400"/>
          <a:ext cx="4630738" cy="1600200"/>
        </p:xfrm>
        <a:graphic>
          <a:graphicData uri="http://schemas.openxmlformats.org/presentationml/2006/ole">
            <p:oleObj spid="_x0000_s57345" r:id="rId5" imgW="2730500" imgH="965200" progId="Equation.3">
              <p:embed/>
            </p:oleObj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7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TEOREMA LAPLACE</a:t>
            </a: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23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3" name="Rectangle 11"/>
          <p:cNvSpPr/>
          <p:nvPr/>
        </p:nvSpPr>
        <p:spPr>
          <a:xfrm>
            <a:off x="762000" y="1447800"/>
            <a:ext cx="8077200" cy="3416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0680" lvl="1" indent="-360680" algn="just" eaLnBrk="1" hangingPunct="1"/>
            <a:r>
              <a:rPr lang="sv-SE" altLang="x-none" sz="2400" b="1" dirty="0">
                <a:solidFill>
                  <a:schemeClr val="tx2"/>
                </a:solidFill>
                <a:latin typeface="Palatino Linotype" panose="02040502050505030304" pitchFamily="18" charset="0"/>
              </a:rPr>
              <a:t>Determinan dengan Ekspansi Kofaktor Pada </a:t>
            </a:r>
            <a:r>
              <a:rPr lang="id-ID" altLang="x-none" sz="2400" b="1" dirty="0">
                <a:solidFill>
                  <a:schemeClr val="tx2"/>
                </a:solidFill>
                <a:latin typeface="Palatino Linotype" panose="02040502050505030304" pitchFamily="18" charset="0"/>
              </a:rPr>
              <a:t>Kolom</a:t>
            </a: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400" dirty="0">
                <a:latin typeface="Palatino Linotype" panose="02040502050505030304" pitchFamily="18" charset="0"/>
              </a:rPr>
              <a:t>Misalkan ada sebuah matriks A berordo 3x3</a:t>
            </a: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/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400" dirty="0">
                <a:latin typeface="Palatino Linotype" panose="02040502050505030304" pitchFamily="18" charset="0"/>
              </a:rPr>
              <a:t>D</a:t>
            </a:r>
            <a:r>
              <a:rPr lang="sv-SE" altLang="x-none" sz="2400" dirty="0">
                <a:latin typeface="Palatino Linotype" panose="02040502050505030304" pitchFamily="18" charset="0"/>
              </a:rPr>
              <a:t>eterminan </a:t>
            </a:r>
            <a:r>
              <a:rPr lang="id-ID" altLang="x-none" sz="2400" dirty="0">
                <a:latin typeface="Palatino Linotype" panose="02040502050505030304" pitchFamily="18" charset="0"/>
              </a:rPr>
              <a:t>Matriks </a:t>
            </a:r>
            <a:r>
              <a:rPr lang="sv-SE" altLang="x-none" sz="2400" dirty="0">
                <a:latin typeface="Palatino Linotype" panose="02040502050505030304" pitchFamily="18" charset="0"/>
              </a:rPr>
              <a:t>A dengan metode ekspansi kofaktor </a:t>
            </a:r>
            <a:r>
              <a:rPr lang="id-ID" altLang="x-none" sz="2400" dirty="0">
                <a:latin typeface="Palatino Linotype" panose="02040502050505030304" pitchFamily="18" charset="0"/>
              </a:rPr>
              <a:t>kolom pertama</a:t>
            </a:r>
          </a:p>
          <a:p>
            <a:pPr marL="360680" lvl="1" indent="-360680" algn="just" eaLnBrk="1" hangingPunct="1"/>
            <a:r>
              <a:rPr lang="id-ID" altLang="x-none" sz="2400" dirty="0">
                <a:latin typeface="Palatino Linotype" panose="02040502050505030304" pitchFamily="18" charset="0"/>
              </a:rPr>
              <a:t>	|A|</a:t>
            </a:r>
          </a:p>
          <a:p>
            <a:pPr marL="360680" lvl="1" indent="-360680" algn="just" eaLnBrk="1" hangingPunct="1"/>
            <a:r>
              <a:rPr lang="id-ID" altLang="x-none" sz="2400" dirty="0">
                <a:latin typeface="Palatino Linotype" panose="02040502050505030304" pitchFamily="18" charset="0"/>
              </a:rPr>
              <a:t>	</a:t>
            </a:r>
            <a:endParaRPr lang="sv-SE" altLang="x-none" sz="2400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138243" name="Object 4"/>
          <p:cNvGraphicFramePr>
            <a:graphicFrameLocks/>
          </p:cNvGraphicFramePr>
          <p:nvPr/>
        </p:nvGraphicFramePr>
        <p:xfrm>
          <a:off x="1219200" y="2209800"/>
          <a:ext cx="1981200" cy="1084263"/>
        </p:xfrm>
        <a:graphic>
          <a:graphicData uri="http://schemas.openxmlformats.org/presentationml/2006/ole">
            <p:oleObj spid="_x0000_s59394" r:id="rId4" imgW="1269449" imgH="710891" progId="Equation.3">
              <p:embed/>
            </p:oleObj>
          </a:graphicData>
        </a:graphic>
      </p:graphicFrame>
      <p:graphicFrame>
        <p:nvGraphicFramePr>
          <p:cNvPr id="138246" name="Object 3"/>
          <p:cNvGraphicFramePr>
            <a:graphicFrameLocks/>
          </p:cNvGraphicFramePr>
          <p:nvPr/>
        </p:nvGraphicFramePr>
        <p:xfrm>
          <a:off x="1817688" y="4038600"/>
          <a:ext cx="4610100" cy="1600200"/>
        </p:xfrm>
        <a:graphic>
          <a:graphicData uri="http://schemas.openxmlformats.org/presentationml/2006/ole">
            <p:oleObj spid="_x0000_s59393" r:id="rId5" imgW="2717800" imgH="965200" progId="Equation.3">
              <p:embed/>
            </p:oleObj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3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TEOREMA LAPLACE</a:t>
            </a: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24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3" name="Rectangle 11"/>
          <p:cNvSpPr/>
          <p:nvPr/>
        </p:nvSpPr>
        <p:spPr>
          <a:xfrm>
            <a:off x="762000" y="1219200"/>
            <a:ext cx="8077200" cy="3908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000" dirty="0">
                <a:latin typeface="Palatino Linotype" panose="02040502050505030304" pitchFamily="18" charset="0"/>
              </a:rPr>
              <a:t>D</a:t>
            </a:r>
            <a:r>
              <a:rPr lang="sv-SE" altLang="x-none" sz="2000" dirty="0">
                <a:latin typeface="Palatino Linotype" panose="02040502050505030304" pitchFamily="18" charset="0"/>
              </a:rPr>
              <a:t>eterminan </a:t>
            </a:r>
            <a:r>
              <a:rPr lang="id-ID" altLang="x-none" sz="2000" dirty="0">
                <a:latin typeface="Palatino Linotype" panose="02040502050505030304" pitchFamily="18" charset="0"/>
              </a:rPr>
              <a:t>Matriks </a:t>
            </a:r>
            <a:r>
              <a:rPr lang="sv-SE" altLang="x-none" sz="2000" dirty="0">
                <a:latin typeface="Palatino Linotype" panose="02040502050505030304" pitchFamily="18" charset="0"/>
              </a:rPr>
              <a:t>A dengan metode ekspansi kofaktor </a:t>
            </a:r>
            <a:r>
              <a:rPr lang="id-ID" altLang="x-none" sz="2000" dirty="0">
                <a:latin typeface="Palatino Linotype" panose="02040502050505030304" pitchFamily="18" charset="0"/>
              </a:rPr>
              <a:t>kolom kedua</a:t>
            </a:r>
          </a:p>
          <a:p>
            <a:pPr marL="360680" lvl="1" indent="-360680" algn="just" eaLnBrk="1" hangingPunct="1"/>
            <a:r>
              <a:rPr lang="id-ID" altLang="x-none" sz="2400" dirty="0">
                <a:latin typeface="Palatino Linotype" panose="02040502050505030304" pitchFamily="18" charset="0"/>
              </a:rPr>
              <a:t>	|A|</a:t>
            </a:r>
          </a:p>
          <a:p>
            <a:pPr marL="360680" lvl="1" indent="-360680" algn="just" eaLnBrk="1" hangingPunct="1"/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/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/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000" dirty="0">
                <a:latin typeface="Palatino Linotype" panose="02040502050505030304" pitchFamily="18" charset="0"/>
              </a:rPr>
              <a:t>D</a:t>
            </a:r>
            <a:r>
              <a:rPr lang="sv-SE" altLang="x-none" sz="2000" dirty="0">
                <a:latin typeface="Palatino Linotype" panose="02040502050505030304" pitchFamily="18" charset="0"/>
              </a:rPr>
              <a:t>eterminan </a:t>
            </a:r>
            <a:r>
              <a:rPr lang="id-ID" altLang="x-none" sz="2000" dirty="0">
                <a:latin typeface="Palatino Linotype" panose="02040502050505030304" pitchFamily="18" charset="0"/>
              </a:rPr>
              <a:t>Matriks </a:t>
            </a:r>
            <a:r>
              <a:rPr lang="sv-SE" altLang="x-none" sz="2000" dirty="0">
                <a:latin typeface="Palatino Linotype" panose="02040502050505030304" pitchFamily="18" charset="0"/>
              </a:rPr>
              <a:t>A dengan metode ekspansi kofaktor </a:t>
            </a:r>
            <a:r>
              <a:rPr lang="id-ID" altLang="x-none" sz="2000" dirty="0">
                <a:latin typeface="Palatino Linotype" panose="02040502050505030304" pitchFamily="18" charset="0"/>
              </a:rPr>
              <a:t>kolom ketiga</a:t>
            </a:r>
          </a:p>
          <a:p>
            <a:pPr marL="360680" lvl="1" indent="-360680" algn="just" eaLnBrk="1" hangingPunct="1"/>
            <a:r>
              <a:rPr lang="id-ID" altLang="x-none" sz="2400" dirty="0">
                <a:latin typeface="Palatino Linotype" panose="02040502050505030304" pitchFamily="18" charset="0"/>
              </a:rPr>
              <a:t>	|A| </a:t>
            </a:r>
          </a:p>
          <a:p>
            <a:pPr marL="360680" lvl="1" indent="-360680" algn="just" eaLnBrk="1" hangingPunct="1"/>
            <a:r>
              <a:rPr lang="id-ID" altLang="x-none" sz="2400" dirty="0">
                <a:latin typeface="Palatino Linotype" panose="02040502050505030304" pitchFamily="18" charset="0"/>
              </a:rPr>
              <a:t>	</a:t>
            </a:r>
            <a:endParaRPr lang="sv-SE" altLang="x-none" sz="2400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138246" name="Object 6"/>
          <p:cNvGraphicFramePr>
            <a:graphicFrameLocks/>
          </p:cNvGraphicFramePr>
          <p:nvPr/>
        </p:nvGraphicFramePr>
        <p:xfrm>
          <a:off x="1828800" y="1905000"/>
          <a:ext cx="4610100" cy="1600200"/>
        </p:xfrm>
        <a:graphic>
          <a:graphicData uri="http://schemas.openxmlformats.org/presentationml/2006/ole">
            <p:oleObj spid="_x0000_s61442" r:id="rId4" imgW="2717800" imgH="965200" progId="Equation.3">
              <p:embed/>
            </p:oleObj>
          </a:graphicData>
        </a:graphic>
      </p:graphicFrame>
      <p:graphicFrame>
        <p:nvGraphicFramePr>
          <p:cNvPr id="173060" name="Object 3"/>
          <p:cNvGraphicFramePr>
            <a:graphicFrameLocks/>
          </p:cNvGraphicFramePr>
          <p:nvPr/>
        </p:nvGraphicFramePr>
        <p:xfrm>
          <a:off x="1914525" y="4343400"/>
          <a:ext cx="4610100" cy="1600200"/>
        </p:xfrm>
        <a:graphic>
          <a:graphicData uri="http://schemas.openxmlformats.org/presentationml/2006/ole">
            <p:oleObj spid="_x0000_s61441" r:id="rId5" imgW="2717800" imgH="965200" progId="Equation.3">
              <p:embed/>
            </p:oleObj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2" dur="20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5" dur="2000"/>
                                        <p:tgtEl>
                                          <p:spTgt spid="17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DET MATRIKS SEGITIGA</a:t>
            </a: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25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3" name="Rectangle 11"/>
          <p:cNvSpPr/>
          <p:nvPr/>
        </p:nvSpPr>
        <p:spPr>
          <a:xfrm>
            <a:off x="762000" y="1447800"/>
            <a:ext cx="8077200" cy="2678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400" dirty="0">
                <a:latin typeface="Palatino Linotype" panose="02040502050505030304" pitchFamily="18" charset="0"/>
              </a:rPr>
              <a:t>Jika A adalah matriks segitiga bujur sangkar berupa segitiga atas atau segitiga bawah maka nilai det(A) adalah hasil kali diagonal matriks tersebut</a:t>
            </a: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400" dirty="0">
                <a:latin typeface="Palatino Linotype" panose="02040502050505030304" pitchFamily="18" charset="0"/>
              </a:rPr>
              <a:t>Contoh</a:t>
            </a:r>
          </a:p>
          <a:p>
            <a:pPr marL="360680" lvl="1" indent="-360680" algn="just" eaLnBrk="1" hangingPunct="1"/>
            <a:r>
              <a:rPr lang="id-ID" altLang="x-none" sz="2400" dirty="0">
                <a:latin typeface="Palatino Linotype" panose="02040502050505030304" pitchFamily="18" charset="0"/>
              </a:rPr>
              <a:t>	</a:t>
            </a:r>
            <a:endParaRPr lang="sv-SE" altLang="x-none" sz="2400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138243" name="Object 4"/>
          <p:cNvGraphicFramePr>
            <a:graphicFrameLocks/>
          </p:cNvGraphicFramePr>
          <p:nvPr/>
        </p:nvGraphicFramePr>
        <p:xfrm>
          <a:off x="1219200" y="2743200"/>
          <a:ext cx="2714625" cy="347663"/>
        </p:xfrm>
        <a:graphic>
          <a:graphicData uri="http://schemas.openxmlformats.org/presentationml/2006/ole">
            <p:oleObj spid="_x0000_s63490" r:id="rId4" imgW="1739900" imgH="228600" progId="Equation.3">
              <p:embed/>
            </p:oleObj>
          </a:graphicData>
        </a:graphic>
      </p:graphicFrame>
      <p:pic>
        <p:nvPicPr>
          <p:cNvPr id="177157" name="Picture 5" descr="http://wapedia.mobi/math/XGJlZ2lue2JtYXRyaXh9IDImNyYtMyY4JjNcXCAwJi0zJjcmNSYxXFwgMCYwJjYmNyY2XFwgMCYwJjAmOSY4XFwgMCYwJjAmMCY0XFwgXGVuZHtibWF0cml4fQ==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219200" y="3810000"/>
            <a:ext cx="1863725" cy="12954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77158" name="Object 3"/>
          <p:cNvGraphicFramePr>
            <a:graphicFrameLocks/>
          </p:cNvGraphicFramePr>
          <p:nvPr/>
        </p:nvGraphicFramePr>
        <p:xfrm>
          <a:off x="3438525" y="4110038"/>
          <a:ext cx="3190875" cy="309562"/>
        </p:xfrm>
        <a:graphic>
          <a:graphicData uri="http://schemas.openxmlformats.org/presentationml/2006/ole">
            <p:oleObj spid="_x0000_s63489" r:id="rId6" imgW="2042927" imgH="203024" progId="Equation.3">
              <p:embed/>
            </p:oleObj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3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7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17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5970588" cy="5572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3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TRANSPOSE MATRIKS</a:t>
            </a: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26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1600200"/>
            <a:ext cx="7620000" cy="3786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0680" indent="-360680" algn="just">
              <a:buFont typeface="Wingdings" panose="05000000000000000000" pitchFamily="2" charset="2"/>
              <a:buChar char="q"/>
            </a:pPr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Jika A adalah suatu matriks m x n, maka tranpose A dinyatakan oleh Aͭ dan didefinisikan dengan matriks n x m yang kolom pertamanya adalah baris pertama dari A, kolom keduanya adalah baris kedua dari A, demikian juga dengan kolom ketiga adalah baris ketiga dari A dan seterusnya.</a:t>
            </a:r>
          </a:p>
          <a:p>
            <a:pPr marL="360680" indent="-360680" algn="just">
              <a:buFont typeface="Wingdings" panose="05000000000000000000" pitchFamily="2" charset="2"/>
              <a:buChar char="q"/>
            </a:pPr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Contoh : </a:t>
            </a:r>
          </a:p>
          <a:p>
            <a:pPr marL="360680" indent="-360680" algn="just"/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	matriks A  :			berordo 2 x 3 </a:t>
            </a:r>
          </a:p>
          <a:p>
            <a:pPr marL="360680" indent="-360680" algn="just">
              <a:buFont typeface="Wingdings" panose="05000000000000000000" pitchFamily="2" charset="2"/>
              <a:buChar char="q"/>
            </a:pPr>
            <a:endParaRPr lang="id-ID" altLang="x-non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680" indent="-360680" algn="just"/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	 </a:t>
            </a:r>
          </a:p>
          <a:p>
            <a:pPr marL="360680" indent="-360680" algn="just"/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	transposenya :		  berordo 3 x 2</a:t>
            </a:r>
          </a:p>
          <a:p>
            <a:pPr marL="360680" indent="-360680" algn="just"/>
            <a:endParaRPr lang="id-ID" altLang="x-non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680" indent="-360680" algn="just"/>
            <a:endParaRPr lang="id-ID" altLang="x-none" sz="200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9709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graphicFrame>
        <p:nvGraphicFramePr>
          <p:cNvPr id="137219" name="Object 3"/>
          <p:cNvGraphicFramePr>
            <a:graphicFrameLocks/>
          </p:cNvGraphicFramePr>
          <p:nvPr/>
        </p:nvGraphicFramePr>
        <p:xfrm>
          <a:off x="2819400" y="3352800"/>
          <a:ext cx="1216025" cy="600075"/>
        </p:xfrm>
        <a:graphic>
          <a:graphicData uri="http://schemas.openxmlformats.org/presentationml/2006/ole">
            <p:oleObj spid="_x0000_s65538" r:id="rId4" imgW="927100" imgH="457200" progId="Equation.3">
              <p:embed/>
            </p:oleObj>
          </a:graphicData>
        </a:graphic>
      </p:graphicFrame>
      <p:graphicFrame>
        <p:nvGraphicFramePr>
          <p:cNvPr id="140294" name="Object 3"/>
          <p:cNvGraphicFramePr>
            <a:graphicFrameLocks/>
          </p:cNvGraphicFramePr>
          <p:nvPr/>
        </p:nvGraphicFramePr>
        <p:xfrm>
          <a:off x="3602038" y="4114800"/>
          <a:ext cx="1031875" cy="933450"/>
        </p:xfrm>
        <a:graphic>
          <a:graphicData uri="http://schemas.openxmlformats.org/presentationml/2006/ole">
            <p:oleObj spid="_x0000_s65537" r:id="rId5" imgW="787058" imgH="710891" progId="Equation.3">
              <p:embed/>
            </p:oleObj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relative" rAng="0" ptsTypes="AA">
                                      <p:cBhvr>
                                        <p:cTn id="36" dur="5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13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2000"/>
                                        <p:tgtEl>
                                          <p:spTgt spid="14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5970588" cy="5572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3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TRANSPOSE MATRIKS</a:t>
            </a: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27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1600200"/>
            <a:ext cx="7620000" cy="22463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0680" indent="-360680" algn="just"/>
            <a:r>
              <a:rPr lang="da-DK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Beberapa Sifat Matriks Transpose :</a:t>
            </a:r>
          </a:p>
          <a:p>
            <a:pPr marL="360680" indent="-360680" algn="just"/>
            <a:endParaRPr lang="id-ID" altLang="x-non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680" indent="-360680" algn="just"/>
            <a:endParaRPr lang="id-ID" altLang="x-non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680" indent="-360680" algn="just"/>
            <a:endParaRPr lang="id-ID" altLang="x-non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680" indent="-360680" algn="just"/>
            <a:endParaRPr lang="id-ID" altLang="x-non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680" indent="-360680" algn="just"/>
            <a:endParaRPr lang="id-ID" altLang="x-non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680" indent="-360680" algn="just"/>
            <a:endParaRPr lang="id-ID" altLang="x-none" sz="200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0732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graphicFrame>
        <p:nvGraphicFramePr>
          <p:cNvPr id="181254" name="Object 6"/>
          <p:cNvGraphicFramePr>
            <a:graphicFrameLocks/>
          </p:cNvGraphicFramePr>
          <p:nvPr/>
        </p:nvGraphicFramePr>
        <p:xfrm>
          <a:off x="1143000" y="2057400"/>
          <a:ext cx="2286000" cy="1625600"/>
        </p:xfrm>
        <a:graphic>
          <a:graphicData uri="http://schemas.openxmlformats.org/presentationml/2006/ole">
            <p:oleObj spid="_x0000_s67585" r:id="rId4" imgW="1358900" imgH="965200" progId="Equation.3">
              <p:embed/>
            </p:oleObj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relative" rAng="0" ptsTypes="AA">
                                      <p:cBhvr>
                                        <p:cTn id="36" dur="5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18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5970588" cy="5572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3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TRANSPOSE MATRIKS</a:t>
            </a: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28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2000" y="1676400"/>
            <a:ext cx="76200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0680" indent="-360680" algn="just"/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Pembuktian aturan no1 : </a:t>
            </a:r>
            <a:endParaRPr lang="id-ID" altLang="x-none" sz="200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1762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graphicFrame>
        <p:nvGraphicFramePr>
          <p:cNvPr id="181252" name="Object 3"/>
          <p:cNvGraphicFramePr>
            <a:graphicFrameLocks/>
          </p:cNvGraphicFramePr>
          <p:nvPr/>
        </p:nvGraphicFramePr>
        <p:xfrm>
          <a:off x="763588" y="2490788"/>
          <a:ext cx="6246812" cy="633412"/>
        </p:xfrm>
        <a:graphic>
          <a:graphicData uri="http://schemas.openxmlformats.org/presentationml/2006/ole">
            <p:oleObj spid="_x0000_s69639" r:id="rId4" imgW="4760434" imgH="482391" progId="Equation.3">
              <p:embed/>
            </p:oleObj>
          </a:graphicData>
        </a:graphic>
      </p:graphicFrame>
      <p:graphicFrame>
        <p:nvGraphicFramePr>
          <p:cNvPr id="181253" name="Object 5"/>
          <p:cNvGraphicFramePr>
            <a:graphicFrameLocks/>
          </p:cNvGraphicFramePr>
          <p:nvPr/>
        </p:nvGraphicFramePr>
        <p:xfrm>
          <a:off x="5791200" y="1524000"/>
          <a:ext cx="1663700" cy="633413"/>
        </p:xfrm>
        <a:graphic>
          <a:graphicData uri="http://schemas.openxmlformats.org/presentationml/2006/ole">
            <p:oleObj spid="_x0000_s69638" r:id="rId5" imgW="1269449" imgH="482391" progId="Equation.3">
              <p:embed/>
            </p:oleObj>
          </a:graphicData>
        </a:graphic>
      </p:graphicFrame>
      <p:graphicFrame>
        <p:nvGraphicFramePr>
          <p:cNvPr id="181255" name="Object 4"/>
          <p:cNvGraphicFramePr>
            <a:graphicFrameLocks/>
          </p:cNvGraphicFramePr>
          <p:nvPr/>
        </p:nvGraphicFramePr>
        <p:xfrm>
          <a:off x="3962400" y="1524000"/>
          <a:ext cx="1700213" cy="633413"/>
        </p:xfrm>
        <a:graphic>
          <a:graphicData uri="http://schemas.openxmlformats.org/presentationml/2006/ole">
            <p:oleObj spid="_x0000_s69637" r:id="rId6" imgW="1294838" imgH="482391" progId="Equation.3">
              <p:embed/>
            </p:oleObj>
          </a:graphicData>
        </a:graphic>
      </p:graphicFrame>
      <p:graphicFrame>
        <p:nvGraphicFramePr>
          <p:cNvPr id="185351" name="Object 7"/>
          <p:cNvGraphicFramePr>
            <a:graphicFrameLocks/>
          </p:cNvGraphicFramePr>
          <p:nvPr/>
        </p:nvGraphicFramePr>
        <p:xfrm>
          <a:off x="685800" y="4648200"/>
          <a:ext cx="1384300" cy="933450"/>
        </p:xfrm>
        <a:graphic>
          <a:graphicData uri="http://schemas.openxmlformats.org/presentationml/2006/ole">
            <p:oleObj spid="_x0000_s69636" r:id="rId7" imgW="1053643" imgH="710891" progId="Equation.3">
              <p:embed/>
            </p:oleObj>
          </a:graphicData>
        </a:graphic>
      </p:graphicFrame>
      <p:graphicFrame>
        <p:nvGraphicFramePr>
          <p:cNvPr id="185352" name="Object 8"/>
          <p:cNvGraphicFramePr>
            <a:graphicFrameLocks/>
          </p:cNvGraphicFramePr>
          <p:nvPr/>
        </p:nvGraphicFramePr>
        <p:xfrm>
          <a:off x="2209800" y="4648200"/>
          <a:ext cx="1347788" cy="933450"/>
        </p:xfrm>
        <a:graphic>
          <a:graphicData uri="http://schemas.openxmlformats.org/presentationml/2006/ole">
            <p:oleObj spid="_x0000_s69635" r:id="rId8" imgW="1028254" imgH="710891" progId="Equation.3">
              <p:embed/>
            </p:oleObj>
          </a:graphicData>
        </a:graphic>
      </p:graphicFrame>
      <p:graphicFrame>
        <p:nvGraphicFramePr>
          <p:cNvPr id="185353" name="Object 9"/>
          <p:cNvGraphicFramePr>
            <a:graphicFrameLocks/>
          </p:cNvGraphicFramePr>
          <p:nvPr/>
        </p:nvGraphicFramePr>
        <p:xfrm>
          <a:off x="3810000" y="4572000"/>
          <a:ext cx="4746625" cy="933450"/>
        </p:xfrm>
        <a:graphic>
          <a:graphicData uri="http://schemas.openxmlformats.org/presentationml/2006/ole">
            <p:oleObj spid="_x0000_s69634" r:id="rId9" imgW="3617930" imgH="710891" progId="Equation.3">
              <p:embed/>
            </p:oleObj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724400" y="3581400"/>
            <a:ext cx="2133600" cy="461963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id-ID" altLang="x-none" sz="2400" dirty="0">
                <a:latin typeface="Rockwell Extra Bold" panose="02060903040505020403" pitchFamily="18" charset="0"/>
              </a:rPr>
              <a:t>TERBUKTI</a:t>
            </a:r>
          </a:p>
        </p:txBody>
      </p:sp>
      <p:graphicFrame>
        <p:nvGraphicFramePr>
          <p:cNvPr id="185354" name="Object 8"/>
          <p:cNvGraphicFramePr>
            <a:graphicFrameLocks/>
          </p:cNvGraphicFramePr>
          <p:nvPr/>
        </p:nvGraphicFramePr>
        <p:xfrm>
          <a:off x="685800" y="3409950"/>
          <a:ext cx="2681288" cy="933450"/>
        </p:xfrm>
        <a:graphic>
          <a:graphicData uri="http://schemas.openxmlformats.org/presentationml/2006/ole">
            <p:oleObj spid="_x0000_s69633" r:id="rId10" imgW="2043813" imgH="710891" progId="Equation.3">
              <p:embed/>
            </p:oleObj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relative" rAng="0" ptsTypes="AA">
                                      <p:cBhvr>
                                        <p:cTn id="36" dur="5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2000"/>
                                        <p:tgtEl>
                                          <p:spTgt spid="18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2000"/>
                                        <p:tgtEl>
                                          <p:spTgt spid="18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2000"/>
                                        <p:tgtEl>
                                          <p:spTgt spid="18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2000"/>
                                        <p:tgtEl>
                                          <p:spTgt spid="185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2000"/>
                                        <p:tgtEl>
                                          <p:spTgt spid="185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2000"/>
                                        <p:tgtEl>
                                          <p:spTgt spid="185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0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2000"/>
                                        <p:tgtEl>
                                          <p:spTgt spid="185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4" grpId="0"/>
      <p:bldP spid="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5970588" cy="5572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3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TRANSPOSE MATRIKS</a:t>
            </a: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29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1600200"/>
            <a:ext cx="762000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0680" indent="-360680" algn="just"/>
            <a:r>
              <a:rPr lang="id-ID" alt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Pembuktian aturan no 2 :	</a:t>
            </a:r>
          </a:p>
          <a:p>
            <a:pPr marL="360680" indent="-360680" algn="just"/>
            <a:endParaRPr lang="id-ID" altLang="x-none" sz="200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2782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graphicFrame>
        <p:nvGraphicFramePr>
          <p:cNvPr id="181255" name="Object 5"/>
          <p:cNvGraphicFramePr>
            <a:graphicFrameLocks/>
          </p:cNvGraphicFramePr>
          <p:nvPr/>
        </p:nvGraphicFramePr>
        <p:xfrm>
          <a:off x="990600" y="2209800"/>
          <a:ext cx="1700213" cy="633413"/>
        </p:xfrm>
        <a:graphic>
          <a:graphicData uri="http://schemas.openxmlformats.org/presentationml/2006/ole">
            <p:oleObj spid="_x0000_s71683" r:id="rId4" imgW="1294838" imgH="482391" progId="Equation.3">
              <p:embed/>
            </p:oleObj>
          </a:graphicData>
        </a:graphic>
      </p:graphicFrame>
      <p:graphicFrame>
        <p:nvGraphicFramePr>
          <p:cNvPr id="185351" name="Object 7"/>
          <p:cNvGraphicFramePr>
            <a:graphicFrameLocks/>
          </p:cNvGraphicFramePr>
          <p:nvPr/>
        </p:nvGraphicFramePr>
        <p:xfrm>
          <a:off x="990600" y="3124200"/>
          <a:ext cx="1384300" cy="933450"/>
        </p:xfrm>
        <a:graphic>
          <a:graphicData uri="http://schemas.openxmlformats.org/presentationml/2006/ole">
            <p:oleObj spid="_x0000_s71682" r:id="rId5" imgW="1053643" imgH="710891" progId="Equation.3">
              <p:embed/>
            </p:oleObj>
          </a:graphicData>
        </a:graphic>
      </p:graphicFrame>
      <p:graphicFrame>
        <p:nvGraphicFramePr>
          <p:cNvPr id="185353" name="Object 9"/>
          <p:cNvGraphicFramePr>
            <a:graphicFrameLocks/>
          </p:cNvGraphicFramePr>
          <p:nvPr/>
        </p:nvGraphicFramePr>
        <p:xfrm>
          <a:off x="762000" y="4343400"/>
          <a:ext cx="3248025" cy="966788"/>
        </p:xfrm>
        <a:graphic>
          <a:graphicData uri="http://schemas.openxmlformats.org/presentationml/2006/ole">
            <p:oleObj spid="_x0000_s71681" r:id="rId6" imgW="2476500" imgH="736600" progId="Equation.3">
              <p:embed/>
            </p:oleObj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724400" y="3581400"/>
            <a:ext cx="2133600" cy="461963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id-ID" altLang="x-none" sz="2400" dirty="0">
                <a:latin typeface="Rockwell Extra Bold" panose="02060903040505020403" pitchFamily="18" charset="0"/>
              </a:rPr>
              <a:t>TERBUKTI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relative" rAng="0" ptsTypes="AA">
                                      <p:cBhvr>
                                        <p:cTn id="36" dur="5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18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2000"/>
                                        <p:tgtEl>
                                          <p:spTgt spid="185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2000"/>
                                        <p:tgtEl>
                                          <p:spTgt spid="185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4" grpId="0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5970588" cy="5572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3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MATRIKS SIMETRI</a:t>
            </a: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30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1600200"/>
            <a:ext cx="7620000" cy="22463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just" defTabSz="914400">
              <a:buClrTx/>
              <a:buSzTx/>
              <a:buFontTx/>
              <a:buNone/>
              <a:defRPr/>
            </a:pPr>
            <a:r>
              <a:rPr kumimoji="0" lang="id-ID" sz="2000" kern="1200" cap="none" spc="0" normalizeH="0" baseline="0" noProof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Sebuah matriks dikatakan simetri apabila hasil dari transpose matriks A sama dengan matriks A itu sendiri.</a:t>
            </a:r>
            <a:endParaRPr kumimoji="0" lang="da-DK" sz="2000" kern="1200" cap="none" spc="0" normalizeH="0" baseline="0" noProof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60680" marR="0" indent="-360680" algn="just" defTabSz="914400">
              <a:buClrTx/>
              <a:buSzTx/>
              <a:buFontTx/>
              <a:buNone/>
              <a:defRPr/>
            </a:pPr>
            <a:endParaRPr kumimoji="0" lang="id-ID" sz="2000" kern="1200" cap="none" spc="0" normalizeH="0" baseline="0" noProof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60680" marR="0" indent="-360680" algn="just" defTabSz="914400">
              <a:buClrTx/>
              <a:buSzTx/>
              <a:buFontTx/>
              <a:buNone/>
              <a:defRPr/>
            </a:pPr>
            <a:endParaRPr kumimoji="0" lang="id-ID" sz="2000" kern="1200" cap="none" spc="0" normalizeH="0" baseline="0" noProof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60680" marR="0" indent="-360680" algn="just" defTabSz="914400">
              <a:buClrTx/>
              <a:buSzTx/>
              <a:buFontTx/>
              <a:buNone/>
              <a:defRPr/>
            </a:pPr>
            <a:endParaRPr kumimoji="0" lang="id-ID" sz="2000" kern="1200" cap="none" spc="0" normalizeH="0" baseline="0" noProof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60680" marR="0" indent="-360680" algn="just" defTabSz="914400">
              <a:buClrTx/>
              <a:buSzTx/>
              <a:buFontTx/>
              <a:buNone/>
              <a:defRPr/>
            </a:pPr>
            <a:r>
              <a:rPr kumimoji="0" lang="id-ID" sz="2000" kern="1200" cap="none" spc="0" normalizeH="0" baseline="0" noProof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Contoh :</a:t>
            </a:r>
          </a:p>
          <a:p>
            <a:pPr marL="360680" marR="0" indent="-360680" algn="just" defTabSz="914400">
              <a:buClrTx/>
              <a:buSzTx/>
              <a:buFontTx/>
              <a:buNone/>
              <a:defRPr/>
            </a:pPr>
            <a:r>
              <a:rPr kumimoji="0" lang="id-ID" sz="2000" kern="1200" cap="none" spc="0" normalizeH="0" baseline="0" noProof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1.				2.</a:t>
            </a:r>
          </a:p>
        </p:txBody>
      </p:sp>
      <p:sp>
        <p:nvSpPr>
          <p:cNvPr id="33806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graphicFrame>
        <p:nvGraphicFramePr>
          <p:cNvPr id="181252" name="Object 3"/>
          <p:cNvGraphicFramePr>
            <a:graphicFrameLocks/>
          </p:cNvGraphicFramePr>
          <p:nvPr/>
        </p:nvGraphicFramePr>
        <p:xfrm>
          <a:off x="1295400" y="3810000"/>
          <a:ext cx="1366838" cy="1866900"/>
        </p:xfrm>
        <a:graphic>
          <a:graphicData uri="http://schemas.openxmlformats.org/presentationml/2006/ole">
            <p:oleObj spid="_x0000_s73731" r:id="rId4" imgW="1040948" imgH="1421783" progId="Equation.3">
              <p:embed/>
            </p:oleObj>
          </a:graphicData>
        </a:graphic>
      </p:graphicFrame>
      <p:graphicFrame>
        <p:nvGraphicFramePr>
          <p:cNvPr id="181253" name="Object 5"/>
          <p:cNvGraphicFramePr>
            <a:graphicFrameLocks/>
          </p:cNvGraphicFramePr>
          <p:nvPr/>
        </p:nvGraphicFramePr>
        <p:xfrm>
          <a:off x="4343400" y="3962400"/>
          <a:ext cx="1082675" cy="1263650"/>
        </p:xfrm>
        <a:graphic>
          <a:graphicData uri="http://schemas.openxmlformats.org/presentationml/2006/ole">
            <p:oleObj spid="_x0000_s73730" r:id="rId5" imgW="825500" imgH="939800" progId="Equation.3">
              <p:embed/>
            </p:oleObj>
          </a:graphicData>
        </a:graphic>
      </p:graphicFrame>
      <p:graphicFrame>
        <p:nvGraphicFramePr>
          <p:cNvPr id="202756" name="Object 4"/>
          <p:cNvGraphicFramePr>
            <a:graphicFrameLocks/>
          </p:cNvGraphicFramePr>
          <p:nvPr/>
        </p:nvGraphicFramePr>
        <p:xfrm>
          <a:off x="1219200" y="2438400"/>
          <a:ext cx="1519238" cy="571500"/>
        </p:xfrm>
        <a:graphic>
          <a:graphicData uri="http://schemas.openxmlformats.org/presentationml/2006/ole">
            <p:oleObj spid="_x0000_s73729" r:id="rId6" imgW="507780" imgH="190417" progId="Equation.3">
              <p:embed/>
            </p:oleObj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relative" rAng="0" ptsTypes="AA">
                                      <p:cBhvr>
                                        <p:cTn id="36" dur="5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18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2000"/>
                                        <p:tgtEl>
                                          <p:spTgt spid="18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2000"/>
                                        <p:tgtEl>
                                          <p:spTgt spid="20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INVERS MATRIKS</a:t>
            </a: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31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762000" y="1447800"/>
            <a:ext cx="8077200" cy="45243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60680" marR="0" lvl="1" indent="-36068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id-ID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Matriks invers dari suatu matriks A adalah  matriks B yang apabila dikalikan dengan matriks A memberikan satuan I</a:t>
            </a:r>
          </a:p>
          <a:p>
            <a:pPr marL="360680" marR="0" lvl="1" indent="-36068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id-ID" sz="24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AB = I</a:t>
            </a:r>
          </a:p>
          <a:p>
            <a:pPr marL="360680" marR="0" lvl="1" indent="-36068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id-ID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Notasi matriks invers :</a:t>
            </a:r>
          </a:p>
          <a:p>
            <a:pPr marL="360680" marR="0" lvl="1" indent="-36068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id-ID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Sebuah matriks yang dikalikan matriks inversenya akan menghasilkan matrik satuan</a:t>
            </a:r>
          </a:p>
          <a:p>
            <a:pPr marL="360680" marR="0" lvl="1" indent="-36068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</a:t>
            </a:r>
          </a:p>
          <a:p>
            <a:pPr marL="360680" marR="0" lvl="1" indent="-36068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id-ID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Jika </a:t>
            </a:r>
          </a:p>
          <a:p>
            <a:pPr marL="360680" marR="0" lvl="1" indent="-36068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  <a:p>
            <a:pPr marL="2189480" marR="0" lvl="5" indent="-36068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Maka  </a:t>
            </a:r>
          </a:p>
          <a:p>
            <a:pPr marL="360680" marR="0" lvl="1" indent="-36068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	</a:t>
            </a:r>
            <a:endParaRPr kumimoji="0" lang="sv-SE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aphicFrame>
        <p:nvGraphicFramePr>
          <p:cNvPr id="34818" name="Object 6"/>
          <p:cNvGraphicFramePr>
            <a:graphicFrameLocks/>
          </p:cNvGraphicFramePr>
          <p:nvPr/>
        </p:nvGraphicFramePr>
        <p:xfrm>
          <a:off x="4495800" y="2971800"/>
          <a:ext cx="395288" cy="290513"/>
        </p:xfrm>
        <a:graphic>
          <a:graphicData uri="http://schemas.openxmlformats.org/presentationml/2006/ole">
            <p:oleObj spid="_x0000_s75780" r:id="rId4" imgW="253780" imgH="190335" progId="Equation.3">
              <p:embed/>
            </p:oleObj>
          </a:graphicData>
        </a:graphic>
      </p:graphicFrame>
      <p:graphicFrame>
        <p:nvGraphicFramePr>
          <p:cNvPr id="34819" name="Object 3"/>
          <p:cNvGraphicFramePr>
            <a:graphicFrameLocks/>
          </p:cNvGraphicFramePr>
          <p:nvPr/>
        </p:nvGraphicFramePr>
        <p:xfrm>
          <a:off x="1295400" y="4038600"/>
          <a:ext cx="928688" cy="290513"/>
        </p:xfrm>
        <a:graphic>
          <a:graphicData uri="http://schemas.openxmlformats.org/presentationml/2006/ole">
            <p:oleObj spid="_x0000_s75779" r:id="rId5" imgW="596641" imgH="190417" progId="Equation.3">
              <p:embed/>
            </p:oleObj>
          </a:graphicData>
        </a:graphic>
      </p:graphicFrame>
      <p:graphicFrame>
        <p:nvGraphicFramePr>
          <p:cNvPr id="34820" name="Object 4"/>
          <p:cNvGraphicFramePr>
            <a:graphicFrameLocks/>
          </p:cNvGraphicFramePr>
          <p:nvPr/>
        </p:nvGraphicFramePr>
        <p:xfrm>
          <a:off x="1219200" y="4953000"/>
          <a:ext cx="1185863" cy="696913"/>
        </p:xfrm>
        <a:graphic>
          <a:graphicData uri="http://schemas.openxmlformats.org/presentationml/2006/ole">
            <p:oleObj spid="_x0000_s75778" r:id="rId6" imgW="761669" imgH="457002" progId="Equation.3">
              <p:embed/>
            </p:oleObj>
          </a:graphicData>
        </a:graphic>
      </p:graphicFrame>
      <p:graphicFrame>
        <p:nvGraphicFramePr>
          <p:cNvPr id="34821" name="Object 5"/>
          <p:cNvGraphicFramePr>
            <a:graphicFrameLocks/>
          </p:cNvGraphicFramePr>
          <p:nvPr/>
        </p:nvGraphicFramePr>
        <p:xfrm>
          <a:off x="3733800" y="5018088"/>
          <a:ext cx="2449513" cy="696912"/>
        </p:xfrm>
        <a:graphic>
          <a:graphicData uri="http://schemas.openxmlformats.org/presentationml/2006/ole">
            <p:oleObj spid="_x0000_s75777" r:id="rId7" imgW="1574800" imgH="457200" progId="Equation.3">
              <p:embed/>
            </p:oleObj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INVERS MATRIX</a:t>
            </a: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32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3" name="Rectangle 11"/>
          <p:cNvSpPr/>
          <p:nvPr/>
        </p:nvSpPr>
        <p:spPr>
          <a:xfrm>
            <a:off x="762000" y="1447800"/>
            <a:ext cx="8077200" cy="41544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400" dirty="0">
                <a:latin typeface="Palatino Linotype" panose="02040502050505030304" pitchFamily="18" charset="0"/>
              </a:rPr>
              <a:t>Langkah-langkah untuk mencari invers matriks M yang berordo 3x3 adalah :</a:t>
            </a:r>
          </a:p>
          <a:p>
            <a:pPr marL="360680" lvl="1" indent="-360680" algn="just" eaLnBrk="1" hangingPunct="1"/>
            <a:r>
              <a:rPr lang="id-ID" altLang="x-none" sz="2400" dirty="0">
                <a:latin typeface="Palatino Linotype" panose="02040502050505030304" pitchFamily="18" charset="0"/>
              </a:rPr>
              <a:t>	-	Cari determinan dari M</a:t>
            </a:r>
          </a:p>
          <a:p>
            <a:pPr marL="360680" lvl="1" indent="-360680" algn="just" eaLnBrk="1" hangingPunct="1"/>
            <a:r>
              <a:rPr lang="id-ID" altLang="x-none" sz="2400" dirty="0">
                <a:latin typeface="Palatino Linotype" panose="02040502050505030304" pitchFamily="18" charset="0"/>
              </a:rPr>
              <a:t>	-	Transpose matriks M sehingga menjadi</a:t>
            </a:r>
          </a:p>
          <a:p>
            <a:pPr marL="360680" lvl="1" indent="-360680" algn="just" eaLnBrk="1" hangingPunct="1"/>
            <a:r>
              <a:rPr lang="id-ID" altLang="x-none" sz="2400" dirty="0">
                <a:latin typeface="Palatino Linotype" panose="02040502050505030304" pitchFamily="18" charset="0"/>
              </a:rPr>
              <a:t>	-	Cari adjoin matriks</a:t>
            </a:r>
          </a:p>
          <a:p>
            <a:pPr marL="360680" lvl="1" indent="-360680" algn="just" eaLnBrk="1" hangingPunct="1"/>
            <a:r>
              <a:rPr lang="id-ID" altLang="x-none" sz="2400" dirty="0">
                <a:latin typeface="Palatino Linotype" panose="02040502050505030304" pitchFamily="18" charset="0"/>
              </a:rPr>
              <a:t>	-	Gunakan rumus </a:t>
            </a:r>
          </a:p>
          <a:p>
            <a:pPr marL="360680" lvl="1" indent="-360680" algn="just" eaLnBrk="1" hangingPunct="1"/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/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/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/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/>
            <a:r>
              <a:rPr lang="id-ID" altLang="x-none" sz="2400" dirty="0">
                <a:latin typeface="Palatino Linotype" panose="02040502050505030304" pitchFamily="18" charset="0"/>
              </a:rPr>
              <a:t>	</a:t>
            </a:r>
            <a:endParaRPr lang="sv-SE" altLang="x-none" sz="2400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35842" name="Object 2"/>
          <p:cNvGraphicFramePr>
            <a:graphicFrameLocks/>
          </p:cNvGraphicFramePr>
          <p:nvPr/>
        </p:nvGraphicFramePr>
        <p:xfrm>
          <a:off x="7200900" y="2563813"/>
          <a:ext cx="571500" cy="407987"/>
        </p:xfrm>
        <a:graphic>
          <a:graphicData uri="http://schemas.openxmlformats.org/presentationml/2006/ole">
            <p:oleObj spid="_x0000_s77826" r:id="rId4" imgW="266353" imgH="190252" progId="Equation.3">
              <p:embed/>
            </p:oleObj>
          </a:graphicData>
        </a:graphic>
      </p:graphicFrame>
      <p:graphicFrame>
        <p:nvGraphicFramePr>
          <p:cNvPr id="35843" name="Object 3"/>
          <p:cNvGraphicFramePr>
            <a:graphicFrameLocks/>
          </p:cNvGraphicFramePr>
          <p:nvPr/>
        </p:nvGraphicFramePr>
        <p:xfrm>
          <a:off x="1703388" y="3848100"/>
          <a:ext cx="4316412" cy="1044575"/>
        </p:xfrm>
        <a:graphic>
          <a:graphicData uri="http://schemas.openxmlformats.org/presentationml/2006/ole">
            <p:oleObj spid="_x0000_s77825" r:id="rId5" imgW="1727200" imgH="419100" progId="Equation.3">
              <p:embed/>
            </p:oleObj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INVERS MATRIX</a:t>
            </a: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33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3" name="Rectangle 11"/>
          <p:cNvSpPr/>
          <p:nvPr/>
        </p:nvSpPr>
        <p:spPr>
          <a:xfrm>
            <a:off x="762000" y="1447800"/>
            <a:ext cx="8077200" cy="7478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400" dirty="0">
                <a:latin typeface="Palatino Linotype" panose="02040502050505030304" pitchFamily="18" charset="0"/>
              </a:rPr>
              <a:t>Contoh Soal :</a:t>
            </a: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/>
            <a:r>
              <a:rPr lang="id-ID" altLang="x-none" sz="2400" dirty="0">
                <a:latin typeface="Palatino Linotype" panose="02040502050505030304" pitchFamily="18" charset="0"/>
              </a:rPr>
              <a:t>	- Cari Determinannya :</a:t>
            </a:r>
          </a:p>
          <a:p>
            <a:pPr marL="360680" lvl="1" indent="-360680" algn="just" eaLnBrk="1" hangingPunct="1"/>
            <a:r>
              <a:rPr lang="id-ID" altLang="x-none" sz="2400" dirty="0">
                <a:latin typeface="Palatino Linotype" panose="02040502050505030304" pitchFamily="18" charset="0"/>
              </a:rPr>
              <a:t>	 det(M) = 1(0-24)-2(0-20)+3(0-5) = 1</a:t>
            </a:r>
          </a:p>
          <a:p>
            <a:pPr marL="360680" lvl="1" indent="-360680" algn="just" eaLnBrk="1" hangingPunct="1"/>
            <a:r>
              <a:rPr lang="id-ID" altLang="x-none" sz="2400" dirty="0">
                <a:latin typeface="Palatino Linotype" panose="02040502050505030304" pitchFamily="18" charset="0"/>
              </a:rPr>
              <a:t>	- Transpose matriks M</a:t>
            </a:r>
          </a:p>
          <a:p>
            <a:pPr marL="360680" lvl="1" indent="-360680" algn="just" eaLnBrk="1" hangingPunct="1"/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/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/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/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/>
            <a:r>
              <a:rPr lang="id-ID" altLang="x-none" sz="2400" dirty="0">
                <a:latin typeface="Palatino Linotype" panose="02040502050505030304" pitchFamily="18" charset="0"/>
              </a:rPr>
              <a:t>	</a:t>
            </a:r>
          </a:p>
          <a:p>
            <a:pPr marL="360680" lvl="1" indent="-360680" algn="just" eaLnBrk="1" hangingPunct="1"/>
            <a:r>
              <a:rPr lang="id-ID" altLang="x-none" sz="2400" dirty="0">
                <a:latin typeface="Palatino Linotype" panose="02040502050505030304" pitchFamily="18" charset="0"/>
              </a:rPr>
              <a:t>	</a:t>
            </a:r>
          </a:p>
          <a:p>
            <a:pPr marL="360680" lvl="1" indent="-360680" algn="just" eaLnBrk="1" hangingPunct="1"/>
            <a:r>
              <a:rPr lang="id-ID" altLang="x-none" sz="2400" dirty="0">
                <a:latin typeface="Palatino Linotype" panose="02040502050505030304" pitchFamily="18" charset="0"/>
              </a:rPr>
              <a:t>	</a:t>
            </a:r>
          </a:p>
          <a:p>
            <a:pPr marL="360680" lvl="1" indent="-360680" algn="just" eaLnBrk="1" hangingPunct="1"/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/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/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/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/>
            <a:r>
              <a:rPr lang="id-ID" altLang="x-none" sz="2400" dirty="0">
                <a:latin typeface="Palatino Linotype" panose="02040502050505030304" pitchFamily="18" charset="0"/>
              </a:rPr>
              <a:t>	</a:t>
            </a:r>
            <a:endParaRPr lang="sv-SE" altLang="x-none" sz="2400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36866" name="Object 3"/>
          <p:cNvGraphicFramePr>
            <a:graphicFrameLocks/>
          </p:cNvGraphicFramePr>
          <p:nvPr/>
        </p:nvGraphicFramePr>
        <p:xfrm>
          <a:off x="1295400" y="1981200"/>
          <a:ext cx="1905000" cy="1254125"/>
        </p:xfrm>
        <a:graphic>
          <a:graphicData uri="http://schemas.openxmlformats.org/presentationml/2006/ole">
            <p:oleObj spid="_x0000_s79874" r:id="rId4" imgW="1079032" imgH="710891" progId="Equation.3">
              <p:embed/>
            </p:oleObj>
          </a:graphicData>
        </a:graphic>
      </p:graphicFrame>
      <p:graphicFrame>
        <p:nvGraphicFramePr>
          <p:cNvPr id="36867" name="Object 3"/>
          <p:cNvGraphicFramePr>
            <a:graphicFrameLocks/>
          </p:cNvGraphicFramePr>
          <p:nvPr/>
        </p:nvGraphicFramePr>
        <p:xfrm>
          <a:off x="1295400" y="4537075"/>
          <a:ext cx="1927225" cy="1254125"/>
        </p:xfrm>
        <a:graphic>
          <a:graphicData uri="http://schemas.openxmlformats.org/presentationml/2006/ole">
            <p:oleObj spid="_x0000_s79873" r:id="rId5" imgW="1091726" imgH="710891" progId="Equation.3">
              <p:embed/>
            </p:oleObj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INVERS MATRIX</a:t>
            </a: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34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762000" y="1447800"/>
            <a:ext cx="8077200" cy="7478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263525" marR="0" lvl="1" indent="-263525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- Temukan matriks kofaktor dengan menghitung minor-minor matriksnya</a:t>
            </a:r>
          </a:p>
          <a:p>
            <a:pPr marL="360680" marR="0" lvl="1" indent="-36068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endParaRPr kumimoji="0" lang="id-ID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  <a:p>
            <a:pPr marL="360680" marR="0" lvl="1" indent="-36068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endParaRPr kumimoji="0" lang="id-ID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  <a:p>
            <a:pPr marL="360680" marR="0" lvl="1" indent="-36068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endParaRPr kumimoji="0" lang="id-ID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  <a:p>
            <a:pPr marL="360680" marR="0" lvl="1" indent="-36068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endParaRPr kumimoji="0" lang="id-ID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  <a:p>
            <a:pPr marL="360680" marR="0" lvl="1" indent="-36068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endParaRPr kumimoji="0" lang="id-ID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  <a:p>
            <a:pPr marL="360680" marR="0" lvl="1" indent="-36068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-  Hasilnya :</a:t>
            </a:r>
          </a:p>
          <a:p>
            <a:pPr marL="360680" marR="0" lvl="1" indent="-36068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  <a:p>
            <a:pPr marL="360680" marR="0" lvl="1" indent="-36068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				==&gt; 		       ==&gt;</a:t>
            </a:r>
          </a:p>
          <a:p>
            <a:pPr marL="360680" marR="0" lvl="1" indent="-36068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  <a:p>
            <a:pPr marL="360680" marR="0" lvl="1" indent="-36068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  <a:p>
            <a:pPr marL="360680" marR="0" lvl="1" indent="-36068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	</a:t>
            </a:r>
          </a:p>
          <a:p>
            <a:pPr marL="360680" marR="0" lvl="1" indent="-36068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	</a:t>
            </a:r>
          </a:p>
          <a:p>
            <a:pPr marL="360680" marR="0" lvl="1" indent="-36068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	</a:t>
            </a:r>
          </a:p>
          <a:p>
            <a:pPr marL="360680" marR="0" lvl="1" indent="-36068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  <a:p>
            <a:pPr marL="360680" marR="0" lvl="1" indent="-36068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  <a:p>
            <a:pPr marL="360680" marR="0" lvl="1" indent="-36068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  <a:p>
            <a:pPr marL="360680" marR="0" lvl="1" indent="-36068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  <a:p>
            <a:pPr marL="360680" marR="0" lvl="1" indent="-36068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	</a:t>
            </a:r>
            <a:endParaRPr kumimoji="0" lang="sv-SE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aphicFrame>
        <p:nvGraphicFramePr>
          <p:cNvPr id="37890" name="Object 3"/>
          <p:cNvGraphicFramePr>
            <a:graphicFrameLocks/>
          </p:cNvGraphicFramePr>
          <p:nvPr/>
        </p:nvGraphicFramePr>
        <p:xfrm>
          <a:off x="1219200" y="4343400"/>
          <a:ext cx="1860550" cy="1254125"/>
        </p:xfrm>
        <a:graphic>
          <a:graphicData uri="http://schemas.openxmlformats.org/presentationml/2006/ole">
            <p:oleObj spid="_x0000_s81923" r:id="rId4" imgW="1053643" imgH="710891" progId="Equation.3">
              <p:embed/>
            </p:oleObj>
          </a:graphicData>
        </a:graphic>
      </p:graphicFrame>
      <p:pic>
        <p:nvPicPr>
          <p:cNvPr id="37902" name="Picture 4"/>
          <p:cNvPicPr>
            <a:picLocks noChangeAspect="1"/>
          </p:cNvPicPr>
          <p:nvPr/>
        </p:nvPicPr>
        <p:blipFill>
          <a:blip r:embed="rId5" cstate="print"/>
          <a:srcRect l="24374" t="38542" r="41875" b="45833"/>
          <a:stretch>
            <a:fillRect/>
          </a:stretch>
        </p:blipFill>
        <p:spPr>
          <a:xfrm>
            <a:off x="1143000" y="2209800"/>
            <a:ext cx="6308725" cy="17526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37891" name="Object 3"/>
          <p:cNvGraphicFramePr>
            <a:graphicFrameLocks/>
          </p:cNvGraphicFramePr>
          <p:nvPr/>
        </p:nvGraphicFramePr>
        <p:xfrm>
          <a:off x="4419600" y="4343400"/>
          <a:ext cx="1277938" cy="1254125"/>
        </p:xfrm>
        <a:graphic>
          <a:graphicData uri="http://schemas.openxmlformats.org/presentationml/2006/ole">
            <p:oleObj spid="_x0000_s81922" r:id="rId6" imgW="723586" imgH="710891" progId="Equation.3">
              <p:embed/>
            </p:oleObj>
          </a:graphicData>
        </a:graphic>
      </p:graphicFrame>
      <p:graphicFrame>
        <p:nvGraphicFramePr>
          <p:cNvPr id="37892" name="Object 4"/>
          <p:cNvGraphicFramePr>
            <a:graphicFrameLocks/>
          </p:cNvGraphicFramePr>
          <p:nvPr/>
        </p:nvGraphicFramePr>
        <p:xfrm>
          <a:off x="6711950" y="4343400"/>
          <a:ext cx="2062163" cy="1254125"/>
        </p:xfrm>
        <a:graphic>
          <a:graphicData uri="http://schemas.openxmlformats.org/presentationml/2006/ole">
            <p:oleObj spid="_x0000_s81921" r:id="rId7" imgW="1167893" imgH="710891" progId="Equation.3">
              <p:embed/>
            </p:oleObj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INVERS MATRIX</a:t>
            </a: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8163" y="-4445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35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3" name="Rectangle 11"/>
          <p:cNvSpPr/>
          <p:nvPr/>
        </p:nvSpPr>
        <p:spPr>
          <a:xfrm>
            <a:off x="762000" y="1447800"/>
            <a:ext cx="8077200" cy="3416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400" dirty="0">
                <a:latin typeface="Palatino Linotype" panose="02040502050505030304" pitchFamily="18" charset="0"/>
              </a:rPr>
              <a:t>Hasil Adjoinnya :</a:t>
            </a: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>
              <a:buFont typeface="Wingdings" panose="05000000000000000000" pitchFamily="2" charset="2"/>
              <a:buChar char="q"/>
            </a:pPr>
            <a:r>
              <a:rPr lang="id-ID" altLang="x-none" sz="2400" dirty="0">
                <a:latin typeface="Palatino Linotype" panose="02040502050505030304" pitchFamily="18" charset="0"/>
              </a:rPr>
              <a:t>Hasil akhir</a:t>
            </a:r>
          </a:p>
          <a:p>
            <a:pPr marL="360680" lvl="1" indent="-360680" algn="just" eaLnBrk="1" hangingPunct="1"/>
            <a:r>
              <a:rPr lang="id-ID" altLang="x-none" sz="2400" dirty="0">
                <a:latin typeface="Palatino Linotype" panose="02040502050505030304" pitchFamily="18" charset="0"/>
              </a:rPr>
              <a:t>	</a:t>
            </a:r>
          </a:p>
          <a:p>
            <a:pPr marL="360680" lvl="1" indent="-360680" algn="just" eaLnBrk="1" hangingPunct="1"/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/>
            <a:endParaRPr lang="id-ID" altLang="x-none" sz="2400" dirty="0">
              <a:latin typeface="Palatino Linotype" panose="02040502050505030304" pitchFamily="18" charset="0"/>
            </a:endParaRPr>
          </a:p>
          <a:p>
            <a:pPr marL="360680" lvl="1" indent="-360680" algn="just" eaLnBrk="1" hangingPunct="1"/>
            <a:endParaRPr lang="id-ID" altLang="x-none" sz="2400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38914" name="Object 2"/>
          <p:cNvGraphicFramePr>
            <a:graphicFrameLocks/>
          </p:cNvGraphicFramePr>
          <p:nvPr/>
        </p:nvGraphicFramePr>
        <p:xfrm>
          <a:off x="4664075" y="1655763"/>
          <a:ext cx="201613" cy="381000"/>
        </p:xfrm>
        <a:graphic>
          <a:graphicData uri="http://schemas.openxmlformats.org/presentationml/2006/ole">
            <p:oleObj spid="_x0000_s83971" r:id="rId4" imgW="114102" imgH="215526" progId="Equation.3">
              <p:embed/>
            </p:oleObj>
          </a:graphicData>
        </a:graphic>
      </p:graphicFrame>
      <p:graphicFrame>
        <p:nvGraphicFramePr>
          <p:cNvPr id="38915" name="Object 3"/>
          <p:cNvGraphicFramePr>
            <a:graphicFrameLocks/>
          </p:cNvGraphicFramePr>
          <p:nvPr/>
        </p:nvGraphicFramePr>
        <p:xfrm>
          <a:off x="1219200" y="3429000"/>
          <a:ext cx="5289550" cy="1254125"/>
        </p:xfrm>
        <a:graphic>
          <a:graphicData uri="http://schemas.openxmlformats.org/presentationml/2006/ole">
            <p:oleObj spid="_x0000_s83970" r:id="rId5" imgW="2995900" imgH="710891" progId="Equation.3">
              <p:embed/>
            </p:oleObj>
          </a:graphicData>
        </a:graphic>
      </p:graphicFrame>
      <p:graphicFrame>
        <p:nvGraphicFramePr>
          <p:cNvPr id="38916" name="Object 4"/>
          <p:cNvGraphicFramePr>
            <a:graphicFrameLocks/>
          </p:cNvGraphicFramePr>
          <p:nvPr/>
        </p:nvGraphicFramePr>
        <p:xfrm>
          <a:off x="3887788" y="1219200"/>
          <a:ext cx="2084387" cy="1254125"/>
        </p:xfrm>
        <a:graphic>
          <a:graphicData uri="http://schemas.openxmlformats.org/presentationml/2006/ole">
            <p:oleObj spid="_x0000_s83969" r:id="rId6" imgW="1180588" imgH="710891" progId="Equation.3">
              <p:embed/>
            </p:oleObj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3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AutoShape 3"/>
          <p:cNvSpPr>
            <a:spLocks noChangeArrowheads="1"/>
          </p:cNvSpPr>
          <p:nvPr/>
        </p:nvSpPr>
        <p:spPr bwMode="auto">
          <a:xfrm>
            <a:off x="49213" y="738188"/>
            <a:ext cx="6046788" cy="40481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d-ID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Bodoni MT Black" panose="02070A03080606020203" pitchFamily="18" charset="0"/>
                <a:ea typeface="+mn-ea"/>
                <a:cs typeface="+mn-cs"/>
              </a:rPr>
              <a:t>REFERENSI</a:t>
            </a:r>
          </a:p>
        </p:txBody>
      </p:sp>
      <p:sp>
        <p:nvSpPr>
          <p:cNvPr id="116740" name="AutoShape 4"/>
          <p:cNvSpPr>
            <a:spLocks noChangeArrowheads="1"/>
          </p:cNvSpPr>
          <p:nvPr/>
        </p:nvSpPr>
        <p:spPr bwMode="auto">
          <a:xfrm>
            <a:off x="80963" y="6145213"/>
            <a:ext cx="8966200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70000"/>
            </a:schemeClr>
          </a:solidFill>
          <a:ln w="12700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1" name="AutoShape 5"/>
          <p:cNvSpPr/>
          <p:nvPr/>
        </p:nvSpPr>
        <p:spPr>
          <a:xfrm flipH="1">
            <a:off x="762000" y="6210300"/>
            <a:ext cx="1322388" cy="471488"/>
          </a:xfrm>
          <a:prstGeom prst="parallelogram">
            <a:avLst>
              <a:gd name="adj" fmla="val 90867"/>
            </a:avLst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 flipH="1">
            <a:off x="774700" y="5997575"/>
            <a:ext cx="1312863" cy="479425"/>
          </a:xfrm>
          <a:prstGeom prst="parallelogram">
            <a:avLst>
              <a:gd name="adj" fmla="val 88719"/>
            </a:avLst>
          </a:prstGeom>
          <a:solidFill>
            <a:schemeClr val="accent1">
              <a:lumMod val="75000"/>
              <a:alpha val="85001"/>
            </a:schemeClr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292100" y="-44450"/>
            <a:ext cx="0" cy="6858000"/>
          </a:xfrm>
          <a:prstGeom prst="line">
            <a:avLst/>
          </a:prstGeom>
          <a:noFill/>
          <a:ln w="114300">
            <a:solidFill>
              <a:schemeClr val="accent1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 Extra Bold" panose="02060903040505020403" pitchFamily="18" charset="0"/>
              <a:ea typeface="+mn-ea"/>
              <a:cs typeface="+mn-cs"/>
            </a:endParaRPr>
          </a:p>
        </p:txBody>
      </p:sp>
      <p:sp>
        <p:nvSpPr>
          <p:cNvPr id="116744" name="Line 8"/>
          <p:cNvSpPr/>
          <p:nvPr/>
        </p:nvSpPr>
        <p:spPr>
          <a:xfrm>
            <a:off x="533400" y="0"/>
            <a:ext cx="0" cy="6858000"/>
          </a:xfrm>
          <a:prstGeom prst="line">
            <a:avLst/>
          </a:prstGeom>
          <a:ln w="1143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1219200" y="6019800"/>
            <a:ext cx="463550" cy="349250"/>
          </a:xfrm>
          <a:prstGeom prst="ellipse">
            <a:avLst/>
          </a:prstGeom>
          <a:gradFill rotWithShape="0">
            <a:gsLst>
              <a:gs pos="0">
                <a:srgbClr val="00FFFF"/>
              </a:gs>
              <a:gs pos="100000">
                <a:srgbClr val="00FFFF">
                  <a:gamma/>
                  <a:shade val="31765"/>
                  <a:invGamma/>
                </a:srgbClr>
              </a:gs>
            </a:gsLst>
            <a:lin ang="2700000" scaled="1"/>
          </a:gradFill>
          <a:ln w="12700" cap="sq">
            <a:noFill/>
            <a:round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>
              <a:buNone/>
            </a:pPr>
            <a:fld id="{9A0DB2DC-4C9A-4742-B13C-FB6460FD3503}" type="slidenum">
              <a:rPr lang="id-ID" altLang="x-none" sz="20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Staccato222 BT"/>
              </a:rPr>
              <a:pPr algn="ctr">
                <a:buNone/>
              </a:pPr>
              <a:t>36</a:t>
            </a:fld>
            <a:endParaRPr lang="id-ID" altLang="x-none" sz="2000" b="1" dirty="0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Staccato222 BT"/>
            </a:endParaRPr>
          </a:p>
        </p:txBody>
      </p:sp>
      <p:sp>
        <p:nvSpPr>
          <p:cNvPr id="116746" name="AutoShape 10"/>
          <p:cNvSpPr/>
          <p:nvPr/>
        </p:nvSpPr>
        <p:spPr>
          <a:xfrm rot="10800000">
            <a:off x="-938212" y="-609600"/>
            <a:ext cx="938212" cy="17526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id-ID" altLang="x-none" dirty="0">
              <a:latin typeface="Rockwell Extra Bold" panose="02060903040505020403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14400" y="1524000"/>
            <a:ext cx="6934200" cy="1938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indent="-457200" algn="just">
              <a:buFont typeface="Century Gothic" panose="020B0502020202020204" pitchFamily="34" charset="0"/>
              <a:buAutoNum type="arabicPeriod"/>
            </a:pPr>
            <a:r>
              <a:rPr sz="2400" dirty="0">
                <a:latin typeface="Plantagenet Cherokee" pitchFamily="18" charset="0"/>
              </a:rPr>
              <a:t>Discrete Mathematics and its Applications; Kenneth H. Rosen; McGraw Hill; sixth edition; 2007</a:t>
            </a:r>
            <a:endParaRPr lang="id-ID" altLang="x-none" sz="2400" dirty="0">
              <a:latin typeface="Plantagenet Cherokee" pitchFamily="18" charset="0"/>
            </a:endParaRPr>
          </a:p>
          <a:p>
            <a:pPr marL="457200" indent="-457200" algn="just">
              <a:buFont typeface="Century Gothic" panose="020B0502020202020204" pitchFamily="34" charset="0"/>
              <a:buAutoNum type="arabicPeriod"/>
            </a:pPr>
            <a:r>
              <a:rPr lang="id-ID" altLang="x-none" sz="2400" dirty="0">
                <a:latin typeface="Plantagenet Cherokee" pitchFamily="18" charset="0"/>
              </a:rPr>
              <a:t>http://p4tkmatematika.org/</a:t>
            </a:r>
          </a:p>
          <a:p>
            <a:pPr marL="457200" indent="-457200" algn="just">
              <a:buFont typeface="Century Gothic" panose="020B0502020202020204" pitchFamily="34" charset="0"/>
              <a:buAutoNum type="arabicPeriod"/>
            </a:pPr>
            <a:r>
              <a:rPr lang="id-ID" altLang="x-none" sz="2400" dirty="0">
                <a:latin typeface="Plantagenet Cherokee" pitchFamily="18" charset="0"/>
              </a:rPr>
              <a:t>http://www.idomaths.com/id/matriks.php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6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4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6121 L 1.05122 0.06121 " pathEditMode="fixed" rAng="0" ptsTypes="AA">
                                      <p:cBhvr>
                                        <p:cTn id="36" dur="8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3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5" grpId="0" animBg="1"/>
      <p:bldP spid="116746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>
              <a:buNone/>
            </a:pPr>
            <a:endParaRPr dirty="0"/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dirty="0">
                <a:latin typeface="Blackadder ITC" panose="04020505051007020D02" pitchFamily="82" charset="0"/>
              </a:rPr>
              <a:t>Hatur Nuhun</a:t>
            </a:r>
          </a:p>
          <a:p>
            <a:r>
              <a:rPr dirty="0">
                <a:latin typeface="Blackadder ITC" panose="04020505051007020D02" pitchFamily="82" charset="0"/>
              </a:rPr>
              <a:t>Wilujeng Tepang di minggon payun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966</Words>
  <Application>Microsoft Office PowerPoint</Application>
  <PresentationFormat>On-screen Show (4:3)</PresentationFormat>
  <Paragraphs>350</Paragraphs>
  <Slides>37</Slides>
  <Notes>35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9" baseType="lpstr">
      <vt:lpstr>Office Theme</vt:lpstr>
      <vt:lpstr>Microsoft Equation 3.0</vt:lpstr>
      <vt:lpstr>MATRIKS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Pertemuan ke-3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Ruktin Corp.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Model-View Controller Model view controller architecture (MVC)</dc:title>
  <dc:creator>Ruktin Handayani</dc:creator>
  <cp:lastModifiedBy>ASUS</cp:lastModifiedBy>
  <cp:revision>502</cp:revision>
  <dcterms:created xsi:type="dcterms:W3CDTF">2007-03-05T11:12:31Z</dcterms:created>
  <dcterms:modified xsi:type="dcterms:W3CDTF">2025-09-26T00:59:21Z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AED29B2BEC564E5ABCDA9876C49536BE_13</vt:lpwstr>
  </property>
  <property fmtid="{D5CDD505-2E9C-101B-9397-08002B2CF9AE}" pid="3" name="KSOProductBuildVer">
    <vt:lpwstr>1033-12.2.0.22549</vt:lpwstr>
  </property>
</Properties>
</file>