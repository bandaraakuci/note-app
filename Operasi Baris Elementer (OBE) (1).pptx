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14"/>
  </p:notesMasterIdLst>
  <p:sldIdLst>
    <p:sldId id="348" r:id="rId2"/>
    <p:sldId id="373" r:id="rId3"/>
    <p:sldId id="378" r:id="rId4"/>
    <p:sldId id="375" r:id="rId5"/>
    <p:sldId id="376" r:id="rId6"/>
    <p:sldId id="377" r:id="rId7"/>
    <p:sldId id="379" r:id="rId8"/>
    <p:sldId id="380" r:id="rId9"/>
    <p:sldId id="381" r:id="rId10"/>
    <p:sldId id="382" r:id="rId11"/>
    <p:sldId id="384" r:id="rId12"/>
    <p:sldId id="347" r:id="rId13"/>
  </p:sldIdLst>
  <p:sldSz cx="9144000" cy="6858000" type="screen4x3"/>
  <p:notesSz cx="6858000" cy="9144000"/>
  <p:defaultTextStyle>
    <a:defPPr>
      <a:defRPr lang="id-ID"/>
    </a:defPPr>
    <a:lvl1pPr marL="0" algn="l" defTabSz="9141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54" algn="l" defTabSz="9141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07" algn="l" defTabSz="9141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161" algn="l" defTabSz="9141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215" algn="l" defTabSz="9141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268" algn="l" defTabSz="9141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322" algn="l" defTabSz="9141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376" algn="l" defTabSz="9141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430" algn="l" defTabSz="9141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352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9" autoAdjust="0"/>
    <p:restoredTop sz="96442" autoAdjust="0"/>
  </p:normalViewPr>
  <p:slideViewPr>
    <p:cSldViewPr>
      <p:cViewPr>
        <p:scale>
          <a:sx n="70" d="100"/>
          <a:sy n="70" d="100"/>
        </p:scale>
        <p:origin x="-1416" y="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12972-45E0-4A02-9098-D0EBB0199C4B}" type="datetimeFigureOut">
              <a:rPr lang="id-ID" smtClean="0"/>
              <a:pPr/>
              <a:t>19/03/2024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19FB5-3E22-4347-9D47-E764C09E46CC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xmlns="" val="2308625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10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54" algn="l" defTabSz="91410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107" algn="l" defTabSz="91410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161" algn="l" defTabSz="91410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215" algn="l" defTabSz="91410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268" algn="l" defTabSz="91410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322" algn="l" defTabSz="91410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376" algn="l" defTabSz="91410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430" algn="l" defTabSz="91410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B4FD-92E0-4978-907F-923BCA868FE5}" type="datetimeFigureOut">
              <a:rPr lang="id-ID" smtClean="0"/>
              <a:pPr/>
              <a:t>19/03/2024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1EAF9-DB67-464C-8987-984D7DE842F6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62207" y="5038229"/>
            <a:ext cx="1828800" cy="183794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B4FD-92E0-4978-907F-923BCA868FE5}" type="datetimeFigureOut">
              <a:rPr lang="id-ID" smtClean="0"/>
              <a:pPr/>
              <a:t>19/03/2024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1EAF9-DB67-464C-8987-984D7DE842F6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0" y="-23408"/>
            <a:ext cx="8121080" cy="356065"/>
          </a:xfrm>
          <a:prstGeom prst="rect">
            <a:avLst/>
          </a:prstGeom>
        </p:spPr>
        <p:txBody>
          <a:bodyPr vert="horz" lIns="91411" tIns="45705" rIns="91411" bIns="45705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2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B4FD-92E0-4978-907F-923BCA868FE5}" type="datetimeFigureOut">
              <a:rPr lang="id-ID" smtClean="0"/>
              <a:pPr/>
              <a:t>19/03/2024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1EAF9-DB67-464C-8987-984D7DE842F6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B4FD-92E0-4978-907F-923BCA868FE5}" type="datetimeFigureOut">
              <a:rPr lang="id-ID" smtClean="0"/>
              <a:pPr/>
              <a:t>19/03/2024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1EAF9-DB67-464C-8987-984D7DE842F6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B4FD-92E0-4978-907F-923BCA868FE5}" type="datetimeFigureOut">
              <a:rPr lang="id-ID" smtClean="0"/>
              <a:pPr/>
              <a:t>19/03/2024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1EAF9-DB67-464C-8987-984D7DE842F6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B4FD-92E0-4978-907F-923BCA868FE5}" type="datetimeFigureOut">
              <a:rPr lang="id-ID" smtClean="0"/>
              <a:pPr/>
              <a:t>19/03/2024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1EAF9-DB67-464C-8987-984D7DE842F6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B4FD-92E0-4978-907F-923BCA868FE5}" type="datetimeFigureOut">
              <a:rPr lang="id-ID" smtClean="0"/>
              <a:pPr/>
              <a:t>19/03/2024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1EAF9-DB67-464C-8987-984D7DE842F6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B4FD-92E0-4978-907F-923BCA868FE5}" type="datetimeFigureOut">
              <a:rPr lang="id-ID" smtClean="0"/>
              <a:pPr/>
              <a:t>19/03/2024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1EAF9-DB67-464C-8987-984D7DE842F6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B4FD-92E0-4978-907F-923BCA868FE5}" type="datetimeFigureOut">
              <a:rPr lang="id-ID" smtClean="0"/>
              <a:pPr/>
              <a:t>19/03/2024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1EAF9-DB67-464C-8987-984D7DE842F6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B4FD-92E0-4978-907F-923BCA868FE5}" type="datetimeFigureOut">
              <a:rPr lang="id-ID" smtClean="0"/>
              <a:pPr/>
              <a:t>19/03/2024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1EAF9-DB67-464C-8987-984D7DE842F6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B4FD-92E0-4978-907F-923BCA868FE5}" type="datetimeFigureOut">
              <a:rPr lang="id-ID" smtClean="0"/>
              <a:pPr/>
              <a:t>19/03/2024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1EAF9-DB67-464C-8987-984D7DE842F6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5B4FD-92E0-4978-907F-923BCA868FE5}" type="datetimeFigureOut">
              <a:rPr lang="id-ID" smtClean="0"/>
              <a:pPr/>
              <a:t>19/03/2024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1EAF9-DB67-464C-8987-984D7DE842F6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ransition spd="slow">
    <p:fade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konsep-matematika.blogspot.com/2015/09/operasi-baris-elementer-obe-dan-penerapannya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err="1" smtClean="0"/>
              <a:t>Objective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Mahasiswa mampu menjelaskan Operasi Baris Elementer (OBE)</a:t>
            </a:r>
          </a:p>
          <a:p>
            <a:r>
              <a:rPr lang="id-ID" dirty="0" smtClean="0"/>
              <a:t>Mampu menyelesaikan </a:t>
            </a:r>
            <a:r>
              <a:rPr lang="id-ID" dirty="0" err="1" smtClean="0"/>
              <a:t>Invers</a:t>
            </a:r>
            <a:r>
              <a:rPr lang="id-ID" dirty="0" smtClean="0"/>
              <a:t> matriks menggunakan OBE</a:t>
            </a:r>
          </a:p>
          <a:p>
            <a:r>
              <a:rPr lang="id-ID" dirty="0" smtClean="0"/>
              <a:t>Mampu menyelesaikan </a:t>
            </a:r>
            <a:r>
              <a:rPr lang="id-ID" dirty="0" err="1" smtClean="0"/>
              <a:t>Invers</a:t>
            </a:r>
            <a:r>
              <a:rPr lang="id-ID" dirty="0" smtClean="0"/>
              <a:t> matriks menggunakan matriks </a:t>
            </a:r>
            <a:r>
              <a:rPr lang="id-ID" dirty="0" err="1" smtClean="0"/>
              <a:t>adjoint</a:t>
            </a:r>
            <a:endParaRPr lang="id-ID" dirty="0" smtClean="0"/>
          </a:p>
        </p:txBody>
      </p:sp>
    </p:spTree>
    <p:extLst>
      <p:ext uri="{BB962C8B-B14F-4D97-AF65-F5344CB8AC3E}">
        <p14:creationId xmlns:p14="http://schemas.microsoft.com/office/powerpoint/2010/main" xmlns="" val="2761692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Definisi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d-ID" dirty="0"/>
              <a:t> </a:t>
            </a:r>
            <a:r>
              <a:rPr lang="id-ID" b="1" dirty="0" smtClean="0">
                <a:hlinkClick r:id="rId2"/>
              </a:rPr>
              <a:t>Operasi </a:t>
            </a:r>
            <a:r>
              <a:rPr lang="id-ID" b="1" dirty="0">
                <a:hlinkClick r:id="rId2"/>
              </a:rPr>
              <a:t>Baris Elementer (OBE)</a:t>
            </a:r>
            <a:r>
              <a:rPr lang="id-ID" dirty="0"/>
              <a:t> merupakan </a:t>
            </a:r>
            <a:r>
              <a:rPr lang="id-ID" dirty="0" err="1"/>
              <a:t>suatu</a:t>
            </a:r>
            <a:r>
              <a:rPr lang="id-ID" dirty="0"/>
              <a:t> operasi yang diterapkan pada baris </a:t>
            </a:r>
            <a:r>
              <a:rPr lang="id-ID" dirty="0" err="1"/>
              <a:t>suatu</a:t>
            </a:r>
            <a:r>
              <a:rPr lang="id-ID" dirty="0"/>
              <a:t> matriks. </a:t>
            </a:r>
            <a:endParaRPr lang="id-ID" dirty="0" smtClean="0"/>
          </a:p>
          <a:p>
            <a:r>
              <a:rPr lang="id-ID" dirty="0" smtClean="0"/>
              <a:t>OBE </a:t>
            </a:r>
            <a:r>
              <a:rPr lang="id-ID" dirty="0"/>
              <a:t>bisa digunakan untuk menentukan </a:t>
            </a:r>
            <a:r>
              <a:rPr lang="id-ID" dirty="0" err="1"/>
              <a:t>invers</a:t>
            </a:r>
            <a:r>
              <a:rPr lang="id-ID" dirty="0"/>
              <a:t> </a:t>
            </a:r>
            <a:r>
              <a:rPr lang="id-ID" dirty="0" err="1"/>
              <a:t>suatu</a:t>
            </a:r>
            <a:r>
              <a:rPr lang="id-ID" dirty="0"/>
              <a:t> matriks dan menyelesaikan </a:t>
            </a:r>
            <a:r>
              <a:rPr lang="id-ID" dirty="0" err="1"/>
              <a:t>suatu</a:t>
            </a:r>
            <a:r>
              <a:rPr lang="id-ID" dirty="0"/>
              <a:t> sistem persamaan linear (SPL). </a:t>
            </a:r>
          </a:p>
          <a:p>
            <a:r>
              <a:rPr lang="id-ID" dirty="0" smtClean="0"/>
              <a:t>OBE menjadi dasar penyelesaian matriks </a:t>
            </a:r>
            <a:r>
              <a:rPr lang="id-ID" dirty="0" err="1" smtClean="0"/>
              <a:t>menggunkan</a:t>
            </a:r>
            <a:r>
              <a:rPr lang="id-ID" dirty="0" smtClean="0"/>
              <a:t> teknik Eliminasi </a:t>
            </a:r>
            <a:r>
              <a:rPr lang="id-ID" dirty="0" err="1" smtClean="0"/>
              <a:t>Gauss</a:t>
            </a:r>
            <a:r>
              <a:rPr lang="id-ID" dirty="0" smtClean="0"/>
              <a:t> , </a:t>
            </a:r>
            <a:r>
              <a:rPr lang="id-ID" dirty="0" err="1" smtClean="0"/>
              <a:t>Gauss-Jordan</a:t>
            </a:r>
            <a:r>
              <a:rPr lang="id-ID" dirty="0" smtClean="0"/>
              <a:t>, </a:t>
            </a:r>
            <a:r>
              <a:rPr lang="id-ID" dirty="0" err="1" smtClean="0"/>
              <a:t>Gauss-Seidell</a:t>
            </a:r>
            <a:r>
              <a:rPr lang="id-ID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4226133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548680"/>
            <a:ext cx="8229600" cy="1066800"/>
          </a:xfrm>
        </p:spPr>
        <p:txBody>
          <a:bodyPr/>
          <a:lstStyle/>
          <a:p>
            <a:r>
              <a:rPr lang="id-ID" dirty="0" smtClean="0"/>
              <a:t>Cara OBE :</a:t>
            </a:r>
            <a:endParaRPr lang="id-ID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615480"/>
                <a:ext cx="8568952" cy="4325112"/>
              </a:xfrm>
            </p:spPr>
            <p:txBody>
              <a:bodyPr>
                <a:noAutofit/>
              </a:bodyPr>
              <a:lstStyle/>
              <a:p>
                <a:pPr marL="109693" indent="0">
                  <a:buNone/>
                </a:pPr>
                <a:r>
                  <a:rPr lang="id-ID" sz="2400" dirty="0" smtClean="0"/>
                  <a:t>Perhatikan matriks berordo </a:t>
                </a:r>
                <a:r>
                  <a:rPr lang="id-ID" sz="2400" dirty="0" err="1"/>
                  <a:t>m×n</a:t>
                </a:r>
                <a:r>
                  <a:rPr lang="id-ID" sz="2400" dirty="0"/>
                  <a:t> berikut </a:t>
                </a:r>
                <a:r>
                  <a:rPr lang="id-ID" sz="2400" dirty="0" smtClean="0"/>
                  <a:t>: A=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d-ID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..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..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𝐴𝑚</m:t>
                              </m:r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𝐴𝑚𝑛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d-ID" sz="2400" dirty="0"/>
              </a:p>
              <a:p>
                <a:pPr marL="109693" indent="0">
                  <a:buNone/>
                </a:pPr>
                <a:r>
                  <a:rPr lang="id-ID" sz="2400" dirty="0" smtClean="0"/>
                  <a:t>Pada </a:t>
                </a:r>
                <a:r>
                  <a:rPr lang="id-ID" sz="2400" dirty="0"/>
                  <a:t>matriks A kita dapat melakukan </a:t>
                </a:r>
                <a:r>
                  <a:rPr lang="id-ID" sz="2400" dirty="0" smtClean="0"/>
                  <a:t>operasi </a:t>
                </a:r>
                <a:r>
                  <a:rPr lang="id-ID" sz="2400" dirty="0"/>
                  <a:t>berikut :</a:t>
                </a:r>
              </a:p>
              <a:p>
                <a:pPr marL="109693" indent="0">
                  <a:buNone/>
                </a:pPr>
                <a:r>
                  <a:rPr lang="id-ID" sz="2400" dirty="0"/>
                  <a:t>         1). mengalikan </a:t>
                </a:r>
                <a:r>
                  <a:rPr lang="id-ID" sz="2400" dirty="0" err="1"/>
                  <a:t>suatu</a:t>
                </a:r>
                <a:r>
                  <a:rPr lang="id-ID" sz="2400" dirty="0"/>
                  <a:t> baris dengan bilangan tak nol,</a:t>
                </a:r>
              </a:p>
              <a:p>
                <a:pPr marL="109693" indent="0">
                  <a:buNone/>
                </a:pPr>
                <a:r>
                  <a:rPr lang="id-ID" sz="2400" dirty="0"/>
                  <a:t>         2). menambahkan kelipatan </a:t>
                </a:r>
                <a:r>
                  <a:rPr lang="id-ID" sz="2400" dirty="0" err="1"/>
                  <a:t>suatu</a:t>
                </a:r>
                <a:r>
                  <a:rPr lang="id-ID" sz="2400" dirty="0"/>
                  <a:t> baris pada baris lain,</a:t>
                </a:r>
              </a:p>
              <a:p>
                <a:pPr marL="109693" indent="0">
                  <a:buNone/>
                </a:pPr>
                <a:r>
                  <a:rPr lang="id-ID" sz="2400" dirty="0"/>
                  <a:t>         3). menukarkan sebarang dua buah baris,</a:t>
                </a:r>
              </a:p>
              <a:p>
                <a:r>
                  <a:rPr lang="id-ID" sz="2400" dirty="0" smtClean="0"/>
                  <a:t>Ketiga </a:t>
                </a:r>
                <a:r>
                  <a:rPr lang="id-ID" sz="2400" dirty="0"/>
                  <a:t>operasi OBE bisa digunakan atau hanya menggunakan salah satunya saja</a:t>
                </a:r>
                <a:r>
                  <a:rPr lang="id-ID" sz="2400" dirty="0" smtClean="0"/>
                  <a:t>.</a:t>
                </a:r>
              </a:p>
              <a:p>
                <a:r>
                  <a:rPr lang="id-ID" sz="2400" dirty="0" smtClean="0"/>
                  <a:t> </a:t>
                </a:r>
                <a:r>
                  <a:rPr lang="id-ID" sz="2400" dirty="0"/>
                  <a:t>Suatu matriks A′ yang diperoleh dari proses sejumlah hingga OBE pada matriks A, dikatakan ekuivalen dengan matriks A, yang dapat dinotasikan dengan A∼A′ .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615480"/>
                <a:ext cx="8568952" cy="4325112"/>
              </a:xfrm>
              <a:blipFill rotWithShape="0">
                <a:blip r:embed="rId2" cstate="print"/>
                <a:stretch>
                  <a:fillRect t="-1127" b="-17606"/>
                </a:stretch>
              </a:blipFill>
            </p:spPr>
            <p:txBody>
              <a:bodyPr/>
              <a:lstStyle/>
              <a:p>
                <a:r>
                  <a:rPr lang="id-ID" dirty="0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056543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404664"/>
            <a:ext cx="8596456" cy="60016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d-ID" sz="3200" b="1" dirty="0" err="1" smtClean="0">
                <a:latin typeface="Times New Roman" pitchFamily="18" charset="0"/>
                <a:cs typeface="Times New Roman" pitchFamily="18" charset="0"/>
              </a:rPr>
              <a:t>Invers</a:t>
            </a:r>
            <a:r>
              <a:rPr lang="id-ID" sz="3200" b="1" dirty="0" smtClean="0">
                <a:latin typeface="Times New Roman" pitchFamily="18" charset="0"/>
                <a:cs typeface="Times New Roman" pitchFamily="18" charset="0"/>
              </a:rPr>
              <a:t> menggunakan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Metode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3200" b="1" dirty="0" smtClean="0">
                <a:latin typeface="Times New Roman" pitchFamily="18" charset="0"/>
                <a:cs typeface="Times New Roman" pitchFamily="18" charset="0"/>
              </a:rPr>
              <a:t>OBE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b="1" dirty="0">
              <a:latin typeface="Times New Roman" pitchFamily="18" charset="0"/>
              <a:cs typeface="Times New Roman" pitchFamily="18" charset="0"/>
            </a:endParaRPr>
          </a:p>
          <a:p>
            <a:pPr marL="57943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menentukan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balikan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(invers)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matriks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marL="57943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yang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dapat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dibalik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menggunakan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metode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57943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Operasi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Baris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Elementer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kita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harus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melakukan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57943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sejumlah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operasi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baris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elementer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mereduksi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57943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menjadi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matriks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identitas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melakukan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opersi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yang </a:t>
            </a:r>
          </a:p>
          <a:p>
            <a:pPr marL="57943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sama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terhadap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i="1" baseline="-14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memperoleh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08038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80803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Langkah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penyelesaian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808038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Gabungkan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matriks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identitas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sebelah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kanan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marL="10826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A | I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marL="808038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 marL="80803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Lakukan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operasi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baris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elementer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sehingga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A | I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marL="108267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menjadi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[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]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55168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228600" y="496521"/>
            <a:ext cx="78418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hangingPunct="0"/>
            <a:r>
              <a:rPr lang="en-US" altLang="id-ID" sz="2400" b="1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Tentukan</a:t>
            </a:r>
            <a:r>
              <a:rPr lang="en-US" altLang="id-ID" sz="2400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altLang="id-ID" sz="2400" b="1" dirty="0" err="1" smtClean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Invers</a:t>
            </a:r>
            <a:r>
              <a:rPr lang="id-ID" altLang="id-ID" sz="2400" b="1" dirty="0" smtClean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id-ID" sz="2400" b="1" dirty="0" err="1" smtClean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US" altLang="id-ID" sz="2400" b="1" dirty="0" smtClean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id-ID" sz="2400" b="1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matriks</a:t>
            </a:r>
            <a:r>
              <a:rPr lang="en-US" altLang="id-ID" sz="2400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id-ID" sz="2400" b="1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berikut</a:t>
            </a:r>
            <a:r>
              <a:rPr lang="en-US" altLang="id-ID" sz="2400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id-ID" sz="2400" b="1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altLang="id-ID" sz="2400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id-ID" sz="2400" b="1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menggunakan</a:t>
            </a:r>
            <a:r>
              <a:rPr lang="en-US" altLang="id-ID" sz="2400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eaLnBrk="0" hangingPunct="0"/>
            <a:r>
              <a:rPr lang="en-US" altLang="id-ID" sz="2400" b="1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operasi</a:t>
            </a:r>
            <a:r>
              <a:rPr lang="en-US" altLang="id-ID" sz="2400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id-ID" sz="2400" b="1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baris</a:t>
            </a:r>
            <a:r>
              <a:rPr lang="en-US" altLang="id-ID" sz="2400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id-ID" sz="2400" b="1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elementer</a:t>
            </a:r>
            <a:r>
              <a:rPr lang="en-US" altLang="id-ID" sz="2400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altLang="id-ID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28600" y="2620963"/>
            <a:ext cx="1895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id-ID" sz="2400" b="1" dirty="0" err="1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Penyelesaian</a:t>
            </a:r>
            <a:endParaRPr lang="en-US" altLang="id-ID" sz="2400" b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4228272" y="4892823"/>
            <a:ext cx="11689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id-ID" sz="24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altLang="id-ID" sz="2400" b="1" baseline="-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altLang="id-ID" sz="24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id-ID" sz="24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–</a:t>
            </a:r>
            <a:r>
              <a:rPr lang="id-ID" altLang="id-ID" sz="24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4</a:t>
            </a:r>
            <a:r>
              <a:rPr lang="en-US" altLang="id-ID" sz="24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altLang="id-ID" sz="2400" b="1" baseline="-300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endParaRPr lang="en-US" altLang="id-ID" sz="24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7" name="Rectangle 1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id-ID" sz="110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altLang="id-ID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2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id-ID" altLang="id-ID"/>
          </a:p>
        </p:txBody>
      </p:sp>
      <p:sp>
        <p:nvSpPr>
          <p:cNvPr id="513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id-ID" altLang="id-ID"/>
          </a:p>
        </p:txBody>
      </p:sp>
      <p:sp>
        <p:nvSpPr>
          <p:cNvPr id="5131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id-ID" altLang="id-ID"/>
          </a:p>
        </p:txBody>
      </p:sp>
      <p:sp>
        <p:nvSpPr>
          <p:cNvPr id="5132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id-ID" altLang="id-ID"/>
          </a:p>
        </p:txBody>
      </p:sp>
      <p:sp>
        <p:nvSpPr>
          <p:cNvPr id="24" name="Rectangle 12"/>
          <p:cNvSpPr>
            <a:spLocks noChangeArrowheads="1"/>
          </p:cNvSpPr>
          <p:nvPr/>
        </p:nvSpPr>
        <p:spPr bwMode="auto">
          <a:xfrm>
            <a:off x="4021931" y="3013223"/>
            <a:ext cx="10999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id-ID" sz="24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1/</a:t>
            </a:r>
            <a:r>
              <a:rPr lang="id-ID" altLang="id-ID" sz="24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altLang="id-ID" sz="24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id-ID" sz="24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altLang="id-ID" sz="2400" b="1" baseline="-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altLang="id-ID" sz="24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endParaRPr lang="en-US" altLang="id-ID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134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id-ID" altLang="id-ID"/>
          </a:p>
        </p:txBody>
      </p:sp>
      <p:sp>
        <p:nvSpPr>
          <p:cNvPr id="5136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id-ID" altLang="id-ID"/>
          </a:p>
        </p:txBody>
      </p:sp>
      <p:sp>
        <p:nvSpPr>
          <p:cNvPr id="5138" name="Rectangle 1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id-ID" altLang="id-ID"/>
          </a:p>
        </p:txBody>
      </p:sp>
      <p:sp>
        <p:nvSpPr>
          <p:cNvPr id="5140" name="Rectangle 17"/>
          <p:cNvSpPr>
            <a:spLocks noChangeArrowheads="1"/>
          </p:cNvSpPr>
          <p:nvPr/>
        </p:nvSpPr>
        <p:spPr bwMode="auto">
          <a:xfrm>
            <a:off x="0" y="1619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id-ID" altLang="id-ID">
              <a:latin typeface="Arial" panose="020B0604020202020204" pitchFamily="34" charset="0"/>
            </a:endParaRPr>
          </a:p>
        </p:txBody>
      </p:sp>
      <p:sp>
        <p:nvSpPr>
          <p:cNvPr id="32" name="Rectangle 9"/>
          <p:cNvSpPr>
            <a:spLocks noChangeArrowheads="1"/>
          </p:cNvSpPr>
          <p:nvPr/>
        </p:nvSpPr>
        <p:spPr bwMode="auto">
          <a:xfrm>
            <a:off x="4261243" y="5325417"/>
            <a:ext cx="10021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hangingPunct="0"/>
            <a:r>
              <a:rPr lang="en-US" altLang="id-ID" sz="24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altLang="id-ID" sz="2400" b="1" baseline="-30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lang="en-US" altLang="id-ID" sz="24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id-ID" sz="24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–R</a:t>
            </a:r>
            <a:r>
              <a:rPr lang="en-US" altLang="id-ID" sz="2400" b="1" baseline="-300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endParaRPr lang="en-US" altLang="id-ID" sz="24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TextBox 1"/>
              <p:cNvSpPr txBox="1"/>
              <p:nvPr/>
            </p:nvSpPr>
            <p:spPr>
              <a:xfrm>
                <a:off x="228600" y="1395722"/>
                <a:ext cx="2430024" cy="12289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800" dirty="0" smtClean="0"/>
                  <a:t>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d-ID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d-ID" sz="28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395722"/>
                <a:ext cx="2430024" cy="1228926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5276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2" name="TextBox 21"/>
              <p:cNvSpPr txBox="1"/>
              <p:nvPr/>
            </p:nvSpPr>
            <p:spPr>
              <a:xfrm>
                <a:off x="228600" y="3032434"/>
                <a:ext cx="3928191" cy="12317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800" dirty="0" smtClean="0"/>
                  <a:t>A 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d-ID" sz="2800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032434"/>
                <a:ext cx="3928191" cy="1231747"/>
              </a:xfrm>
              <a:prstGeom prst="rect">
                <a:avLst/>
              </a:prstGeom>
              <a:blipFill rotWithShape="0">
                <a:blip r:embed="rId3" cstate="print"/>
                <a:stretch>
                  <a:fillRect l="-326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3" name="TextBox 22"/>
              <p:cNvSpPr txBox="1"/>
              <p:nvPr/>
            </p:nvSpPr>
            <p:spPr>
              <a:xfrm>
                <a:off x="279032" y="4259417"/>
                <a:ext cx="3915816" cy="14810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800" dirty="0"/>
                  <a:t> </a:t>
                </a:r>
                <a:r>
                  <a:rPr lang="id-ID" sz="2800" dirty="0" smtClean="0"/>
                  <a:t>  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id-ID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id-ID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id-ID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id-ID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d-ID" sz="28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32" y="4259417"/>
                <a:ext cx="3915816" cy="1481046"/>
              </a:xfrm>
              <a:prstGeom prst="rect">
                <a:avLst/>
              </a:prstGeom>
              <a:blipFill rotWithShape="0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993895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081" grpId="0"/>
      <p:bldP spid="24" grpId="0"/>
      <p:bldP spid="32" grpId="0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3"/>
          <p:cNvSpPr>
            <a:spLocks noChangeArrowheads="1"/>
          </p:cNvSpPr>
          <p:nvPr/>
        </p:nvSpPr>
        <p:spPr bwMode="auto">
          <a:xfrm>
            <a:off x="0" y="1619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id-ID" altLang="id-ID">
              <a:latin typeface="Arial" panose="020B0604020202020204" pitchFamily="34" charset="0"/>
            </a:endParaRPr>
          </a:p>
        </p:txBody>
      </p:sp>
      <p:sp>
        <p:nvSpPr>
          <p:cNvPr id="6151" name="Rectangle 6"/>
          <p:cNvSpPr>
            <a:spLocks noChangeArrowheads="1"/>
          </p:cNvSpPr>
          <p:nvPr/>
        </p:nvSpPr>
        <p:spPr bwMode="auto">
          <a:xfrm>
            <a:off x="0" y="1695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id-ID" altLang="id-ID">
              <a:latin typeface="Arial" panose="020B0604020202020204" pitchFamily="34" charset="0"/>
            </a:endParaRPr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0" y="1619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id-ID" altLang="id-ID">
              <a:latin typeface="Arial" panose="020B0604020202020204" pitchFamily="34" charset="0"/>
            </a:endParaRPr>
          </a:p>
        </p:txBody>
      </p:sp>
      <p:sp>
        <p:nvSpPr>
          <p:cNvPr id="6156" name="Rectangle 12"/>
          <p:cNvSpPr>
            <a:spLocks noChangeArrowheads="1"/>
          </p:cNvSpPr>
          <p:nvPr/>
        </p:nvSpPr>
        <p:spPr bwMode="auto">
          <a:xfrm>
            <a:off x="0" y="1581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id-ID" altLang="id-ID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4" name="TextBox 13"/>
              <p:cNvSpPr txBox="1"/>
              <p:nvPr/>
            </p:nvSpPr>
            <p:spPr>
              <a:xfrm>
                <a:off x="-103222" y="453584"/>
                <a:ext cx="3652090" cy="1497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400" dirty="0" smtClean="0"/>
                  <a:t>   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id-ID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id-ID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id-ID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id-ID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d-ID" sz="24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222" y="453584"/>
                <a:ext cx="3652090" cy="1497269"/>
              </a:xfrm>
              <a:prstGeom prst="rect">
                <a:avLst/>
              </a:prstGeom>
              <a:blipFill rotWithShape="0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6" name="Rectangle 9"/>
              <p:cNvSpPr>
                <a:spLocks noChangeArrowheads="1"/>
              </p:cNvSpPr>
              <p:nvPr/>
            </p:nvSpPr>
            <p:spPr bwMode="auto">
              <a:xfrm>
                <a:off x="3651112" y="423623"/>
                <a:ext cx="1541086" cy="6240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0" hangingPunct="0"/>
                <a:r>
                  <a:rPr lang="en-US" altLang="id-ID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id-ID" altLang="id-ID" sz="2400" b="1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id-ID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–</a:t>
                </a:r>
                <a:r>
                  <a:rPr lang="id-ID" altLang="id-ID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altLang="id-ID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d-ID" altLang="id-ID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id-ID" altLang="id-ID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id-ID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id-ID" altLang="id-ID" sz="2400" b="1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id-ID" sz="2400" b="1" baseline="-25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1112" y="423623"/>
                <a:ext cx="1541086" cy="624082"/>
              </a:xfrm>
              <a:prstGeom prst="rect">
                <a:avLst/>
              </a:prstGeom>
              <a:blipFill rotWithShape="0">
                <a:blip r:embed="rId3" cstate="print"/>
                <a:stretch>
                  <a:fillRect l="-6324" b="-77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7" name="TextBox 16"/>
              <p:cNvSpPr txBox="1"/>
              <p:nvPr/>
            </p:nvSpPr>
            <p:spPr>
              <a:xfrm>
                <a:off x="82967" y="2336547"/>
                <a:ext cx="4121769" cy="15032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400" dirty="0" smtClean="0"/>
                  <a:t>   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id-ID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id-ID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id-ID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id-ID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id-ID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id-ID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d-ID" sz="24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7" y="2336547"/>
                <a:ext cx="4121769" cy="1503297"/>
              </a:xfrm>
              <a:prstGeom prst="rect">
                <a:avLst/>
              </a:prstGeom>
              <a:blipFill rotWithShape="0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4120025" y="3301173"/>
            <a:ext cx="6511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hangingPunct="0"/>
            <a:r>
              <a:rPr lang="id-ID" altLang="id-ID" sz="24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altLang="id-ID" sz="24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id-ID" altLang="id-ID" sz="2400" b="1" baseline="-250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endParaRPr lang="en-US" altLang="id-ID" sz="2400" b="1" baseline="-250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0" name="Rectangle 9"/>
              <p:cNvSpPr>
                <a:spLocks noChangeArrowheads="1"/>
              </p:cNvSpPr>
              <p:nvPr/>
            </p:nvSpPr>
            <p:spPr bwMode="auto">
              <a:xfrm>
                <a:off x="3645035" y="1349611"/>
                <a:ext cx="1204176" cy="6240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0" hangingPunct="0"/>
                <a:r>
                  <a:rPr lang="en-US" altLang="id-ID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id-ID" altLang="id-ID" sz="2400" b="1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id-ID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–</a:t>
                </a:r>
                <a:r>
                  <a:rPr lang="id-ID" altLang="id-ID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altLang="id-ID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d-ID" altLang="id-ID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num>
                      <m:den>
                        <m:r>
                          <a:rPr lang="id-ID" altLang="id-ID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id-ID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id-ID" altLang="id-ID" sz="2400" b="1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id-ID" sz="2400" b="1" baseline="-25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45035" y="1349611"/>
                <a:ext cx="1204176" cy="624082"/>
              </a:xfrm>
              <a:prstGeom prst="rect">
                <a:avLst/>
              </a:prstGeom>
              <a:blipFill rotWithShape="0">
                <a:blip r:embed="rId5" cstate="print"/>
                <a:stretch>
                  <a:fillRect l="-8122" r="-3046" b="-77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1" name="TextBox 20"/>
              <p:cNvSpPr txBox="1"/>
              <p:nvPr/>
            </p:nvSpPr>
            <p:spPr>
              <a:xfrm>
                <a:off x="228651" y="5402117"/>
                <a:ext cx="4018472" cy="10689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400" dirty="0" smtClean="0"/>
                  <a:t>   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4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d-ID" sz="240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d-ID" sz="2400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51" y="5402117"/>
                <a:ext cx="4018472" cy="1068947"/>
              </a:xfrm>
              <a:prstGeom prst="rect">
                <a:avLst/>
              </a:prstGeom>
              <a:blipFill rotWithShape="0"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4" name="Rectangle 9"/>
              <p:cNvSpPr>
                <a:spLocks noChangeArrowheads="1"/>
              </p:cNvSpPr>
              <p:nvPr/>
            </p:nvSpPr>
            <p:spPr bwMode="auto">
              <a:xfrm>
                <a:off x="4204736" y="4016998"/>
                <a:ext cx="1279517" cy="6240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0" hangingPunct="0"/>
                <a:r>
                  <a:rPr lang="en-US" altLang="id-ID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id-ID" altLang="id-ID" sz="2400" b="1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id-ID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altLang="id-ID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altLang="id-ID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d-ID" altLang="id-ID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id-ID" altLang="id-ID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id-ID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id-ID" altLang="id-ID" sz="2400" b="1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3</a:t>
                </a:r>
                <a:endParaRPr lang="en-US" altLang="id-ID" sz="2400" b="1" baseline="-25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4736" y="4016998"/>
                <a:ext cx="1279517" cy="624082"/>
              </a:xfrm>
              <a:prstGeom prst="rect">
                <a:avLst/>
              </a:prstGeom>
              <a:blipFill rotWithShape="0">
                <a:blip r:embed="rId7" cstate="print"/>
                <a:stretch>
                  <a:fillRect l="-7619" r="-2381" b="-78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4204736" y="4818234"/>
            <a:ext cx="10198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hangingPunct="0"/>
            <a:r>
              <a:rPr lang="en-US" altLang="id-ID" sz="24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id-ID" altLang="id-ID" sz="2400" b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altLang="id-ID" sz="24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id-ID" altLang="id-ID" sz="24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id-ID" altLang="id-ID" sz="24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id-ID" sz="2400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id-ID" altLang="id-ID" sz="2400" b="1" baseline="-250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endParaRPr lang="en-US" altLang="id-ID" sz="2400" b="1" baseline="-250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6" name="TextBox 25"/>
              <p:cNvSpPr txBox="1"/>
              <p:nvPr/>
            </p:nvSpPr>
            <p:spPr>
              <a:xfrm>
                <a:off x="160043" y="4016998"/>
                <a:ext cx="4604808" cy="1283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 smtClean="0"/>
                  <a:t>   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id-ID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id-ID" sz="24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id-ID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id-ID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id-ID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d-ID" sz="2400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43" y="4016998"/>
                <a:ext cx="4604808" cy="1283493"/>
              </a:xfrm>
              <a:prstGeom prst="rect">
                <a:avLst/>
              </a:prstGeom>
              <a:blipFill rotWithShape="0">
                <a:blip r:embed="rId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7" name="TextBox 26"/>
              <p:cNvSpPr txBox="1"/>
              <p:nvPr/>
            </p:nvSpPr>
            <p:spPr>
              <a:xfrm>
                <a:off x="4789231" y="5449190"/>
                <a:ext cx="3671202" cy="10689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 smtClean="0"/>
                  <a:t>Jadi A</a:t>
                </a:r>
                <a:r>
                  <a:rPr lang="id-ID" sz="2400" baseline="30000" dirty="0" smtClean="0"/>
                  <a:t>-1</a:t>
                </a:r>
                <a:r>
                  <a:rPr lang="id-ID" sz="2400" dirty="0" smtClean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d-ID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d-ID" sz="2400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231" y="5449190"/>
                <a:ext cx="3671202" cy="1068947"/>
              </a:xfrm>
              <a:prstGeom prst="rect">
                <a:avLst/>
              </a:prstGeom>
              <a:blipFill rotWithShape="0">
                <a:blip r:embed="rId9" cstate="print"/>
                <a:stretch>
                  <a:fillRect l="-2658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684571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19" grpId="0"/>
      <p:bldP spid="20" grpId="0" animBg="1"/>
      <p:bldP spid="21" grpId="0" animBg="1"/>
      <p:bldP spid="24" grpId="0" animBg="1"/>
      <p:bldP spid="25" grpId="0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Latihan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693" indent="0">
              <a:buNone/>
            </a:pPr>
            <a:r>
              <a:rPr lang="id-ID" dirty="0" smtClean="0"/>
              <a:t>Cari </a:t>
            </a:r>
            <a:r>
              <a:rPr lang="id-ID" dirty="0" err="1" smtClean="0"/>
              <a:t>Invers</a:t>
            </a:r>
            <a:r>
              <a:rPr lang="id-ID" dirty="0" smtClean="0"/>
              <a:t> untuk Matriks menggunakan OBE (Operasi Baris Elementer)</a:t>
            </a:r>
          </a:p>
          <a:p>
            <a:pPr marL="109693" indent="0">
              <a:buNone/>
            </a:pPr>
            <a:r>
              <a:rPr lang="id-ID" dirty="0" smtClean="0"/>
              <a:t> </a:t>
            </a:r>
            <a:endParaRPr lang="id-ID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/>
              <p:cNvSpPr txBox="1"/>
              <p:nvPr/>
            </p:nvSpPr>
            <p:spPr>
              <a:xfrm>
                <a:off x="900798" y="3212976"/>
                <a:ext cx="3671202" cy="10689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 smtClean="0"/>
                  <a:t>A</a:t>
                </a:r>
                <a:r>
                  <a:rPr lang="id-ID" sz="2400" baseline="30000" dirty="0"/>
                  <a:t> </a:t>
                </a:r>
                <a:r>
                  <a:rPr lang="id-ID" sz="2400" dirty="0" smtClean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d-ID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d-ID" sz="24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798" y="3212976"/>
                <a:ext cx="3671202" cy="1068947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2658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390102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671" y="620688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id-ID" dirty="0" err="1" smtClean="0"/>
              <a:t>Invers</a:t>
            </a:r>
            <a:r>
              <a:rPr lang="id-ID" dirty="0" smtClean="0"/>
              <a:t> menggunakan matriks </a:t>
            </a:r>
            <a:r>
              <a:rPr lang="id-ID" dirty="0" err="1" smtClean="0"/>
              <a:t>adjoint</a:t>
            </a:r>
            <a:endParaRPr lang="id-ID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711050"/>
                <a:ext cx="8229600" cy="4325112"/>
              </a:xfrm>
            </p:spPr>
            <p:txBody>
              <a:bodyPr>
                <a:normAutofit fontScale="77500" lnSpcReduction="20000"/>
              </a:bodyPr>
              <a:lstStyle/>
              <a:p>
                <a:pPr marL="109693" indent="0">
                  <a:buNone/>
                </a:pPr>
                <a:r>
                  <a:rPr lang="id-ID" dirty="0" smtClean="0"/>
                  <a:t>Cara lain untuk mencari </a:t>
                </a:r>
                <a:r>
                  <a:rPr lang="id-ID" dirty="0" err="1" smtClean="0"/>
                  <a:t>invers</a:t>
                </a:r>
                <a:r>
                  <a:rPr lang="id-ID" dirty="0" smtClean="0"/>
                  <a:t> adalah menggunakan </a:t>
                </a:r>
                <a:r>
                  <a:rPr lang="id-ID" dirty="0" err="1" smtClean="0"/>
                  <a:t>adjoint</a:t>
                </a:r>
                <a:r>
                  <a:rPr lang="id-ID" dirty="0" smtClean="0"/>
                  <a:t> matriks</a:t>
                </a:r>
              </a:p>
              <a:p>
                <a:pPr marL="109693" indent="0">
                  <a:buNone/>
                </a:pPr>
                <a:endParaRPr lang="id-ID" dirty="0"/>
              </a:p>
              <a:p>
                <a:pPr marL="109693" indent="0">
                  <a:buNone/>
                </a:pPr>
                <a:r>
                  <a:rPr lang="id-ID" dirty="0" smtClean="0"/>
                  <a:t>A</a:t>
                </a:r>
                <a:r>
                  <a:rPr lang="id-ID" baseline="30000" dirty="0" smtClean="0"/>
                  <a:t>1</a:t>
                </a:r>
                <a:r>
                  <a:rPr lang="id-ID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id-ID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id-ID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𝑎𝑑𝑗𝑜𝑖𝑛𝑡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id-ID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d-ID" dirty="0" smtClean="0"/>
              </a:p>
              <a:p>
                <a:pPr marL="109693" indent="0">
                  <a:buNone/>
                </a:pPr>
                <a:endParaRPr lang="id-ID" dirty="0" smtClean="0"/>
              </a:p>
              <a:p>
                <a:r>
                  <a:rPr lang="id-ID" dirty="0" err="1" smtClean="0"/>
                  <a:t>Adjoint</a:t>
                </a:r>
                <a:r>
                  <a:rPr lang="id-ID" dirty="0" smtClean="0"/>
                  <a:t> adalah : matriks </a:t>
                </a:r>
                <a:r>
                  <a:rPr lang="id-ID" dirty="0" err="1" smtClean="0"/>
                  <a:t>transpose</a:t>
                </a:r>
                <a:r>
                  <a:rPr lang="id-ID" dirty="0" smtClean="0"/>
                  <a:t> dari matriks </a:t>
                </a:r>
                <a:r>
                  <a:rPr lang="id-ID" dirty="0" err="1" smtClean="0"/>
                  <a:t>kofaktor</a:t>
                </a:r>
                <a:r>
                  <a:rPr lang="id-ID" dirty="0" smtClean="0"/>
                  <a:t> A  </a:t>
                </a:r>
              </a:p>
              <a:p>
                <a:r>
                  <a:rPr lang="id-ID" dirty="0" smtClean="0"/>
                  <a:t>Minor </a:t>
                </a:r>
                <a:r>
                  <a:rPr lang="id-ID" dirty="0" err="1" smtClean="0"/>
                  <a:t>suatu</a:t>
                </a:r>
                <a:r>
                  <a:rPr lang="id-ID" dirty="0" smtClean="0"/>
                  <a:t> </a:t>
                </a:r>
                <a:r>
                  <a:rPr lang="id-ID" dirty="0"/>
                  <a:t>matriks 𝐴 dilambangkan dengan 𝑀</a:t>
                </a:r>
                <a:r>
                  <a:rPr lang="id-ID" baseline="-25000" dirty="0"/>
                  <a:t>𝑖j</a:t>
                </a:r>
                <a:r>
                  <a:rPr lang="id-ID" dirty="0"/>
                  <a:t> adalah matriks bagian dari 𝐴 yang diperoleh </a:t>
                </a:r>
                <a:r>
                  <a:rPr lang="id-ID" dirty="0" smtClean="0"/>
                  <a:t>dari nilai determinan semua elemen yang tidak mengandung unsur elemen baris </a:t>
                </a:r>
                <a:r>
                  <a:rPr lang="id-ID" dirty="0"/>
                  <a:t>ke-𝑖 dan </a:t>
                </a:r>
                <a:r>
                  <a:rPr lang="id-ID" dirty="0" smtClean="0"/>
                  <a:t>tidak mengandung unsur elemen </a:t>
                </a:r>
                <a:r>
                  <a:rPr lang="id-ID" dirty="0"/>
                  <a:t>pada kolom ke-</a:t>
                </a:r>
                <a:r>
                  <a:rPr lang="id-ID" dirty="0" smtClean="0"/>
                  <a:t>𝑗.</a:t>
                </a:r>
              </a:p>
              <a:p>
                <a:r>
                  <a:rPr lang="id-ID" dirty="0" err="1" smtClean="0"/>
                  <a:t>Kofaktor</a:t>
                </a:r>
                <a:r>
                  <a:rPr lang="id-ID" dirty="0" smtClean="0"/>
                  <a:t> </a:t>
                </a:r>
                <a:r>
                  <a:rPr lang="id-ID" dirty="0" err="1" smtClean="0"/>
                  <a:t>C</a:t>
                </a:r>
                <a:r>
                  <a:rPr lang="id-ID" baseline="-25000" dirty="0" err="1" smtClean="0"/>
                  <a:t>ij</a:t>
                </a:r>
                <a:r>
                  <a:rPr lang="id-ID" dirty="0" smtClean="0"/>
                  <a:t> adalah Minor </a:t>
                </a:r>
                <a:r>
                  <a:rPr lang="id-ID" dirty="0" err="1" smtClean="0"/>
                  <a:t>M</a:t>
                </a:r>
                <a:r>
                  <a:rPr lang="id-ID" baseline="-25000" dirty="0" err="1"/>
                  <a:t>ij</a:t>
                </a:r>
                <a:r>
                  <a:rPr lang="id-ID" dirty="0" smtClean="0"/>
                  <a:t> dikalikan (-)</a:t>
                </a:r>
                <a:r>
                  <a:rPr lang="id-ID" baseline="30000" dirty="0" smtClean="0"/>
                  <a:t>i+j</a:t>
                </a:r>
              </a:p>
              <a:p>
                <a:r>
                  <a:rPr lang="id-ID" dirty="0" err="1"/>
                  <a:t>C</a:t>
                </a:r>
                <a:r>
                  <a:rPr lang="id-ID" baseline="-25000" dirty="0" err="1"/>
                  <a:t>ij</a:t>
                </a:r>
                <a:r>
                  <a:rPr lang="id-ID" dirty="0"/>
                  <a:t>=</a:t>
                </a:r>
                <a:r>
                  <a:rPr lang="id-ID" dirty="0" err="1"/>
                  <a:t>±M</a:t>
                </a:r>
                <a:r>
                  <a:rPr lang="id-ID" baseline="-25000" dirty="0" err="1"/>
                  <a:t>ij</a:t>
                </a:r>
                <a:r>
                  <a:rPr lang="id-ID" dirty="0"/>
                  <a:t> </a:t>
                </a:r>
                <a:r>
                  <a:rPr lang="id-ID" dirty="0" smtClean="0"/>
                  <a:t> , jika i+j  genap bernilai positif, jika i+j ganjil maka akan bernilai negatif</a:t>
                </a:r>
                <a:endParaRPr lang="id-ID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711050"/>
                <a:ext cx="8229600" cy="4325112"/>
              </a:xfrm>
              <a:blipFill rotWithShape="0">
                <a:blip r:embed="rId2" cstate="print"/>
                <a:stretch>
                  <a:fillRect t="-2539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747368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</a:t>
            </a:r>
            <a:endParaRPr lang="id-ID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57200" y="2624648"/>
            <a:ext cx="78418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hangingPunct="0"/>
            <a:r>
              <a:rPr lang="en-US" altLang="id-ID" sz="2400" b="1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Tentukan</a:t>
            </a:r>
            <a:r>
              <a:rPr lang="en-US" altLang="id-ID" sz="2400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altLang="id-ID" sz="2400" b="1" dirty="0" err="1" smtClean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Invers</a:t>
            </a:r>
            <a:r>
              <a:rPr lang="id-ID" altLang="id-ID" sz="2400" b="1" dirty="0" smtClean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id-ID" sz="2400" b="1" dirty="0" err="1" smtClean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US" altLang="id-ID" sz="2400" b="1" dirty="0" smtClean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id-ID" sz="2400" b="1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matriks</a:t>
            </a:r>
            <a:r>
              <a:rPr lang="en-US" altLang="id-ID" sz="2400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id-ID" sz="2400" b="1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berikut</a:t>
            </a:r>
            <a:r>
              <a:rPr lang="en-US" altLang="id-ID" sz="2400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id-ID" sz="2400" b="1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US" altLang="id-ID" sz="2400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id-ID" sz="2400" b="1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menggunakan</a:t>
            </a:r>
            <a:r>
              <a:rPr lang="en-US" altLang="id-ID" sz="2400" b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eaLnBrk="0" hangingPunct="0"/>
            <a:r>
              <a:rPr lang="id-ID" altLang="id-ID" sz="2400" b="1" dirty="0" smtClean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Matriks </a:t>
            </a:r>
            <a:r>
              <a:rPr lang="id-ID" altLang="id-ID" sz="2400" b="1" dirty="0" err="1" smtClean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adjoint</a:t>
            </a:r>
            <a:endParaRPr lang="en-US" altLang="id-ID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/>
              <p:cNvSpPr txBox="1"/>
              <p:nvPr/>
            </p:nvSpPr>
            <p:spPr>
              <a:xfrm>
                <a:off x="611560" y="3789040"/>
                <a:ext cx="2430024" cy="12289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800" dirty="0" smtClean="0"/>
                  <a:t>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d-ID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d-ID" sz="28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789040"/>
                <a:ext cx="2430024" cy="1228926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5013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736213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/>
              <p:cNvSpPr txBox="1"/>
              <p:nvPr/>
            </p:nvSpPr>
            <p:spPr>
              <a:xfrm>
                <a:off x="251520" y="764704"/>
                <a:ext cx="2430024" cy="12289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800" dirty="0" smtClean="0"/>
                  <a:t>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d-ID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d-ID" sz="28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764704"/>
                <a:ext cx="2430024" cy="1228926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5013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TextBox 6"/>
              <p:cNvSpPr txBox="1"/>
              <p:nvPr/>
            </p:nvSpPr>
            <p:spPr>
              <a:xfrm>
                <a:off x="323528" y="2204864"/>
                <a:ext cx="2958695" cy="603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000" dirty="0" smtClean="0"/>
                  <a:t>C11 = +M11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d-ID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id-ID" sz="20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id-ID" sz="20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204864"/>
                <a:ext cx="2958695" cy="603499"/>
              </a:xfrm>
              <a:prstGeom prst="rect">
                <a:avLst/>
              </a:prstGeom>
              <a:blipFill rotWithShape="0">
                <a:blip r:embed="rId3" cstate="print"/>
                <a:stretch>
                  <a:fillRect l="-206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TextBox 7"/>
              <p:cNvSpPr txBox="1"/>
              <p:nvPr/>
            </p:nvSpPr>
            <p:spPr>
              <a:xfrm>
                <a:off x="323528" y="2770861"/>
                <a:ext cx="3146246" cy="603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000" dirty="0" smtClean="0"/>
                  <a:t>C12 = -M12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d-ID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id-ID" sz="20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id-ID" sz="2000" b="0" i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id-ID" sz="20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770861"/>
                <a:ext cx="3146246" cy="603499"/>
              </a:xfrm>
              <a:prstGeom prst="rect">
                <a:avLst/>
              </a:prstGeom>
              <a:blipFill rotWithShape="0">
                <a:blip r:embed="rId4" cstate="print"/>
                <a:stretch>
                  <a:fillRect l="-1938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9" name="TextBox 8"/>
              <p:cNvSpPr txBox="1"/>
              <p:nvPr/>
            </p:nvSpPr>
            <p:spPr>
              <a:xfrm>
                <a:off x="289783" y="3374360"/>
                <a:ext cx="3019609" cy="603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000" dirty="0" smtClean="0"/>
                  <a:t>C13 = +M13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d-ID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id-ID" sz="20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id-ID" sz="20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83" y="3374360"/>
                <a:ext cx="3019609" cy="603499"/>
              </a:xfrm>
              <a:prstGeom prst="rect">
                <a:avLst/>
              </a:prstGeom>
              <a:blipFill rotWithShape="0">
                <a:blip r:embed="rId5" cstate="print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0" name="TextBox 9"/>
              <p:cNvSpPr txBox="1"/>
              <p:nvPr/>
            </p:nvSpPr>
            <p:spPr>
              <a:xfrm>
                <a:off x="363776" y="4279608"/>
                <a:ext cx="3146246" cy="603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000" dirty="0" smtClean="0"/>
                  <a:t>C21 = -M21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d-ID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id-ID" sz="20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id-ID" sz="20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76" y="4279608"/>
                <a:ext cx="3146246" cy="603499"/>
              </a:xfrm>
              <a:prstGeom prst="rect">
                <a:avLst/>
              </a:prstGeom>
              <a:blipFill rotWithShape="0">
                <a:blip r:embed="rId6" cstate="print"/>
                <a:stretch>
                  <a:fillRect l="-213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1" name="TextBox 10"/>
              <p:cNvSpPr txBox="1"/>
              <p:nvPr/>
            </p:nvSpPr>
            <p:spPr>
              <a:xfrm>
                <a:off x="363776" y="4845605"/>
                <a:ext cx="3086935" cy="603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000" dirty="0" smtClean="0"/>
                  <a:t>C22 = +M22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d-ID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id-ID" sz="20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id-ID" sz="20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76" y="4845605"/>
                <a:ext cx="3086935" cy="603499"/>
              </a:xfrm>
              <a:prstGeom prst="rect">
                <a:avLst/>
              </a:prstGeom>
              <a:blipFill rotWithShape="0">
                <a:blip r:embed="rId7" cstate="print"/>
                <a:stretch>
                  <a:fillRect l="-2174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2" name="TextBox 11"/>
              <p:cNvSpPr txBox="1"/>
              <p:nvPr/>
            </p:nvSpPr>
            <p:spPr>
              <a:xfrm>
                <a:off x="330031" y="5449104"/>
                <a:ext cx="3207160" cy="603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000" dirty="0" smtClean="0"/>
                  <a:t>C23 = -M23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d-ID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id-ID" sz="2000" b="0" i="1" smtClean="0"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endParaRPr lang="id-ID" sz="20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31" y="5449104"/>
                <a:ext cx="3207160" cy="603499"/>
              </a:xfrm>
              <a:prstGeom prst="rect">
                <a:avLst/>
              </a:prstGeom>
              <a:blipFill rotWithShape="0">
                <a:blip r:embed="rId8" cstate="print"/>
                <a:stretch>
                  <a:fillRect l="-190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3" name="TextBox 12"/>
              <p:cNvSpPr txBox="1"/>
              <p:nvPr/>
            </p:nvSpPr>
            <p:spPr>
              <a:xfrm>
                <a:off x="3851920" y="620688"/>
                <a:ext cx="3019609" cy="605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000" dirty="0" smtClean="0"/>
                  <a:t>C31 = +M31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d-ID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id-ID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d-ID" sz="2000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id-ID" sz="20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620688"/>
                <a:ext cx="3019609" cy="605550"/>
              </a:xfrm>
              <a:prstGeom prst="rect">
                <a:avLst/>
              </a:prstGeom>
              <a:blipFill rotWithShape="0">
                <a:blip r:embed="rId9" cstate="print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4" name="TextBox 13"/>
              <p:cNvSpPr txBox="1"/>
              <p:nvPr/>
            </p:nvSpPr>
            <p:spPr>
              <a:xfrm>
                <a:off x="3851920" y="1186685"/>
                <a:ext cx="3207160" cy="603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000" dirty="0" smtClean="0"/>
                  <a:t>C32 = -M32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d-ID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id-ID" sz="20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id-ID" sz="20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1186685"/>
                <a:ext cx="3207160" cy="603499"/>
              </a:xfrm>
              <a:prstGeom prst="rect">
                <a:avLst/>
              </a:prstGeom>
              <a:blipFill rotWithShape="0">
                <a:blip r:embed="rId10" cstate="print"/>
                <a:stretch>
                  <a:fillRect l="-209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5" name="TextBox 14"/>
              <p:cNvSpPr txBox="1"/>
              <p:nvPr/>
            </p:nvSpPr>
            <p:spPr>
              <a:xfrm>
                <a:off x="3818175" y="1790184"/>
                <a:ext cx="3080523" cy="605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000" dirty="0" smtClean="0"/>
                  <a:t>C33 = +M33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d-ID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id-ID" sz="20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id-ID" sz="20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175" y="1790184"/>
                <a:ext cx="3080523" cy="605550"/>
              </a:xfrm>
              <a:prstGeom prst="rect">
                <a:avLst/>
              </a:prstGeom>
              <a:blipFill rotWithShape="0">
                <a:blip r:embed="rId11" cstate="print"/>
                <a:stretch>
                  <a:fillRect l="-1976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6" name="TextBox 15"/>
              <p:cNvSpPr txBox="1"/>
              <p:nvPr/>
            </p:nvSpPr>
            <p:spPr>
              <a:xfrm>
                <a:off x="3635896" y="2649113"/>
                <a:ext cx="5455917" cy="12119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000" dirty="0" smtClean="0"/>
                  <a:t>|</a:t>
                </a:r>
                <a:r>
                  <a:rPr lang="id-ID" sz="2000" dirty="0" err="1" smtClean="0"/>
                  <a:t>A|</a:t>
                </a:r>
                <a:r>
                  <a:rPr lang="id-ID" sz="2000" dirty="0" smtClean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id-ID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id-ID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id-ID" sz="2000" dirty="0" smtClean="0"/>
                  <a:t> = 0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d-ID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d-ID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id-ID" sz="2000" dirty="0" smtClean="0"/>
                  <a:t> - 1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d-ID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id-ID" sz="2000" b="0" i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m:rPr>
                        <m:nor/>
                      </m:rPr>
                      <a:rPr lang="id-ID" sz="2000" dirty="0"/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d-ID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d-ID" sz="2000" dirty="0" smtClean="0"/>
              </a:p>
              <a:p>
                <a:r>
                  <a:rPr lang="id-ID" sz="2000" dirty="0" smtClean="0"/>
                  <a:t>= -1(3) + 2(2) = 1</a:t>
                </a:r>
                <a:endParaRPr lang="id-ID" sz="2000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2649113"/>
                <a:ext cx="5455917" cy="1211935"/>
              </a:xfrm>
              <a:prstGeom prst="rect">
                <a:avLst/>
              </a:prstGeom>
              <a:blipFill rotWithShape="0">
                <a:blip r:embed="rId12" cstate="print"/>
                <a:stretch>
                  <a:fillRect l="-1117" b="-808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7" name="TextBox 16"/>
              <p:cNvSpPr txBox="1"/>
              <p:nvPr/>
            </p:nvSpPr>
            <p:spPr>
              <a:xfrm>
                <a:off x="3707904" y="3977859"/>
                <a:ext cx="4684359" cy="17466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2000" dirty="0" smtClean="0"/>
                  <a:t>A</a:t>
                </a:r>
                <a:r>
                  <a:rPr lang="id-ID" sz="2000" baseline="30000" dirty="0" smtClean="0"/>
                  <a:t>1</a:t>
                </a:r>
                <a:r>
                  <a:rPr lang="id-ID" sz="2000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d-ID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d-ID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id-ID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id-ID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id-ID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d-ID" sz="2000" b="0" i="1" smtClean="0">
                        <a:latin typeface="Cambria Math" panose="02040503050406030204" pitchFamily="18" charset="0"/>
                      </a:rPr>
                      <m:t>𝑎𝑑𝑗𝑜𝑖𝑛𝑡</m:t>
                    </m:r>
                    <m:r>
                      <a:rPr lang="id-ID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id-ID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id-ID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id-ID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d-ID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id-ID" sz="200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00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0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000" b="0" i="1" dirty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id-ID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000" b="0" i="1" dirty="0" smtClean="0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  <m:e>
                              <m:r>
                                <a:rPr lang="id-ID" sz="20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000" b="0" i="1" dirty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id-ID" sz="2000" b="0" i="1" dirty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id-ID" sz="2000" b="0" i="1" dirty="0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id-ID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d-ID" sz="2000" dirty="0" smtClean="0"/>
              </a:p>
              <a:p>
                <a:r>
                  <a:rPr lang="id-ID" sz="2000" dirty="0" smtClean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0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000" i="1" dirty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id-ID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000" i="1" dirty="0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  <m:e>
                              <m:r>
                                <a:rPr lang="id-ID" sz="20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000" i="1" dirty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id-ID" sz="2000" i="1" dirty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id-ID" sz="2000" i="1" dirty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id-ID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d-ID" sz="20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3977859"/>
                <a:ext cx="4684359" cy="1746632"/>
              </a:xfrm>
              <a:prstGeom prst="rect">
                <a:avLst/>
              </a:prstGeom>
              <a:blipFill rotWithShape="0">
                <a:blip r:embed="rId13" cstate="print"/>
                <a:stretch>
                  <a:fillRect l="-1300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761685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Latihan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693" indent="0">
              <a:buNone/>
            </a:pPr>
            <a:r>
              <a:rPr lang="id-ID" dirty="0" smtClean="0"/>
              <a:t>Cari </a:t>
            </a:r>
            <a:r>
              <a:rPr lang="id-ID" dirty="0" err="1" smtClean="0"/>
              <a:t>Invers</a:t>
            </a:r>
            <a:r>
              <a:rPr lang="id-ID" dirty="0" smtClean="0"/>
              <a:t> untuk Matriks menggunakan matriks </a:t>
            </a:r>
            <a:r>
              <a:rPr lang="id-ID" dirty="0" err="1" smtClean="0"/>
              <a:t>adjoint</a:t>
            </a:r>
            <a:r>
              <a:rPr lang="id-ID" dirty="0" smtClean="0"/>
              <a:t> A</a:t>
            </a:r>
          </a:p>
          <a:p>
            <a:pPr marL="109693" indent="0">
              <a:buNone/>
            </a:pPr>
            <a:r>
              <a:rPr lang="id-ID" dirty="0" smtClean="0"/>
              <a:t> </a:t>
            </a:r>
            <a:endParaRPr lang="id-ID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/>
              <p:cNvSpPr txBox="1"/>
              <p:nvPr/>
            </p:nvSpPr>
            <p:spPr>
              <a:xfrm>
                <a:off x="900798" y="3212976"/>
                <a:ext cx="3671202" cy="10689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 smtClean="0"/>
                  <a:t>A</a:t>
                </a:r>
                <a:r>
                  <a:rPr lang="id-ID" sz="2400" baseline="30000" dirty="0"/>
                  <a:t> </a:t>
                </a:r>
                <a:r>
                  <a:rPr lang="id-ID" sz="2400" dirty="0" smtClean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d-ID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id-ID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d-ID" sz="24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798" y="3212976"/>
                <a:ext cx="3671202" cy="1068947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2658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803146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buClr>
                <a:schemeClr val="tx2"/>
              </a:buClr>
            </a:pPr>
            <a:r>
              <a:rPr lang="en-US" sz="4000" dirty="0"/>
              <a:t>Chapter </a:t>
            </a:r>
            <a:r>
              <a:rPr lang="id-ID" sz="4000" dirty="0" smtClean="0"/>
              <a:t>8</a:t>
            </a:r>
            <a:endParaRPr lang="en-US" sz="4000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id-ID" sz="2800" b="1" dirty="0" smtClean="0"/>
              <a:t>Operasi Baris Elementer</a:t>
            </a:r>
            <a:endParaRPr lang="en-US" sz="2800" b="1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7558</TotalTime>
  <Words>180</Words>
  <Application>Microsoft Office PowerPoint</Application>
  <PresentationFormat>On-screen Show (4:3)</PresentationFormat>
  <Paragraphs>73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Objective</vt:lpstr>
      <vt:lpstr>Definisi</vt:lpstr>
      <vt:lpstr>Cara OBE :</vt:lpstr>
      <vt:lpstr>Slide 4</vt:lpstr>
      <vt:lpstr>Slide 5</vt:lpstr>
      <vt:lpstr>Slide 6</vt:lpstr>
      <vt:lpstr>Latihan</vt:lpstr>
      <vt:lpstr>Invers menggunakan matriks adjoint</vt:lpstr>
      <vt:lpstr>Contoh</vt:lpstr>
      <vt:lpstr>Slide 10</vt:lpstr>
      <vt:lpstr>Latihan</vt:lpstr>
      <vt:lpstr>Chapter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Pengantar Sistem Informasi</dc:title>
  <dc:creator>Marcello Singadji</dc:creator>
  <cp:lastModifiedBy>ASUS</cp:lastModifiedBy>
  <cp:revision>511</cp:revision>
  <dcterms:created xsi:type="dcterms:W3CDTF">2011-09-16T02:11:44Z</dcterms:created>
  <dcterms:modified xsi:type="dcterms:W3CDTF">2024-03-19T14:50:25Z</dcterms:modified>
</cp:coreProperties>
</file>