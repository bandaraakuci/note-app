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3" r:id="rId11"/>
    <p:sldId id="274" r:id="rId12"/>
    <p:sldId id="275" r:id="rId13"/>
    <p:sldId id="277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89E864-C5F5-4605-8065-52F2434EA101}" type="datetimeFigureOut">
              <a:rPr lang="en-US" smtClean="0"/>
              <a:pPr>
                <a:defRPr/>
              </a:pPr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F535BE-C34D-4AF4-BF1B-BCF0EC4542C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19A776-6824-4712-BFF7-88BE47CD9741}" type="datetimeFigureOut">
              <a:rPr lang="en-US" smtClean="0"/>
              <a:pPr>
                <a:defRPr/>
              </a:pPr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AF9A02-4E9B-427B-A6DC-D6B6790DF3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F759D5-8939-4D87-8611-F6F40867F7EE}" type="datetimeFigureOut">
              <a:rPr lang="en-US" smtClean="0"/>
              <a:pPr>
                <a:defRPr/>
              </a:pPr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B5F25D-B803-4585-BD53-9F6A8F36757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74C286-3545-4857-AAFB-A3A96BB373C9}" type="datetimeFigureOut">
              <a:rPr lang="en-US" smtClean="0"/>
              <a:pPr>
                <a:defRPr/>
              </a:pPr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EF6377-FCAE-4C57-8F7F-0C90D44C1B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D3FDE5-F425-447E-9272-A36C21A21E93}" type="datetimeFigureOut">
              <a:rPr lang="en-US" smtClean="0"/>
              <a:pPr>
                <a:defRPr/>
              </a:pPr>
              <a:t>5/22/2023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2C10B9-53DA-4298-B3F4-61DE2A1E8A1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06B86C-26D7-4508-AA9B-A16B521F4836}" type="datetimeFigureOut">
              <a:rPr lang="en-US" smtClean="0"/>
              <a:pPr>
                <a:defRPr/>
              </a:pPr>
              <a:t>5/22/2023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8E9DC8-C385-49D7-9A07-8FBBE2717F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4B02D6-6BAB-4402-99BA-451DCC28F928}" type="datetimeFigureOut">
              <a:rPr lang="en-US" smtClean="0"/>
              <a:pPr>
                <a:defRPr/>
              </a:pPr>
              <a:t>5/22/2023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235537-0D37-479B-91B2-6583A20F34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4D69C6-3512-4EFF-B3C1-861098EC4592}" type="datetimeFigureOut">
              <a:rPr lang="en-US" smtClean="0"/>
              <a:pPr>
                <a:defRPr/>
              </a:pPr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80252E-E31D-4843-B3E6-68530224636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345F80-0365-4ED2-B12A-E08936A85229}" type="datetimeFigureOut">
              <a:rPr lang="en-US" smtClean="0"/>
              <a:pPr>
                <a:defRPr/>
              </a:pPr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A9F095-DFB4-424C-8F4E-A7C6EE17CEE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421548-FE02-4C63-9160-30C440C720D9}" type="datetimeFigureOut">
              <a:rPr lang="en-US" smtClean="0"/>
              <a:pPr>
                <a:defRPr/>
              </a:pPr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4F960F-6CAD-4A46-86B3-BED87120444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85D7A8-FEEC-4ABB-B3D2-DD3837EA459B}" type="datetimeFigureOut">
              <a:rPr lang="en-US" smtClean="0"/>
              <a:pPr>
                <a:defRPr/>
              </a:pPr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DD12B7-158E-4959-9704-0DBA56401B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60EB4B1-95BE-47F3-9A10-C3A35686DABB}" type="datetimeFigureOut">
              <a:rPr lang="en-US" smtClean="0"/>
              <a:pPr>
                <a:defRPr/>
              </a:pPr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A125E6-D6A6-4F39-8A51-5EED4921F19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NILAI EIGEN DAN VEKTOR EIGEN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EIGEN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Eigen </a:t>
            </a:r>
            <a:r>
              <a:rPr lang="en-US" smtClean="0">
                <a:sym typeface="Wingdings" pitchFamily="2" charset="2"/>
              </a:rPr>
              <a:t> bahasa jerman</a:t>
            </a:r>
          </a:p>
          <a:p>
            <a:pPr eaLnBrk="1" hangingPunct="1"/>
            <a:r>
              <a:rPr lang="en-US" smtClean="0">
                <a:sym typeface="Wingdings" pitchFamily="2" charset="2"/>
              </a:rPr>
              <a:t>Eigen = asli = proper</a:t>
            </a:r>
          </a:p>
          <a:p>
            <a:pPr eaLnBrk="1" hangingPunct="1"/>
            <a:r>
              <a:rPr lang="en-US" smtClean="0">
                <a:sym typeface="Wingdings" pitchFamily="2" charset="2"/>
              </a:rPr>
              <a:t>Nilai eigen = nilai asli = proper value</a:t>
            </a:r>
          </a:p>
          <a:p>
            <a:pPr eaLnBrk="1" hangingPunct="1"/>
            <a:r>
              <a:rPr lang="en-US" smtClean="0">
                <a:sym typeface="Wingdings" pitchFamily="2" charset="2"/>
              </a:rPr>
              <a:t>Nilai eigen = nilai karakteristik</a:t>
            </a:r>
          </a:p>
          <a:p>
            <a:pPr eaLnBrk="1" hangingPunct="1"/>
            <a:r>
              <a:rPr lang="en-US" smtClean="0">
                <a:sym typeface="Wingdings" pitchFamily="2" charset="2"/>
              </a:rPr>
              <a:t>Nilai eigen = akar laten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DEFINISI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 smtClean="0"/>
              <a:t>Jika</a:t>
            </a:r>
            <a:r>
              <a:rPr lang="en-US" dirty="0" smtClean="0"/>
              <a:t> A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matriks</a:t>
            </a:r>
            <a:r>
              <a:rPr lang="en-US" dirty="0" smtClean="0"/>
              <a:t> </a:t>
            </a:r>
            <a:r>
              <a:rPr lang="en-US" b="1" dirty="0" smtClean="0"/>
              <a:t>n x n</a:t>
            </a:r>
            <a:r>
              <a:rPr lang="en-US" dirty="0" smtClean="0"/>
              <a:t>, </a:t>
            </a:r>
            <a:r>
              <a:rPr lang="en-US" dirty="0" err="1" smtClean="0"/>
              <a:t>maka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vektor</a:t>
            </a:r>
            <a:r>
              <a:rPr lang="en-US" dirty="0" smtClean="0"/>
              <a:t> yang </a:t>
            </a:r>
            <a:r>
              <a:rPr lang="en-US" dirty="0" err="1" smtClean="0"/>
              <a:t>tak</a:t>
            </a:r>
            <a:r>
              <a:rPr lang="en-US" dirty="0" smtClean="0"/>
              <a:t> </a:t>
            </a:r>
            <a:r>
              <a:rPr lang="en-US" dirty="0" err="1" smtClean="0"/>
              <a:t>nol</a:t>
            </a:r>
            <a:r>
              <a:rPr lang="en-US" dirty="0" smtClean="0"/>
              <a:t> x </a:t>
            </a:r>
            <a:r>
              <a:rPr lang="en-US" dirty="0" err="1" smtClean="0"/>
              <a:t>di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Rn</a:t>
            </a:r>
            <a:r>
              <a:rPr lang="en-US" dirty="0" smtClean="0"/>
              <a:t> </a:t>
            </a:r>
            <a:r>
              <a:rPr lang="en-US" dirty="0" err="1" smtClean="0"/>
              <a:t>dinamakan</a:t>
            </a:r>
            <a:r>
              <a:rPr lang="en-US" dirty="0" smtClean="0"/>
              <a:t> </a:t>
            </a:r>
            <a:r>
              <a:rPr lang="en-US" b="1" dirty="0" err="1" smtClean="0"/>
              <a:t>vektor</a:t>
            </a:r>
            <a:r>
              <a:rPr lang="en-US" b="1" dirty="0" smtClean="0"/>
              <a:t> </a:t>
            </a:r>
            <a:r>
              <a:rPr lang="en-US" b="1" dirty="0" err="1" smtClean="0"/>
              <a:t>eigen</a:t>
            </a:r>
            <a:r>
              <a:rPr lang="en-US" b="1" dirty="0" smtClean="0"/>
              <a:t> </a:t>
            </a:r>
            <a:r>
              <a:rPr lang="en-US" b="1" dirty="0" err="1" smtClean="0"/>
              <a:t>dari</a:t>
            </a:r>
            <a:r>
              <a:rPr lang="en-US" b="1" dirty="0" smtClean="0"/>
              <a:t> A</a:t>
            </a:r>
            <a:r>
              <a:rPr lang="en-US" dirty="0" smtClean="0"/>
              <a:t> </a:t>
            </a:r>
            <a:r>
              <a:rPr lang="en-US" dirty="0" err="1" smtClean="0"/>
              <a:t>jika</a:t>
            </a:r>
            <a:r>
              <a:rPr lang="en-US" dirty="0" smtClean="0"/>
              <a:t> Ax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kelipatan</a:t>
            </a:r>
            <a:r>
              <a:rPr lang="en-US" dirty="0" smtClean="0"/>
              <a:t> </a:t>
            </a:r>
            <a:r>
              <a:rPr lang="en-US" dirty="0" err="1" smtClean="0"/>
              <a:t>skalar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x, </a:t>
            </a:r>
            <a:r>
              <a:rPr lang="en-US" dirty="0" err="1" smtClean="0"/>
              <a:t>yaitu</a:t>
            </a:r>
            <a:r>
              <a:rPr lang="en-US" dirty="0" smtClean="0"/>
              <a:t>:</a:t>
            </a:r>
          </a:p>
          <a:p>
            <a:pPr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b="1" dirty="0" smtClean="0"/>
              <a:t>Ax = </a:t>
            </a:r>
            <a:r>
              <a:rPr lang="el-GR" b="1" dirty="0" smtClean="0"/>
              <a:t>λ</a:t>
            </a:r>
            <a:r>
              <a:rPr lang="en-US" b="1" dirty="0" smtClean="0"/>
              <a:t>x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	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skalar</a:t>
            </a:r>
            <a:r>
              <a:rPr lang="en-US" dirty="0" smtClean="0"/>
              <a:t> </a:t>
            </a:r>
            <a:r>
              <a:rPr lang="el-GR" dirty="0" smtClean="0"/>
              <a:t>λ</a:t>
            </a:r>
            <a:r>
              <a:rPr lang="en-US" dirty="0" smtClean="0"/>
              <a:t>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	</a:t>
            </a:r>
            <a:r>
              <a:rPr lang="en-US" dirty="0" err="1" smtClean="0"/>
              <a:t>Skalar</a:t>
            </a:r>
            <a:r>
              <a:rPr lang="en-US" dirty="0" smtClean="0"/>
              <a:t> </a:t>
            </a:r>
            <a:r>
              <a:rPr lang="el-GR" dirty="0" smtClean="0"/>
              <a:t>λ</a:t>
            </a:r>
            <a:r>
              <a:rPr lang="en-US" dirty="0" smtClean="0"/>
              <a:t> </a:t>
            </a:r>
            <a:r>
              <a:rPr lang="en-US" dirty="0" err="1" smtClean="0"/>
              <a:t>dinamakan</a:t>
            </a:r>
            <a:r>
              <a:rPr lang="en-US" dirty="0" smtClean="0"/>
              <a:t> </a:t>
            </a:r>
            <a:r>
              <a:rPr lang="en-US" b="1" dirty="0" err="1" smtClean="0"/>
              <a:t>nilai</a:t>
            </a:r>
            <a:r>
              <a:rPr lang="en-US" b="1" dirty="0" smtClean="0"/>
              <a:t> </a:t>
            </a:r>
            <a:r>
              <a:rPr lang="en-US" b="1" dirty="0" err="1" smtClean="0"/>
              <a:t>eigen</a:t>
            </a:r>
            <a:r>
              <a:rPr lang="en-US" b="1" dirty="0" smtClean="0"/>
              <a:t> </a:t>
            </a:r>
            <a:r>
              <a:rPr lang="en-US" b="1" dirty="0" err="1" smtClean="0"/>
              <a:t>dari</a:t>
            </a:r>
            <a:r>
              <a:rPr lang="en-US" b="1" dirty="0" smtClean="0"/>
              <a:t> A </a:t>
            </a:r>
            <a:r>
              <a:rPr lang="en-US" dirty="0" err="1" smtClean="0"/>
              <a:t>dan</a:t>
            </a:r>
            <a:r>
              <a:rPr lang="en-US" dirty="0" smtClean="0"/>
              <a:t> x </a:t>
            </a:r>
            <a:r>
              <a:rPr lang="en-US" dirty="0" err="1" smtClean="0"/>
              <a:t>dikatakan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b="1" dirty="0" err="1" smtClean="0"/>
              <a:t>vektor</a:t>
            </a:r>
            <a:r>
              <a:rPr lang="en-US" b="1" dirty="0" smtClean="0"/>
              <a:t> </a:t>
            </a:r>
            <a:r>
              <a:rPr lang="en-US" b="1" dirty="0" err="1" smtClean="0"/>
              <a:t>eigen</a:t>
            </a:r>
            <a:r>
              <a:rPr lang="en-US" b="1" dirty="0" smtClean="0"/>
              <a:t> </a:t>
            </a:r>
            <a:r>
              <a:rPr lang="en-US" dirty="0" smtClean="0"/>
              <a:t>yang </a:t>
            </a:r>
            <a:r>
              <a:rPr lang="en-US" dirty="0" err="1" smtClean="0"/>
              <a:t>bersesuaian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CONTOH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Vektor</a:t>
            </a:r>
            <a:r>
              <a:rPr lang="en-US" dirty="0" smtClean="0"/>
              <a:t>              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vektor</a:t>
            </a:r>
            <a:r>
              <a:rPr lang="en-US" dirty="0" smtClean="0"/>
              <a:t> </a:t>
            </a:r>
            <a:r>
              <a:rPr lang="en-US" dirty="0" err="1" smtClean="0"/>
              <a:t>eigen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matriks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>
              <a:buFont typeface="Arial" charset="0"/>
              <a:buNone/>
            </a:pPr>
            <a:r>
              <a:rPr lang="en-US" dirty="0" smtClean="0"/>
              <a:t>	yang </a:t>
            </a:r>
            <a:r>
              <a:rPr lang="en-US" dirty="0" err="1" smtClean="0"/>
              <a:t>bersesuaian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eigen</a:t>
            </a:r>
            <a:r>
              <a:rPr lang="en-US" dirty="0" smtClean="0"/>
              <a:t> </a:t>
            </a:r>
            <a:r>
              <a:rPr lang="el-GR" dirty="0" smtClean="0"/>
              <a:t>λ</a:t>
            </a:r>
            <a:r>
              <a:rPr lang="en-US" dirty="0" smtClean="0"/>
              <a:t> = 3, </a:t>
            </a:r>
            <a:r>
              <a:rPr lang="en-US" dirty="0" err="1" smtClean="0"/>
              <a:t>karena</a:t>
            </a:r>
            <a:endParaRPr lang="en-US" dirty="0" smtClean="0"/>
          </a:p>
        </p:txBody>
      </p:sp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024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33600" y="1554163"/>
            <a:ext cx="1066800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0247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90800" y="2514600"/>
            <a:ext cx="251142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0249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66800" y="5029200"/>
            <a:ext cx="630872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NILAI EIGEN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Diketahui bahwa                     &lt;=&gt;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Bentuk implisit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Difaktorkan</a:t>
            </a:r>
          </a:p>
        </p:txBody>
      </p:sp>
      <p:sp>
        <p:nvSpPr>
          <p:cNvPr id="1126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126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3800" y="1630363"/>
            <a:ext cx="1600200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127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86500" y="1447800"/>
            <a:ext cx="24765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sp>
        <p:nvSpPr>
          <p:cNvPr id="1127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sp>
        <p:nvSpPr>
          <p:cNvPr id="1127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sp>
        <p:nvSpPr>
          <p:cNvPr id="11275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1276" name="Picture 1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14800" y="3946525"/>
            <a:ext cx="3562350" cy="93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7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1278" name="Picture 1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91000" y="2743200"/>
            <a:ext cx="35052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9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1280" name="Picture 19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67200" y="5121275"/>
            <a:ext cx="3429000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NILAI EIGEN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Jika A adalah matriks</a:t>
            </a:r>
          </a:p>
          <a:p>
            <a:pPr eaLnBrk="1" hangingPunct="1">
              <a:buFont typeface="Arial" charset="0"/>
              <a:buNone/>
            </a:pPr>
            <a:r>
              <a:rPr lang="en-US" smtClean="0"/>
              <a:t>	maka: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  <a:p>
            <a:pPr eaLnBrk="1" hangingPunct="1">
              <a:buFont typeface="Arial" charset="0"/>
              <a:buNone/>
            </a:pPr>
            <a:endParaRPr lang="en-US" smtClean="0"/>
          </a:p>
          <a:p>
            <a:pPr eaLnBrk="1" hangingPunct="1">
              <a:buFont typeface="Arial" charset="0"/>
              <a:buNone/>
            </a:pPr>
            <a:endParaRPr lang="en-US" smtClean="0"/>
          </a:p>
          <a:p>
            <a:pPr eaLnBrk="1" hangingPunct="1">
              <a:buFont typeface="Arial" charset="0"/>
              <a:buNone/>
            </a:pPr>
            <a:r>
              <a:rPr lang="en-US" smtClean="0"/>
              <a:t>	sehingga</a:t>
            </a: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2293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76800" y="1524000"/>
            <a:ext cx="1752600" cy="79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sp>
        <p:nvSpPr>
          <p:cNvPr id="1229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667000" y="5791200"/>
            <a:ext cx="49069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latin typeface="Calibri" pitchFamily="34" charset="0"/>
              </a:rPr>
              <a:t>PERSAMAAN LINIER HOMOGEN</a:t>
            </a: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2299" name="Picture 9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95600" y="2590800"/>
            <a:ext cx="389413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2301" name="Picture 1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95600" y="4800600"/>
            <a:ext cx="4343400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2303" name="Picture 1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14800" y="3505200"/>
            <a:ext cx="22891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NILAI EIGEN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Menurut definisi, vektor eigen adalah vektor tak nol</a:t>
            </a:r>
          </a:p>
          <a:p>
            <a:pPr eaLnBrk="1" hangingPunct="1"/>
            <a:r>
              <a:rPr lang="en-US" smtClean="0"/>
              <a:t>Sehingga agar (x,y) memiliki solusi, maka </a:t>
            </a:r>
            <a:r>
              <a:rPr lang="en-US" b="1" smtClean="0"/>
              <a:t>det(</a:t>
            </a:r>
            <a:r>
              <a:rPr lang="el-GR" b="1" smtClean="0"/>
              <a:t>λ</a:t>
            </a:r>
            <a:r>
              <a:rPr lang="en-US" b="1" smtClean="0"/>
              <a:t>I-A) = 0    </a:t>
            </a:r>
            <a:r>
              <a:rPr lang="en-US" b="1" smtClean="0">
                <a:sym typeface="Wingdings" pitchFamily="2" charset="2"/>
              </a:rPr>
              <a:t> persamaan karakteristik</a:t>
            </a:r>
            <a:endParaRPr lang="en-US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CONTOH I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Carilah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eigen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>
              <a:buFont typeface="Arial" charset="0"/>
              <a:buNone/>
            </a:pPr>
            <a:r>
              <a:rPr lang="en-US" dirty="0" smtClean="0"/>
              <a:t>	</a:t>
            </a:r>
            <a:r>
              <a:rPr lang="en-US" b="1" dirty="0" err="1" smtClean="0"/>
              <a:t>Gunakan</a:t>
            </a:r>
            <a:r>
              <a:rPr lang="en-US" b="1" dirty="0" smtClean="0"/>
              <a:t> </a:t>
            </a:r>
            <a:r>
              <a:rPr lang="en-US" b="1" dirty="0" err="1" smtClean="0"/>
              <a:t>persamaan</a:t>
            </a:r>
            <a:r>
              <a:rPr lang="en-US" b="1" dirty="0" smtClean="0"/>
              <a:t> </a:t>
            </a:r>
            <a:r>
              <a:rPr lang="en-US" b="1" dirty="0" err="1" smtClean="0"/>
              <a:t>karakteristik</a:t>
            </a:r>
            <a:r>
              <a:rPr lang="en-US" b="1" dirty="0" smtClean="0"/>
              <a:t>!</a:t>
            </a:r>
            <a:endParaRPr lang="en-US" dirty="0" smtClean="0"/>
          </a:p>
        </p:txBody>
      </p:sp>
      <p:sp>
        <p:nvSpPr>
          <p:cNvPr id="1434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524000" y="2362200"/>
          <a:ext cx="2057400" cy="1157288"/>
        </p:xfrm>
        <a:graphic>
          <a:graphicData uri="http://schemas.openxmlformats.org/presentationml/2006/ole">
            <p:oleObj spid="_x0000_s1026" name="Equation" r:id="rId3" imgW="812520" imgH="45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Jawab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Nilai</a:t>
            </a:r>
            <a:r>
              <a:rPr lang="en-US" dirty="0" smtClean="0"/>
              <a:t> Eigen (     )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743200" y="1600200"/>
          <a:ext cx="831850" cy="546100"/>
        </p:xfrm>
        <a:graphic>
          <a:graphicData uri="http://schemas.openxmlformats.org/presentationml/2006/ole">
            <p:oleObj spid="_x0000_s2050" name="Equation" r:id="rId3" imgW="139680" imgH="177480" progId="Equation.3">
              <p:embed/>
            </p:oleObj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838201" y="2565400"/>
          <a:ext cx="5105399" cy="3652812"/>
        </p:xfrm>
        <a:graphic>
          <a:graphicData uri="http://schemas.openxmlformats.org/presentationml/2006/ole">
            <p:oleObj spid="_x0000_s2051" name="Equation" r:id="rId4" imgW="2425680" imgH="172692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      yang </a:t>
            </a:r>
            <a:r>
              <a:rPr lang="en-US" dirty="0" err="1" smtClean="0"/>
              <a:t>skalar</a:t>
            </a:r>
            <a:r>
              <a:rPr lang="en-US" dirty="0" smtClean="0"/>
              <a:t> </a:t>
            </a:r>
            <a:r>
              <a:rPr lang="en-US" dirty="0" err="1" smtClean="0"/>
              <a:t>berlaku</a:t>
            </a:r>
            <a:r>
              <a:rPr lang="en-US" dirty="0" smtClean="0"/>
              <a:t> 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 </a:t>
            </a:r>
            <a:endParaRPr lang="en-US" dirty="0"/>
          </a:p>
        </p:txBody>
      </p: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6459792" y="-88488"/>
          <a:ext cx="831850" cy="546100"/>
        </p:xfrm>
        <a:graphic>
          <a:graphicData uri="http://schemas.openxmlformats.org/presentationml/2006/ole">
            <p:oleObj spid="_x0000_s3075" name="Equation" r:id="rId3" imgW="139680" imgH="177480" progId="Equation.3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219200" y="1371600"/>
          <a:ext cx="7256182" cy="5151730"/>
        </p:xfrm>
        <a:graphic>
          <a:graphicData uri="http://schemas.openxmlformats.org/presentationml/2006/ole">
            <p:oleObj spid="_x0000_s3078" name="Equation" r:id="rId4" imgW="2031840" imgH="1879560" progId="Equation.3">
              <p:embed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Vektor</a:t>
            </a:r>
            <a:r>
              <a:rPr lang="en-US" dirty="0" smtClean="0"/>
              <a:t> Eigen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ChangeAspect="1"/>
          </p:cNvGraphicFramePr>
          <p:nvPr>
            <p:ph idx="1"/>
          </p:nvPr>
        </p:nvGraphicFramePr>
        <p:xfrm>
          <a:off x="3048000" y="1219200"/>
          <a:ext cx="4537982" cy="5294312"/>
        </p:xfrm>
        <a:graphic>
          <a:graphicData uri="http://schemas.openxmlformats.org/presentationml/2006/ole">
            <p:oleObj spid="_x0000_s4098" name="Equation" r:id="rId3" imgW="1676160" imgH="1955520" progId="Equation.3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4525963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209799" y="197945"/>
          <a:ext cx="4646279" cy="6355255"/>
        </p:xfrm>
        <a:graphic>
          <a:graphicData uri="http://schemas.openxmlformats.org/presentationml/2006/ole">
            <p:oleObj spid="_x0000_s5122" name="Equation" r:id="rId3" imgW="2209680" imgH="3022560" progId="Equation.3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ChangeAspect="1"/>
          </p:cNvGraphicFramePr>
          <p:nvPr>
            <p:ph idx="1"/>
          </p:nvPr>
        </p:nvGraphicFramePr>
        <p:xfrm>
          <a:off x="2438400" y="609600"/>
          <a:ext cx="4563128" cy="5527734"/>
        </p:xfrm>
        <a:graphic>
          <a:graphicData uri="http://schemas.openxmlformats.org/presentationml/2006/ole">
            <p:oleObj spid="_x0000_s7170" name="Equation" r:id="rId3" imgW="2108160" imgH="2552400" progId="Equation.3">
              <p:embed/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SOAL I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Carilah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eigen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vektor</a:t>
            </a:r>
            <a:r>
              <a:rPr lang="en-US" dirty="0" smtClean="0"/>
              <a:t> </a:t>
            </a:r>
            <a:r>
              <a:rPr lang="en-US" dirty="0" err="1" smtClean="0"/>
              <a:t>eigen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endParaRPr lang="en-US" dirty="0" smtClean="0"/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15365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19400" y="2590800"/>
            <a:ext cx="3251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VEKTOR EIGEN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Vektor eigen yang bersesuaian dengan </a:t>
            </a:r>
            <a:r>
              <a:rPr lang="el-GR" smtClean="0"/>
              <a:t>λ</a:t>
            </a:r>
            <a:r>
              <a:rPr lang="en-US" smtClean="0"/>
              <a:t> adalah vektor tak nol dalam ruang pemecahan dari SPL homogen (</a:t>
            </a:r>
            <a:r>
              <a:rPr lang="el-GR" smtClean="0"/>
              <a:t>λ</a:t>
            </a:r>
            <a:r>
              <a:rPr lang="en-US" smtClean="0"/>
              <a:t>I - A)x = 0</a:t>
            </a:r>
          </a:p>
          <a:p>
            <a:pPr eaLnBrk="1" hangingPunct="1"/>
            <a:r>
              <a:rPr lang="en-US" smtClean="0"/>
              <a:t>Ruang pemecahan dari SPL homogen tersebut disebut dengan </a:t>
            </a:r>
            <a:r>
              <a:rPr lang="en-US" b="1" smtClean="0"/>
              <a:t>ruang eigen</a:t>
            </a:r>
            <a:r>
              <a:rPr lang="en-US" smtClean="0"/>
              <a:t> dari A yang bersesuaian dengan x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CONTOH II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Carilah vektor eigen dari contoh 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SOAL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Cari vektor eigen dari matriks berikut</a:t>
            </a: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/>
          </a:p>
        </p:txBody>
      </p:sp>
      <p:pic>
        <p:nvPicPr>
          <p:cNvPr id="18437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81200" y="2590800"/>
            <a:ext cx="3251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DIAGONALISASI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Definisi:</a:t>
            </a:r>
          </a:p>
          <a:p>
            <a:pPr eaLnBrk="1" hangingPunct="1">
              <a:buFont typeface="Arial" charset="0"/>
              <a:buNone/>
            </a:pPr>
            <a:r>
              <a:rPr lang="en-US" smtClean="0"/>
              <a:t>	Matriks A (matriks bujur sangkar) dapat didiagonalisasi jika ada sebuah matriks P yang mempunyai invers sehingga P</a:t>
            </a:r>
            <a:r>
              <a:rPr lang="en-US" baseline="30000" smtClean="0"/>
              <a:t>-1</a:t>
            </a:r>
            <a:r>
              <a:rPr lang="en-US" smtClean="0"/>
              <a:t>AP menghasilkan matriks diagonal</a:t>
            </a:r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LANGKAH-LANGKAH DIAGONALISASI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err="1" smtClean="0"/>
              <a:t>Tentukan</a:t>
            </a:r>
            <a:r>
              <a:rPr lang="en-US" dirty="0" smtClean="0"/>
              <a:t> n </a:t>
            </a:r>
            <a:r>
              <a:rPr lang="en-US" dirty="0" err="1" smtClean="0"/>
              <a:t>eigen</a:t>
            </a:r>
            <a:r>
              <a:rPr lang="en-US" dirty="0" smtClean="0"/>
              <a:t> </a:t>
            </a:r>
            <a:r>
              <a:rPr lang="en-US" dirty="0" err="1" smtClean="0"/>
              <a:t>vektor</a:t>
            </a:r>
            <a:r>
              <a:rPr lang="en-US" dirty="0" smtClean="0"/>
              <a:t> yang </a:t>
            </a:r>
            <a:r>
              <a:rPr lang="en-US" dirty="0" err="1" smtClean="0"/>
              <a:t>bebas</a:t>
            </a:r>
            <a:r>
              <a:rPr lang="en-US" dirty="0" smtClean="0"/>
              <a:t> linier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matriks</a:t>
            </a:r>
            <a:r>
              <a:rPr lang="en-US" dirty="0" smtClean="0"/>
              <a:t> A. </a:t>
            </a:r>
            <a:r>
              <a:rPr lang="en-US" dirty="0" err="1" smtClean="0"/>
              <a:t>beri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P1, P2, P3,….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err="1" smtClean="0"/>
              <a:t>Bentuklah</a:t>
            </a:r>
            <a:r>
              <a:rPr lang="en-US" dirty="0" smtClean="0"/>
              <a:t> </a:t>
            </a:r>
            <a:r>
              <a:rPr lang="en-US" dirty="0" err="1" smtClean="0"/>
              <a:t>matriks</a:t>
            </a:r>
            <a:r>
              <a:rPr lang="en-US" dirty="0" smtClean="0"/>
              <a:t> P, </a:t>
            </a:r>
            <a:r>
              <a:rPr lang="en-US" dirty="0" err="1" smtClean="0"/>
              <a:t>dimana</a:t>
            </a:r>
            <a:r>
              <a:rPr lang="en-US" dirty="0" smtClean="0"/>
              <a:t>, P1, P2, P3, … </a:t>
            </a:r>
            <a:r>
              <a:rPr lang="en-US" dirty="0" err="1" smtClean="0"/>
              <a:t>Pn</a:t>
            </a:r>
            <a:r>
              <a:rPr lang="en-US" dirty="0" smtClean="0"/>
              <a:t> </a:t>
            </a:r>
            <a:r>
              <a:rPr lang="en-US" dirty="0" err="1" smtClean="0"/>
              <a:t>merupakan</a:t>
            </a:r>
            <a:r>
              <a:rPr lang="en-US" dirty="0" smtClean="0"/>
              <a:t> </a:t>
            </a:r>
            <a:r>
              <a:rPr lang="en-US" dirty="0" err="1" smtClean="0"/>
              <a:t>kolom</a:t>
            </a:r>
            <a:r>
              <a:rPr lang="en-US" dirty="0" smtClean="0"/>
              <a:t> 1, 2, 3, …n (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vektor</a:t>
            </a:r>
            <a:r>
              <a:rPr lang="en-US" dirty="0" smtClean="0"/>
              <a:t> </a:t>
            </a:r>
            <a:r>
              <a:rPr lang="en-US" dirty="0" err="1" smtClean="0"/>
              <a:t>kolom</a:t>
            </a:r>
            <a:r>
              <a:rPr lang="en-US" dirty="0" smtClean="0"/>
              <a:t>)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err="1" smtClean="0"/>
              <a:t>Hitung</a:t>
            </a:r>
            <a:r>
              <a:rPr lang="en-US" dirty="0" smtClean="0"/>
              <a:t> P</a:t>
            </a:r>
            <a:r>
              <a:rPr lang="en-US" baseline="30000" dirty="0" smtClean="0"/>
              <a:t>-1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/>
              <a:t>P</a:t>
            </a:r>
            <a:r>
              <a:rPr lang="en-US" baseline="30000" dirty="0" smtClean="0"/>
              <a:t>-1</a:t>
            </a:r>
            <a:r>
              <a:rPr lang="en-US" dirty="0" smtClean="0"/>
              <a:t>AP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membentuk</a:t>
            </a:r>
            <a:r>
              <a:rPr lang="en-US" dirty="0" smtClean="0"/>
              <a:t> </a:t>
            </a:r>
            <a:r>
              <a:rPr lang="en-US" dirty="0" err="1" smtClean="0"/>
              <a:t>matriks</a:t>
            </a:r>
            <a:r>
              <a:rPr lang="en-US" dirty="0" smtClean="0"/>
              <a:t> diagonal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l-GR" dirty="0" smtClean="0"/>
              <a:t>λ</a:t>
            </a:r>
            <a:r>
              <a:rPr lang="en-US" dirty="0" smtClean="0"/>
              <a:t>1, </a:t>
            </a:r>
            <a:r>
              <a:rPr lang="el-GR" dirty="0" smtClean="0"/>
              <a:t>λ</a:t>
            </a:r>
            <a:r>
              <a:rPr lang="en-US" dirty="0" smtClean="0"/>
              <a:t>2, </a:t>
            </a:r>
            <a:r>
              <a:rPr lang="el-GR" dirty="0" smtClean="0"/>
              <a:t>λ</a:t>
            </a:r>
            <a:r>
              <a:rPr lang="en-US" dirty="0" smtClean="0"/>
              <a:t>3,..</a:t>
            </a:r>
            <a:r>
              <a:rPr lang="el-GR" dirty="0" smtClean="0"/>
              <a:t> λ</a:t>
            </a:r>
            <a:r>
              <a:rPr lang="en-US" dirty="0" smtClean="0"/>
              <a:t>n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diagonal </a:t>
            </a:r>
            <a:r>
              <a:rPr lang="en-US" dirty="0" err="1" smtClean="0"/>
              <a:t>utama</a:t>
            </a:r>
            <a:r>
              <a:rPr lang="en-US" dirty="0" smtClean="0"/>
              <a:t>. </a:t>
            </a:r>
            <a:r>
              <a:rPr lang="en-US" dirty="0" err="1" smtClean="0"/>
              <a:t>Dimana</a:t>
            </a:r>
            <a:r>
              <a:rPr lang="en-US" dirty="0" smtClean="0"/>
              <a:t> </a:t>
            </a:r>
            <a:r>
              <a:rPr lang="el-GR" dirty="0" smtClean="0"/>
              <a:t>λ</a:t>
            </a:r>
            <a:r>
              <a:rPr lang="en-US" dirty="0" smtClean="0"/>
              <a:t>1, </a:t>
            </a:r>
            <a:r>
              <a:rPr lang="el-GR" dirty="0" smtClean="0"/>
              <a:t>λ</a:t>
            </a:r>
            <a:r>
              <a:rPr lang="en-US" dirty="0" smtClean="0"/>
              <a:t>2, </a:t>
            </a:r>
            <a:r>
              <a:rPr lang="el-GR" dirty="0" smtClean="0"/>
              <a:t>λ</a:t>
            </a:r>
            <a:r>
              <a:rPr lang="en-US" dirty="0" smtClean="0"/>
              <a:t>3,..</a:t>
            </a:r>
            <a:r>
              <a:rPr lang="el-GR" dirty="0" smtClean="0"/>
              <a:t> λ </a:t>
            </a:r>
            <a:r>
              <a:rPr lang="en-US" dirty="0" smtClean="0"/>
              <a:t>n </a:t>
            </a:r>
            <a:r>
              <a:rPr lang="en-US" dirty="0" err="1" smtClean="0"/>
              <a:t>merupakan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eigen</a:t>
            </a:r>
            <a:r>
              <a:rPr lang="en-US" dirty="0" smtClean="0"/>
              <a:t> yang </a:t>
            </a:r>
            <a:r>
              <a:rPr lang="en-US" dirty="0" err="1" smtClean="0"/>
              <a:t>bersesuaian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P1, P2, P3,…</a:t>
            </a:r>
            <a:r>
              <a:rPr lang="en-US" dirty="0" err="1" smtClean="0"/>
              <a:t>Pn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CONTOH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Diagonalkan matriks berikut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Langkah:</a:t>
            </a:r>
          </a:p>
          <a:p>
            <a:pPr lvl="1" eaLnBrk="1" hangingPunct="1"/>
            <a:r>
              <a:rPr lang="en-US" smtClean="0"/>
              <a:t>Cari eigen vektor </a:t>
            </a:r>
            <a:r>
              <a:rPr lang="en-US" smtClean="0">
                <a:sym typeface="Wingdings" pitchFamily="2" charset="2"/>
              </a:rPr>
              <a:t> jadikan vektor kolom</a:t>
            </a:r>
          </a:p>
          <a:p>
            <a:pPr lvl="1" eaLnBrk="1" hangingPunct="1"/>
            <a:r>
              <a:rPr lang="en-US" smtClean="0">
                <a:sym typeface="Wingdings" pitchFamily="2" charset="2"/>
              </a:rPr>
              <a:t>Cari inversnya</a:t>
            </a:r>
          </a:p>
          <a:p>
            <a:pPr lvl="1" eaLnBrk="1" hangingPunct="1"/>
            <a:r>
              <a:rPr lang="en-US" smtClean="0">
                <a:sym typeface="Wingdings" pitchFamily="2" charset="2"/>
              </a:rPr>
              <a:t>Hitung P</a:t>
            </a:r>
            <a:r>
              <a:rPr lang="en-US" baseline="30000" smtClean="0">
                <a:sym typeface="Wingdings" pitchFamily="2" charset="2"/>
              </a:rPr>
              <a:t>-1</a:t>
            </a:r>
            <a:r>
              <a:rPr lang="en-US" smtClean="0">
                <a:sym typeface="Wingdings" pitchFamily="2" charset="2"/>
              </a:rPr>
              <a:t>AP</a:t>
            </a:r>
            <a:endParaRPr lang="en-US" smtClean="0"/>
          </a:p>
        </p:txBody>
      </p:sp>
      <p:sp>
        <p:nvSpPr>
          <p:cNvPr id="2150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id-ID">
              <a:latin typeface="Calibri" pitchFamily="34" charset="0"/>
            </a:endParaRPr>
          </a:p>
        </p:txBody>
      </p:sp>
      <p:pic>
        <p:nvPicPr>
          <p:cNvPr id="2150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62600" y="1905000"/>
            <a:ext cx="2462213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 smtClean="0"/>
              <a:t>Hatur</a:t>
            </a:r>
            <a:r>
              <a:rPr lang="en-US" dirty="0" smtClean="0"/>
              <a:t> </a:t>
            </a:r>
            <a:r>
              <a:rPr lang="en-US" dirty="0" err="1" smtClean="0"/>
              <a:t>Nuhun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Words>333</Words>
  <Application>Microsoft Office PowerPoint</Application>
  <PresentationFormat>On-screen Show (4:3)</PresentationFormat>
  <Paragraphs>71</Paragraphs>
  <Slides>21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Office Theme</vt:lpstr>
      <vt:lpstr>Microsoft Equation 3.0</vt:lpstr>
      <vt:lpstr>NILAI EIGEN DAN VEKTOR EIGEN</vt:lpstr>
      <vt:lpstr>EIGEN</vt:lpstr>
      <vt:lpstr>DEFINISI</vt:lpstr>
      <vt:lpstr>CONTOH</vt:lpstr>
      <vt:lpstr>NILAI EIGEN</vt:lpstr>
      <vt:lpstr>NILAI EIGEN</vt:lpstr>
      <vt:lpstr>NILAI EIGEN</vt:lpstr>
      <vt:lpstr>CONTOH I</vt:lpstr>
      <vt:lpstr>Jawab</vt:lpstr>
      <vt:lpstr>Untuk menentukan nilai       yang skalar berlaku : </vt:lpstr>
      <vt:lpstr>Vektor Eigen</vt:lpstr>
      <vt:lpstr>Slide 12</vt:lpstr>
      <vt:lpstr>Slide 13</vt:lpstr>
      <vt:lpstr>SOAL I</vt:lpstr>
      <vt:lpstr>VEKTOR EIGEN</vt:lpstr>
      <vt:lpstr>CONTOH II</vt:lpstr>
      <vt:lpstr>SOAL</vt:lpstr>
      <vt:lpstr>DIAGONALISASI</vt:lpstr>
      <vt:lpstr>LANGKAH-LANGKAH DIAGONALISASI</vt:lpstr>
      <vt:lpstr>CONTOH</vt:lpstr>
      <vt:lpstr>Hatur Nuhun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NILAI EIGEN DAN VEKTOR EIGEN</dc:title>
  <dc:creator>Budi</dc:creator>
  <cp:lastModifiedBy>ASUS</cp:lastModifiedBy>
  <cp:revision>36</cp:revision>
  <dcterms:created xsi:type="dcterms:W3CDTF">2011-12-15T19:23:55Z</dcterms:created>
  <dcterms:modified xsi:type="dcterms:W3CDTF">2023-05-22T15:17:46Z</dcterms:modified>
</cp:coreProperties>
</file>